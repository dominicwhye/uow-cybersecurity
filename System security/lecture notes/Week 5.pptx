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80" r:id="rId13"/>
    <p:sldId id="276" r:id="rId14"/>
    <p:sldId id="277" r:id="rId15"/>
    <p:sldId id="278" r:id="rId16"/>
    <p:sldId id="279" r:id="rId17"/>
    <p:sldId id="267" r:id="rId18"/>
    <p:sldId id="268" r:id="rId19"/>
    <p:sldId id="270" r:id="rId20"/>
    <p:sldId id="271" r:id="rId21"/>
    <p:sldId id="272" r:id="rId22"/>
    <p:sldId id="273" r:id="rId23"/>
    <p:sldId id="274" r:id="rId24"/>
    <p:sldId id="281" r:id="rId25"/>
    <p:sldId id="282" r:id="rId26"/>
    <p:sldId id="283" r:id="rId27"/>
    <p:sldId id="284" r:id="rId28"/>
    <p:sldId id="285" r:id="rId29"/>
    <p:sldId id="286" r:id="rId30"/>
    <p:sldId id="287" r:id="rId31"/>
    <p:sldId id="312" r:id="rId32"/>
    <p:sldId id="288" r:id="rId33"/>
    <p:sldId id="289" r:id="rId34"/>
    <p:sldId id="290" r:id="rId35"/>
    <p:sldId id="291" r:id="rId36"/>
    <p:sldId id="292" r:id="rId37"/>
    <p:sldId id="293" r:id="rId38"/>
    <p:sldId id="294" r:id="rId39"/>
    <p:sldId id="295" r:id="rId40"/>
    <p:sldId id="296" r:id="rId41"/>
    <p:sldId id="298" r:id="rId42"/>
    <p:sldId id="299" r:id="rId43"/>
    <p:sldId id="300" r:id="rId44"/>
    <p:sldId id="301" r:id="rId45"/>
    <p:sldId id="302" r:id="rId46"/>
    <p:sldId id="304" r:id="rId47"/>
    <p:sldId id="305" r:id="rId48"/>
    <p:sldId id="306" r:id="rId49"/>
    <p:sldId id="307" r:id="rId50"/>
    <p:sldId id="308" r:id="rId51"/>
    <p:sldId id="309" r:id="rId52"/>
    <p:sldId id="310" r:id="rId53"/>
    <p:sldId id="311"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73283-F056-4D7F-BD39-BFCFD2F9BF51}" v="7" dt="2022-08-15T04:25:10.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81124" autoAdjust="0"/>
  </p:normalViewPr>
  <p:slideViewPr>
    <p:cSldViewPr snapToGrid="0">
      <p:cViewPr varScale="1">
        <p:scale>
          <a:sx n="96" d="100"/>
          <a:sy n="96" d="100"/>
        </p:scale>
        <p:origin x="13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ng Duong" userId="ab3e9a6b-2884-4530-bb47-a3ffa8a01cdf" providerId="ADAL" clId="{FA073283-F056-4D7F-BD39-BFCFD2F9BF51}"/>
    <pc:docChg chg="addSld modSld">
      <pc:chgData name="Dung Duong" userId="ab3e9a6b-2884-4530-bb47-a3ffa8a01cdf" providerId="ADAL" clId="{FA073283-F056-4D7F-BD39-BFCFD2F9BF51}" dt="2022-08-15T04:25:27.664" v="11" actId="20577"/>
      <pc:docMkLst>
        <pc:docMk/>
      </pc:docMkLst>
      <pc:sldChg chg="modSp mod">
        <pc:chgData name="Dung Duong" userId="ab3e9a6b-2884-4530-bb47-a3ffa8a01cdf" providerId="ADAL" clId="{FA073283-F056-4D7F-BD39-BFCFD2F9BF51}" dt="2022-08-14T12:12:05.949" v="0" actId="14100"/>
        <pc:sldMkLst>
          <pc:docMk/>
          <pc:sldMk cId="1770156604" sldId="266"/>
        </pc:sldMkLst>
        <pc:spChg chg="mod">
          <ac:chgData name="Dung Duong" userId="ab3e9a6b-2884-4530-bb47-a3ffa8a01cdf" providerId="ADAL" clId="{FA073283-F056-4D7F-BD39-BFCFD2F9BF51}" dt="2022-08-14T12:12:05.949" v="0" actId="14100"/>
          <ac:spMkLst>
            <pc:docMk/>
            <pc:sldMk cId="1770156604" sldId="266"/>
            <ac:spMk id="573443" creationId="{00000000-0000-0000-0000-000000000000}"/>
          </ac:spMkLst>
        </pc:spChg>
      </pc:sldChg>
      <pc:sldChg chg="modSp">
        <pc:chgData name="Dung Duong" userId="ab3e9a6b-2884-4530-bb47-a3ffa8a01cdf" providerId="ADAL" clId="{FA073283-F056-4D7F-BD39-BFCFD2F9BF51}" dt="2022-08-14T12:13:56.428" v="3" actId="403"/>
        <pc:sldMkLst>
          <pc:docMk/>
          <pc:sldMk cId="2937329462" sldId="299"/>
        </pc:sldMkLst>
        <pc:spChg chg="mod">
          <ac:chgData name="Dung Duong" userId="ab3e9a6b-2884-4530-bb47-a3ffa8a01cdf" providerId="ADAL" clId="{FA073283-F056-4D7F-BD39-BFCFD2F9BF51}" dt="2022-08-14T12:13:56.428" v="3" actId="403"/>
          <ac:spMkLst>
            <pc:docMk/>
            <pc:sldMk cId="2937329462" sldId="299"/>
            <ac:spMk id="6" creationId="{00000000-0000-0000-0000-000000000000}"/>
          </ac:spMkLst>
        </pc:spChg>
      </pc:sldChg>
      <pc:sldChg chg="modSp mod">
        <pc:chgData name="Dung Duong" userId="ab3e9a6b-2884-4530-bb47-a3ffa8a01cdf" providerId="ADAL" clId="{FA073283-F056-4D7F-BD39-BFCFD2F9BF51}" dt="2022-08-15T04:25:27.664" v="11" actId="20577"/>
        <pc:sldMkLst>
          <pc:docMk/>
          <pc:sldMk cId="1670241526" sldId="308"/>
        </pc:sldMkLst>
        <pc:spChg chg="mod">
          <ac:chgData name="Dung Duong" userId="ab3e9a6b-2884-4530-bb47-a3ffa8a01cdf" providerId="ADAL" clId="{FA073283-F056-4D7F-BD39-BFCFD2F9BF51}" dt="2022-08-15T04:25:27.664" v="11" actId="20577"/>
          <ac:spMkLst>
            <pc:docMk/>
            <pc:sldMk cId="1670241526" sldId="308"/>
            <ac:spMk id="59395" creationId="{00000000-0000-0000-0000-000000000000}"/>
          </ac:spMkLst>
        </pc:spChg>
      </pc:sldChg>
      <pc:sldChg chg="modSp add mod modAnim">
        <pc:chgData name="Dung Duong" userId="ab3e9a6b-2884-4530-bb47-a3ffa8a01cdf" providerId="ADAL" clId="{FA073283-F056-4D7F-BD39-BFCFD2F9BF51}" dt="2022-08-15T04:25:10.279" v="8" actId="20577"/>
        <pc:sldMkLst>
          <pc:docMk/>
          <pc:sldMk cId="1821625877" sldId="312"/>
        </pc:sldMkLst>
        <pc:spChg chg="mod">
          <ac:chgData name="Dung Duong" userId="ab3e9a6b-2884-4530-bb47-a3ffa8a01cdf" providerId="ADAL" clId="{FA073283-F056-4D7F-BD39-BFCFD2F9BF51}" dt="2022-08-15T04:25:10.279" v="8" actId="20577"/>
          <ac:spMkLst>
            <pc:docMk/>
            <pc:sldMk cId="1821625877" sldId="312"/>
            <ac:spMk id="523267" creationId="{00000000-0000-0000-0000-000000000000}"/>
          </ac:spMkLst>
        </pc:spChg>
      </pc:sldChg>
    </pc:docChg>
  </pc:docChgLst>
  <pc:docChgLst>
    <pc:chgData name="Dung Duong" userId="ab3e9a6b-2884-4530-bb47-a3ffa8a01cdf" providerId="ADAL" clId="{F078ECCE-EABA-4665-95E4-0354974385D5}"/>
    <pc:docChg chg="custSel addSld delSld modSld">
      <pc:chgData name="Dung Duong" userId="ab3e9a6b-2884-4530-bb47-a3ffa8a01cdf" providerId="ADAL" clId="{F078ECCE-EABA-4665-95E4-0354974385D5}" dt="2022-08-13T13:15:02.423" v="488" actId="113"/>
      <pc:docMkLst>
        <pc:docMk/>
      </pc:docMkLst>
      <pc:sldChg chg="modSp mod modNotesTx">
        <pc:chgData name="Dung Duong" userId="ab3e9a6b-2884-4530-bb47-a3ffa8a01cdf" providerId="ADAL" clId="{F078ECCE-EABA-4665-95E4-0354974385D5}" dt="2022-08-13T12:49:09.801" v="2" actId="20577"/>
        <pc:sldMkLst>
          <pc:docMk/>
          <pc:sldMk cId="3757709350" sldId="256"/>
        </pc:sldMkLst>
        <pc:spChg chg="mod">
          <ac:chgData name="Dung Duong" userId="ab3e9a6b-2884-4530-bb47-a3ffa8a01cdf" providerId="ADAL" clId="{F078ECCE-EABA-4665-95E4-0354974385D5}" dt="2022-08-13T12:49:06.782" v="1" actId="20577"/>
          <ac:spMkLst>
            <pc:docMk/>
            <pc:sldMk cId="3757709350" sldId="256"/>
            <ac:spMk id="3" creationId="{00000000-0000-0000-0000-000000000000}"/>
          </ac:spMkLst>
        </pc:spChg>
      </pc:sldChg>
      <pc:sldChg chg="modSp mod">
        <pc:chgData name="Dung Duong" userId="ab3e9a6b-2884-4530-bb47-a3ffa8a01cdf" providerId="ADAL" clId="{F078ECCE-EABA-4665-95E4-0354974385D5}" dt="2022-08-13T13:12:48.763" v="193" actId="20577"/>
        <pc:sldMkLst>
          <pc:docMk/>
          <pc:sldMk cId="1333227408" sldId="257"/>
        </pc:sldMkLst>
        <pc:spChg chg="mod">
          <ac:chgData name="Dung Duong" userId="ab3e9a6b-2884-4530-bb47-a3ffa8a01cdf" providerId="ADAL" clId="{F078ECCE-EABA-4665-95E4-0354974385D5}" dt="2022-08-13T13:12:48.763" v="193" actId="20577"/>
          <ac:spMkLst>
            <pc:docMk/>
            <pc:sldMk cId="1333227408" sldId="257"/>
            <ac:spMk id="3" creationId="{00000000-0000-0000-0000-000000000000}"/>
          </ac:spMkLst>
        </pc:spChg>
      </pc:sldChg>
      <pc:sldChg chg="del">
        <pc:chgData name="Dung Duong" userId="ab3e9a6b-2884-4530-bb47-a3ffa8a01cdf" providerId="ADAL" clId="{F078ECCE-EABA-4665-95E4-0354974385D5}" dt="2022-08-13T12:49:17.916" v="3" actId="47"/>
        <pc:sldMkLst>
          <pc:docMk/>
          <pc:sldMk cId="3376046668" sldId="258"/>
        </pc:sldMkLst>
      </pc:sldChg>
      <pc:sldChg chg="modSp new mod">
        <pc:chgData name="Dung Duong" userId="ab3e9a6b-2884-4530-bb47-a3ffa8a01cdf" providerId="ADAL" clId="{F078ECCE-EABA-4665-95E4-0354974385D5}" dt="2022-08-13T13:15:02.423" v="488" actId="113"/>
        <pc:sldMkLst>
          <pc:docMk/>
          <pc:sldMk cId="3524057396" sldId="258"/>
        </pc:sldMkLst>
        <pc:spChg chg="mod">
          <ac:chgData name="Dung Duong" userId="ab3e9a6b-2884-4530-bb47-a3ffa8a01cdf" providerId="ADAL" clId="{F078ECCE-EABA-4665-95E4-0354974385D5}" dt="2022-08-13T13:05:08.327" v="153" actId="20577"/>
          <ac:spMkLst>
            <pc:docMk/>
            <pc:sldMk cId="3524057396" sldId="258"/>
            <ac:spMk id="2" creationId="{34B112B0-6663-DA15-1031-1E08F2E95EB0}"/>
          </ac:spMkLst>
        </pc:spChg>
        <pc:spChg chg="mod">
          <ac:chgData name="Dung Duong" userId="ab3e9a6b-2884-4530-bb47-a3ffa8a01cdf" providerId="ADAL" clId="{F078ECCE-EABA-4665-95E4-0354974385D5}" dt="2022-08-13T13:15:02.423" v="488" actId="113"/>
          <ac:spMkLst>
            <pc:docMk/>
            <pc:sldMk cId="3524057396" sldId="258"/>
            <ac:spMk id="3" creationId="{B6E6DBBA-6355-D6C3-B2CC-DF04484895FF}"/>
          </ac:spMkLst>
        </pc:spChg>
      </pc:sldChg>
      <pc:sldChg chg="del">
        <pc:chgData name="Dung Duong" userId="ab3e9a6b-2884-4530-bb47-a3ffa8a01cdf" providerId="ADAL" clId="{F078ECCE-EABA-4665-95E4-0354974385D5}" dt="2022-08-13T12:49:17.916" v="3" actId="47"/>
        <pc:sldMkLst>
          <pc:docMk/>
          <pc:sldMk cId="2722016605" sldId="259"/>
        </pc:sldMkLst>
      </pc:sldChg>
      <pc:sldChg chg="del">
        <pc:chgData name="Dung Duong" userId="ab3e9a6b-2884-4530-bb47-a3ffa8a01cdf" providerId="ADAL" clId="{F078ECCE-EABA-4665-95E4-0354974385D5}" dt="2022-08-13T12:49:17.916" v="3" actId="47"/>
        <pc:sldMkLst>
          <pc:docMk/>
          <pc:sldMk cId="2798817802" sldId="260"/>
        </pc:sldMkLst>
      </pc:sldChg>
      <pc:sldChg chg="del">
        <pc:chgData name="Dung Duong" userId="ab3e9a6b-2884-4530-bb47-a3ffa8a01cdf" providerId="ADAL" clId="{F078ECCE-EABA-4665-95E4-0354974385D5}" dt="2022-08-13T12:49:17.916" v="3" actId="47"/>
        <pc:sldMkLst>
          <pc:docMk/>
          <pc:sldMk cId="1494845941" sldId="261"/>
        </pc:sldMkLst>
      </pc:sldChg>
      <pc:sldChg chg="del">
        <pc:chgData name="Dung Duong" userId="ab3e9a6b-2884-4530-bb47-a3ffa8a01cdf" providerId="ADAL" clId="{F078ECCE-EABA-4665-95E4-0354974385D5}" dt="2022-08-13T12:49:17.916" v="3" actId="47"/>
        <pc:sldMkLst>
          <pc:docMk/>
          <pc:sldMk cId="117227123" sldId="262"/>
        </pc:sldMkLst>
      </pc:sldChg>
      <pc:sldChg chg="del">
        <pc:chgData name="Dung Duong" userId="ab3e9a6b-2884-4530-bb47-a3ffa8a01cdf" providerId="ADAL" clId="{F078ECCE-EABA-4665-95E4-0354974385D5}" dt="2022-08-13T12:49:17.916" v="3" actId="47"/>
        <pc:sldMkLst>
          <pc:docMk/>
          <pc:sldMk cId="2171573612" sldId="263"/>
        </pc:sldMkLst>
      </pc:sldChg>
      <pc:sldChg chg="del">
        <pc:chgData name="Dung Duong" userId="ab3e9a6b-2884-4530-bb47-a3ffa8a01cdf" providerId="ADAL" clId="{F078ECCE-EABA-4665-95E4-0354974385D5}" dt="2022-08-13T12:49:17.916" v="3" actId="47"/>
        <pc:sldMkLst>
          <pc:docMk/>
          <pc:sldMk cId="2539259684" sldId="264"/>
        </pc:sldMkLst>
      </pc:sldChg>
      <pc:sldChg chg="del">
        <pc:chgData name="Dung Duong" userId="ab3e9a6b-2884-4530-bb47-a3ffa8a01cdf" providerId="ADAL" clId="{F078ECCE-EABA-4665-95E4-0354974385D5}" dt="2022-08-13T12:49:17.916" v="3" actId="47"/>
        <pc:sldMkLst>
          <pc:docMk/>
          <pc:sldMk cId="1099273546" sldId="265"/>
        </pc:sldMkLst>
      </pc:sldChg>
      <pc:sldChg chg="del">
        <pc:chgData name="Dung Duong" userId="ab3e9a6b-2884-4530-bb47-a3ffa8a01cdf" providerId="ADAL" clId="{F078ECCE-EABA-4665-95E4-0354974385D5}" dt="2022-08-13T12:49:17.916" v="3" actId="47"/>
        <pc:sldMkLst>
          <pc:docMk/>
          <pc:sldMk cId="3323263854" sldId="266"/>
        </pc:sldMkLst>
      </pc:sldChg>
      <pc:sldChg chg="del">
        <pc:chgData name="Dung Duong" userId="ab3e9a6b-2884-4530-bb47-a3ffa8a01cdf" providerId="ADAL" clId="{F078ECCE-EABA-4665-95E4-0354974385D5}" dt="2022-08-13T12:49:17.916" v="3" actId="47"/>
        <pc:sldMkLst>
          <pc:docMk/>
          <pc:sldMk cId="1657734285" sldId="267"/>
        </pc:sldMkLst>
      </pc:sldChg>
      <pc:sldChg chg="del">
        <pc:chgData name="Dung Duong" userId="ab3e9a6b-2884-4530-bb47-a3ffa8a01cdf" providerId="ADAL" clId="{F078ECCE-EABA-4665-95E4-0354974385D5}" dt="2022-08-13T12:49:17.916" v="3" actId="47"/>
        <pc:sldMkLst>
          <pc:docMk/>
          <pc:sldMk cId="3347041725" sldId="268"/>
        </pc:sldMkLst>
      </pc:sldChg>
      <pc:sldChg chg="del">
        <pc:chgData name="Dung Duong" userId="ab3e9a6b-2884-4530-bb47-a3ffa8a01cdf" providerId="ADAL" clId="{F078ECCE-EABA-4665-95E4-0354974385D5}" dt="2022-08-13T12:49:17.916" v="3" actId="47"/>
        <pc:sldMkLst>
          <pc:docMk/>
          <pc:sldMk cId="4046588978" sldId="269"/>
        </pc:sldMkLst>
      </pc:sldChg>
      <pc:sldChg chg="del">
        <pc:chgData name="Dung Duong" userId="ab3e9a6b-2884-4530-bb47-a3ffa8a01cdf" providerId="ADAL" clId="{F078ECCE-EABA-4665-95E4-0354974385D5}" dt="2022-08-13T12:49:17.916" v="3" actId="47"/>
        <pc:sldMkLst>
          <pc:docMk/>
          <pc:sldMk cId="1724120899" sldId="270"/>
        </pc:sldMkLst>
      </pc:sldChg>
      <pc:sldChg chg="del">
        <pc:chgData name="Dung Duong" userId="ab3e9a6b-2884-4530-bb47-a3ffa8a01cdf" providerId="ADAL" clId="{F078ECCE-EABA-4665-95E4-0354974385D5}" dt="2022-08-13T12:49:17.916" v="3" actId="47"/>
        <pc:sldMkLst>
          <pc:docMk/>
          <pc:sldMk cId="3801136052" sldId="271"/>
        </pc:sldMkLst>
      </pc:sldChg>
      <pc:sldChg chg="del">
        <pc:chgData name="Dung Duong" userId="ab3e9a6b-2884-4530-bb47-a3ffa8a01cdf" providerId="ADAL" clId="{F078ECCE-EABA-4665-95E4-0354974385D5}" dt="2022-08-13T12:49:17.916" v="3" actId="47"/>
        <pc:sldMkLst>
          <pc:docMk/>
          <pc:sldMk cId="524560364" sldId="272"/>
        </pc:sldMkLst>
      </pc:sldChg>
      <pc:sldChg chg="del">
        <pc:chgData name="Dung Duong" userId="ab3e9a6b-2884-4530-bb47-a3ffa8a01cdf" providerId="ADAL" clId="{F078ECCE-EABA-4665-95E4-0354974385D5}" dt="2022-08-13T12:49:17.916" v="3" actId="47"/>
        <pc:sldMkLst>
          <pc:docMk/>
          <pc:sldMk cId="1886799100" sldId="273"/>
        </pc:sldMkLst>
      </pc:sldChg>
      <pc:sldChg chg="del">
        <pc:chgData name="Dung Duong" userId="ab3e9a6b-2884-4530-bb47-a3ffa8a01cdf" providerId="ADAL" clId="{F078ECCE-EABA-4665-95E4-0354974385D5}" dt="2022-08-13T12:49:17.916" v="3" actId="47"/>
        <pc:sldMkLst>
          <pc:docMk/>
          <pc:sldMk cId="2917027400" sldId="274"/>
        </pc:sldMkLst>
      </pc:sldChg>
      <pc:sldChg chg="del">
        <pc:chgData name="Dung Duong" userId="ab3e9a6b-2884-4530-bb47-a3ffa8a01cdf" providerId="ADAL" clId="{F078ECCE-EABA-4665-95E4-0354974385D5}" dt="2022-08-13T12:49:17.916" v="3" actId="47"/>
        <pc:sldMkLst>
          <pc:docMk/>
          <pc:sldMk cId="3993756839" sldId="275"/>
        </pc:sldMkLst>
      </pc:sldChg>
      <pc:sldChg chg="del">
        <pc:chgData name="Dung Duong" userId="ab3e9a6b-2884-4530-bb47-a3ffa8a01cdf" providerId="ADAL" clId="{F078ECCE-EABA-4665-95E4-0354974385D5}" dt="2022-08-13T12:49:17.916" v="3" actId="47"/>
        <pc:sldMkLst>
          <pc:docMk/>
          <pc:sldMk cId="315022477" sldId="276"/>
        </pc:sldMkLst>
      </pc:sldChg>
      <pc:sldChg chg="del">
        <pc:chgData name="Dung Duong" userId="ab3e9a6b-2884-4530-bb47-a3ffa8a01cdf" providerId="ADAL" clId="{F078ECCE-EABA-4665-95E4-0354974385D5}" dt="2022-08-13T12:49:17.916" v="3" actId="47"/>
        <pc:sldMkLst>
          <pc:docMk/>
          <pc:sldMk cId="2280319191" sldId="277"/>
        </pc:sldMkLst>
      </pc:sldChg>
      <pc:sldChg chg="del">
        <pc:chgData name="Dung Duong" userId="ab3e9a6b-2884-4530-bb47-a3ffa8a01cdf" providerId="ADAL" clId="{F078ECCE-EABA-4665-95E4-0354974385D5}" dt="2022-08-13T12:49:17.916" v="3" actId="47"/>
        <pc:sldMkLst>
          <pc:docMk/>
          <pc:sldMk cId="2410891215" sldId="278"/>
        </pc:sldMkLst>
      </pc:sldChg>
      <pc:sldChg chg="del">
        <pc:chgData name="Dung Duong" userId="ab3e9a6b-2884-4530-bb47-a3ffa8a01cdf" providerId="ADAL" clId="{F078ECCE-EABA-4665-95E4-0354974385D5}" dt="2022-08-13T12:49:17.916" v="3" actId="47"/>
        <pc:sldMkLst>
          <pc:docMk/>
          <pc:sldMk cId="879438640" sldId="279"/>
        </pc:sldMkLst>
      </pc:sldChg>
      <pc:sldChg chg="del">
        <pc:chgData name="Dung Duong" userId="ab3e9a6b-2884-4530-bb47-a3ffa8a01cdf" providerId="ADAL" clId="{F078ECCE-EABA-4665-95E4-0354974385D5}" dt="2022-08-13T12:49:17.916" v="3" actId="47"/>
        <pc:sldMkLst>
          <pc:docMk/>
          <pc:sldMk cId="3424075210" sldId="280"/>
        </pc:sldMkLst>
      </pc:sldChg>
      <pc:sldChg chg="del">
        <pc:chgData name="Dung Duong" userId="ab3e9a6b-2884-4530-bb47-a3ffa8a01cdf" providerId="ADAL" clId="{F078ECCE-EABA-4665-95E4-0354974385D5}" dt="2022-08-13T12:49:17.916" v="3" actId="47"/>
        <pc:sldMkLst>
          <pc:docMk/>
          <pc:sldMk cId="2299561063" sldId="281"/>
        </pc:sldMkLst>
      </pc:sldChg>
      <pc:sldChg chg="del">
        <pc:chgData name="Dung Duong" userId="ab3e9a6b-2884-4530-bb47-a3ffa8a01cdf" providerId="ADAL" clId="{F078ECCE-EABA-4665-95E4-0354974385D5}" dt="2022-08-13T12:49:17.916" v="3" actId="47"/>
        <pc:sldMkLst>
          <pc:docMk/>
          <pc:sldMk cId="2358120913" sldId="282"/>
        </pc:sldMkLst>
      </pc:sldChg>
      <pc:sldChg chg="del">
        <pc:chgData name="Dung Duong" userId="ab3e9a6b-2884-4530-bb47-a3ffa8a01cdf" providerId="ADAL" clId="{F078ECCE-EABA-4665-95E4-0354974385D5}" dt="2022-08-13T12:49:17.916" v="3" actId="47"/>
        <pc:sldMkLst>
          <pc:docMk/>
          <pc:sldMk cId="3635256130" sldId="284"/>
        </pc:sldMkLst>
      </pc:sldChg>
      <pc:sldChg chg="del">
        <pc:chgData name="Dung Duong" userId="ab3e9a6b-2884-4530-bb47-a3ffa8a01cdf" providerId="ADAL" clId="{F078ECCE-EABA-4665-95E4-0354974385D5}" dt="2022-08-13T12:49:17.916" v="3" actId="47"/>
        <pc:sldMkLst>
          <pc:docMk/>
          <pc:sldMk cId="2929568982" sldId="285"/>
        </pc:sldMkLst>
      </pc:sldChg>
      <pc:sldChg chg="del">
        <pc:chgData name="Dung Duong" userId="ab3e9a6b-2884-4530-bb47-a3ffa8a01cdf" providerId="ADAL" clId="{F078ECCE-EABA-4665-95E4-0354974385D5}" dt="2022-08-13T12:49:17.916" v="3" actId="47"/>
        <pc:sldMkLst>
          <pc:docMk/>
          <pc:sldMk cId="2960132716" sldId="286"/>
        </pc:sldMkLst>
      </pc:sldChg>
      <pc:sldChg chg="del">
        <pc:chgData name="Dung Duong" userId="ab3e9a6b-2884-4530-bb47-a3ffa8a01cdf" providerId="ADAL" clId="{F078ECCE-EABA-4665-95E4-0354974385D5}" dt="2022-08-13T12:49:17.916" v="3" actId="47"/>
        <pc:sldMkLst>
          <pc:docMk/>
          <pc:sldMk cId="1281220528" sldId="287"/>
        </pc:sldMkLst>
      </pc:sldChg>
      <pc:sldChg chg="del">
        <pc:chgData name="Dung Duong" userId="ab3e9a6b-2884-4530-bb47-a3ffa8a01cdf" providerId="ADAL" clId="{F078ECCE-EABA-4665-95E4-0354974385D5}" dt="2022-08-13T12:49:17.916" v="3" actId="47"/>
        <pc:sldMkLst>
          <pc:docMk/>
          <pc:sldMk cId="2849303707" sldId="288"/>
        </pc:sldMkLst>
      </pc:sldChg>
      <pc:sldChg chg="del">
        <pc:chgData name="Dung Duong" userId="ab3e9a6b-2884-4530-bb47-a3ffa8a01cdf" providerId="ADAL" clId="{F078ECCE-EABA-4665-95E4-0354974385D5}" dt="2022-08-13T12:49:17.916" v="3" actId="47"/>
        <pc:sldMkLst>
          <pc:docMk/>
          <pc:sldMk cId="769001426" sldId="289"/>
        </pc:sldMkLst>
      </pc:sldChg>
      <pc:sldChg chg="del">
        <pc:chgData name="Dung Duong" userId="ab3e9a6b-2884-4530-bb47-a3ffa8a01cdf" providerId="ADAL" clId="{F078ECCE-EABA-4665-95E4-0354974385D5}" dt="2022-08-13T12:49:17.916" v="3" actId="47"/>
        <pc:sldMkLst>
          <pc:docMk/>
          <pc:sldMk cId="3735276056" sldId="290"/>
        </pc:sldMkLst>
      </pc:sldChg>
      <pc:sldChg chg="del">
        <pc:chgData name="Dung Duong" userId="ab3e9a6b-2884-4530-bb47-a3ffa8a01cdf" providerId="ADAL" clId="{F078ECCE-EABA-4665-95E4-0354974385D5}" dt="2022-08-13T12:49:17.916" v="3" actId="47"/>
        <pc:sldMkLst>
          <pc:docMk/>
          <pc:sldMk cId="178870925" sldId="291"/>
        </pc:sldMkLst>
      </pc:sldChg>
      <pc:sldChg chg="del">
        <pc:chgData name="Dung Duong" userId="ab3e9a6b-2884-4530-bb47-a3ffa8a01cdf" providerId="ADAL" clId="{F078ECCE-EABA-4665-95E4-0354974385D5}" dt="2022-08-13T12:49:17.916" v="3" actId="47"/>
        <pc:sldMkLst>
          <pc:docMk/>
          <pc:sldMk cId="3404685779" sldId="292"/>
        </pc:sldMkLst>
      </pc:sldChg>
      <pc:sldChg chg="del">
        <pc:chgData name="Dung Duong" userId="ab3e9a6b-2884-4530-bb47-a3ffa8a01cdf" providerId="ADAL" clId="{F078ECCE-EABA-4665-95E4-0354974385D5}" dt="2022-08-13T12:49:17.916" v="3" actId="47"/>
        <pc:sldMkLst>
          <pc:docMk/>
          <pc:sldMk cId="3013696168" sldId="293"/>
        </pc:sldMkLst>
      </pc:sldChg>
      <pc:sldChg chg="del">
        <pc:chgData name="Dung Duong" userId="ab3e9a6b-2884-4530-bb47-a3ffa8a01cdf" providerId="ADAL" clId="{F078ECCE-EABA-4665-95E4-0354974385D5}" dt="2022-08-13T12:49:17.916" v="3" actId="47"/>
        <pc:sldMkLst>
          <pc:docMk/>
          <pc:sldMk cId="2566587907" sldId="294"/>
        </pc:sldMkLst>
      </pc:sldChg>
      <pc:sldChg chg="del">
        <pc:chgData name="Dung Duong" userId="ab3e9a6b-2884-4530-bb47-a3ffa8a01cdf" providerId="ADAL" clId="{F078ECCE-EABA-4665-95E4-0354974385D5}" dt="2022-08-13T12:49:17.916" v="3" actId="47"/>
        <pc:sldMkLst>
          <pc:docMk/>
          <pc:sldMk cId="2701124773" sldId="295"/>
        </pc:sldMkLst>
      </pc:sldChg>
      <pc:sldChg chg="del">
        <pc:chgData name="Dung Duong" userId="ab3e9a6b-2884-4530-bb47-a3ffa8a01cdf" providerId="ADAL" clId="{F078ECCE-EABA-4665-95E4-0354974385D5}" dt="2022-08-13T12:49:17.916" v="3" actId="47"/>
        <pc:sldMkLst>
          <pc:docMk/>
          <pc:sldMk cId="1987119899" sldId="296"/>
        </pc:sldMkLst>
      </pc:sldChg>
      <pc:sldChg chg="del">
        <pc:chgData name="Dung Duong" userId="ab3e9a6b-2884-4530-bb47-a3ffa8a01cdf" providerId="ADAL" clId="{F078ECCE-EABA-4665-95E4-0354974385D5}" dt="2022-08-13T12:49:17.916" v="3" actId="47"/>
        <pc:sldMkLst>
          <pc:docMk/>
          <pc:sldMk cId="3765899441" sldId="297"/>
        </pc:sldMkLst>
      </pc:sldChg>
      <pc:sldChg chg="del">
        <pc:chgData name="Dung Duong" userId="ab3e9a6b-2884-4530-bb47-a3ffa8a01cdf" providerId="ADAL" clId="{F078ECCE-EABA-4665-95E4-0354974385D5}" dt="2022-08-13T12:49:17.916" v="3" actId="47"/>
        <pc:sldMkLst>
          <pc:docMk/>
          <pc:sldMk cId="3283416440" sldId="298"/>
        </pc:sldMkLst>
      </pc:sldChg>
      <pc:sldChg chg="del">
        <pc:chgData name="Dung Duong" userId="ab3e9a6b-2884-4530-bb47-a3ffa8a01cdf" providerId="ADAL" clId="{F078ECCE-EABA-4665-95E4-0354974385D5}" dt="2022-08-13T12:49:17.916" v="3" actId="47"/>
        <pc:sldMkLst>
          <pc:docMk/>
          <pc:sldMk cId="1960076975" sldId="299"/>
        </pc:sldMkLst>
      </pc:sldChg>
      <pc:sldChg chg="del">
        <pc:chgData name="Dung Duong" userId="ab3e9a6b-2884-4530-bb47-a3ffa8a01cdf" providerId="ADAL" clId="{F078ECCE-EABA-4665-95E4-0354974385D5}" dt="2022-08-13T12:49:17.916" v="3" actId="47"/>
        <pc:sldMkLst>
          <pc:docMk/>
          <pc:sldMk cId="2689451622" sldId="301"/>
        </pc:sldMkLst>
      </pc:sldChg>
      <pc:sldChg chg="del">
        <pc:chgData name="Dung Duong" userId="ab3e9a6b-2884-4530-bb47-a3ffa8a01cdf" providerId="ADAL" clId="{F078ECCE-EABA-4665-95E4-0354974385D5}" dt="2022-08-13T12:49:17.916" v="3" actId="47"/>
        <pc:sldMkLst>
          <pc:docMk/>
          <pc:sldMk cId="665896882" sldId="302"/>
        </pc:sldMkLst>
      </pc:sldChg>
      <pc:sldChg chg="del">
        <pc:chgData name="Dung Duong" userId="ab3e9a6b-2884-4530-bb47-a3ffa8a01cdf" providerId="ADAL" clId="{F078ECCE-EABA-4665-95E4-0354974385D5}" dt="2022-08-13T12:49:17.916" v="3" actId="47"/>
        <pc:sldMkLst>
          <pc:docMk/>
          <pc:sldMk cId="2177326973" sldId="303"/>
        </pc:sldMkLst>
      </pc:sldChg>
      <pc:sldChg chg="del">
        <pc:chgData name="Dung Duong" userId="ab3e9a6b-2884-4530-bb47-a3ffa8a01cdf" providerId="ADAL" clId="{F078ECCE-EABA-4665-95E4-0354974385D5}" dt="2022-08-13T12:49:17.916" v="3" actId="47"/>
        <pc:sldMkLst>
          <pc:docMk/>
          <pc:sldMk cId="2109259193" sldId="304"/>
        </pc:sldMkLst>
      </pc:sldChg>
      <pc:sldChg chg="del">
        <pc:chgData name="Dung Duong" userId="ab3e9a6b-2884-4530-bb47-a3ffa8a01cdf" providerId="ADAL" clId="{F078ECCE-EABA-4665-95E4-0354974385D5}" dt="2022-08-13T12:49:17.916" v="3" actId="47"/>
        <pc:sldMkLst>
          <pc:docMk/>
          <pc:sldMk cId="832247159" sldId="305"/>
        </pc:sldMkLst>
      </pc:sldChg>
      <pc:sldChg chg="del">
        <pc:chgData name="Dung Duong" userId="ab3e9a6b-2884-4530-bb47-a3ffa8a01cdf" providerId="ADAL" clId="{F078ECCE-EABA-4665-95E4-0354974385D5}" dt="2022-08-13T12:49:17.916" v="3" actId="47"/>
        <pc:sldMkLst>
          <pc:docMk/>
          <pc:sldMk cId="1713405121" sldId="306"/>
        </pc:sldMkLst>
      </pc:sldChg>
      <pc:sldChg chg="del">
        <pc:chgData name="Dung Duong" userId="ab3e9a6b-2884-4530-bb47-a3ffa8a01cdf" providerId="ADAL" clId="{F078ECCE-EABA-4665-95E4-0354974385D5}" dt="2022-08-13T12:49:17.916" v="3" actId="47"/>
        <pc:sldMkLst>
          <pc:docMk/>
          <pc:sldMk cId="57254673" sldId="307"/>
        </pc:sldMkLst>
      </pc:sldChg>
      <pc:sldChg chg="del">
        <pc:chgData name="Dung Duong" userId="ab3e9a6b-2884-4530-bb47-a3ffa8a01cdf" providerId="ADAL" clId="{F078ECCE-EABA-4665-95E4-0354974385D5}" dt="2022-08-13T12:49:17.916" v="3" actId="47"/>
        <pc:sldMkLst>
          <pc:docMk/>
          <pc:sldMk cId="3301121580" sldId="308"/>
        </pc:sldMkLst>
      </pc:sldChg>
      <pc:sldChg chg="del">
        <pc:chgData name="Dung Duong" userId="ab3e9a6b-2884-4530-bb47-a3ffa8a01cdf" providerId="ADAL" clId="{F078ECCE-EABA-4665-95E4-0354974385D5}" dt="2022-08-13T12:49:17.916" v="3" actId="47"/>
        <pc:sldMkLst>
          <pc:docMk/>
          <pc:sldMk cId="3121664002" sldId="309"/>
        </pc:sldMkLst>
      </pc:sldChg>
      <pc:sldMasterChg chg="delSldLayout">
        <pc:chgData name="Dung Duong" userId="ab3e9a6b-2884-4530-bb47-a3ffa8a01cdf" providerId="ADAL" clId="{F078ECCE-EABA-4665-95E4-0354974385D5}" dt="2022-08-13T12:49:17.916" v="3" actId="47"/>
        <pc:sldMasterMkLst>
          <pc:docMk/>
          <pc:sldMasterMk cId="256806132" sldId="2147483648"/>
        </pc:sldMasterMkLst>
        <pc:sldLayoutChg chg="del">
          <pc:chgData name="Dung Duong" userId="ab3e9a6b-2884-4530-bb47-a3ffa8a01cdf" providerId="ADAL" clId="{F078ECCE-EABA-4665-95E4-0354974385D5}" dt="2022-08-13T12:49:17.916" v="3" actId="47"/>
          <pc:sldLayoutMkLst>
            <pc:docMk/>
            <pc:sldMasterMk cId="256806132" sldId="2147483648"/>
            <pc:sldLayoutMk cId="3440659617"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5FD6D2-7F99-490B-A14F-C9BFDAB53D1D}" type="datetimeFigureOut">
              <a:rPr lang="en-AU" smtClean="0"/>
              <a:t>12/10/2025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D882E-D176-44D1-AC01-4C26BB13364A}" type="slidenum">
              <a:rPr lang="en-AU" smtClean="0"/>
              <a:t>‹#›</a:t>
            </a:fld>
            <a:endParaRPr lang="en-AU"/>
          </a:p>
        </p:txBody>
      </p:sp>
    </p:spTree>
    <p:extLst>
      <p:ext uri="{BB962C8B-B14F-4D97-AF65-F5344CB8AC3E}">
        <p14:creationId xmlns:p14="http://schemas.microsoft.com/office/powerpoint/2010/main" val="1454165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wikiwand.com/en/Principle_of_least_privilege"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n.wikipedia.org/wiki/Login_spoofing" TargetMode="External"/><Relationship Id="rId7" Type="http://schemas.openxmlformats.org/officeDocument/2006/relationships/hyperlink" Target="https://en.wikipedia.org/wiki/Security_cracking" TargetMode="External"/><Relationship Id="rId2" Type="http://schemas.openxmlformats.org/officeDocument/2006/relationships/slide" Target="../slides/slide56.xml"/><Relationship Id="rId1" Type="http://schemas.openxmlformats.org/officeDocument/2006/relationships/notesMaster" Target="../notesMasters/notesMaster1.xml"/><Relationship Id="rId6" Type="http://schemas.openxmlformats.org/officeDocument/2006/relationships/hyperlink" Target="https://en.wikipedia.org/wiki/Trojan_horse_(computing)" TargetMode="External"/><Relationship Id="rId5" Type="http://schemas.openxmlformats.org/officeDocument/2006/relationships/hyperlink" Target="https://en.wikipedia.org/wiki/Logging_(computer_security)" TargetMode="External"/><Relationship Id="rId4" Type="http://schemas.openxmlformats.org/officeDocument/2006/relationships/hyperlink" Target="https://en.wikipedia.org/wiki/Password"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8" Type="http://schemas.openxmlformats.org/officeDocument/2006/relationships/hyperlink" Target="https://docs.microsoft.com/en-us/windows/win32/secauthz/securable-objects" TargetMode="External"/><Relationship Id="rId3" Type="http://schemas.openxmlformats.org/officeDocument/2006/relationships/hyperlink" Target="https://docs.microsoft.com/en-us/windows/desktop/SecGloss/a-gly" TargetMode="External"/><Relationship Id="rId7" Type="http://schemas.openxmlformats.org/officeDocument/2006/relationships/hyperlink" Target="https://docs.microsoft.com/en-us/windows/win32/secauthz/security-descriptors" TargetMode="External"/><Relationship Id="rId2" Type="http://schemas.openxmlformats.org/officeDocument/2006/relationships/slide" Target="../slides/slide58.xml"/><Relationship Id="rId1" Type="http://schemas.openxmlformats.org/officeDocument/2006/relationships/notesMaster" Target="../notesMasters/notesMaster1.xml"/><Relationship Id="rId6" Type="http://schemas.openxmlformats.org/officeDocument/2006/relationships/hyperlink" Target="https://docs.microsoft.com/en-us/windows/win32/secauthz/access-rights-and-access-masks" TargetMode="External"/><Relationship Id="rId11" Type="http://schemas.openxmlformats.org/officeDocument/2006/relationships/hyperlink" Target="https://docs.microsoft.com/en-us/windows/desktop/SecGloss/s-gly" TargetMode="External"/><Relationship Id="rId5" Type="http://schemas.openxmlformats.org/officeDocument/2006/relationships/hyperlink" Target="https://docs.microsoft.com/en-us/windows/win32/secauthz/trustees" TargetMode="External"/><Relationship Id="rId10" Type="http://schemas.openxmlformats.org/officeDocument/2006/relationships/hyperlink" Target="https://docs.microsoft.com/en-us/windows/desktop/SecGloss/p-gly" TargetMode="External"/><Relationship Id="rId4" Type="http://schemas.openxmlformats.org/officeDocument/2006/relationships/hyperlink" Target="https://docs.microsoft.com/en-us/windows/win32/secauthz/access-control-entries" TargetMode="External"/><Relationship Id="rId9" Type="http://schemas.openxmlformats.org/officeDocument/2006/relationships/hyperlink" Target="https://docs.microsoft.com/en-us/windows/desktop/SecGloss/d-gly"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9BD882E-D176-44D1-AC01-4C26BB13364A}" type="slidenum">
              <a:rPr lang="en-AU" smtClean="0"/>
              <a:t>1</a:t>
            </a:fld>
            <a:endParaRPr lang="en-AU"/>
          </a:p>
        </p:txBody>
      </p:sp>
    </p:spTree>
    <p:extLst>
      <p:ext uri="{BB962C8B-B14F-4D97-AF65-F5344CB8AC3E}">
        <p14:creationId xmlns:p14="http://schemas.microsoft.com/office/powerpoint/2010/main" val="3922207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system is not secure because regardless of which authorized state it starts in, it can enter</a:t>
            </a:r>
          </a:p>
          <a:p>
            <a:r>
              <a:rPr lang="en-US" sz="1200" b="0" i="0" u="none" strike="noStrike" kern="1200" baseline="0" dirty="0">
                <a:solidFill>
                  <a:schemeClr val="tx1"/>
                </a:solidFill>
                <a:latin typeface="+mn-lt"/>
                <a:ea typeface="+mn-ea"/>
                <a:cs typeface="+mn-cs"/>
              </a:rPr>
              <a:t>an unauthorized state. However, if the edge from </a:t>
            </a:r>
            <a:r>
              <a:rPr lang="en-US" sz="1200" b="0" i="1" u="none" strike="noStrike" kern="1200" baseline="0" dirty="0">
                <a:solidFill>
                  <a:schemeClr val="tx1"/>
                </a:solidFill>
                <a:latin typeface="+mn-lt"/>
                <a:ea typeface="+mn-ea"/>
                <a:cs typeface="+mn-cs"/>
              </a:rPr>
              <a:t>s</a:t>
            </a:r>
            <a:r>
              <a:rPr lang="en-US" sz="1200" b="0" i="0" u="none" strike="noStrike" kern="1200" baseline="0" dirty="0">
                <a:solidFill>
                  <a:schemeClr val="tx1"/>
                </a:solidFill>
                <a:latin typeface="+mn-lt"/>
                <a:ea typeface="+mn-ea"/>
                <a:cs typeface="+mn-cs"/>
              </a:rPr>
              <a:t>1 to </a:t>
            </a:r>
            <a:r>
              <a:rPr lang="en-US" sz="1200" b="0" i="1" u="none" strike="noStrike" kern="1200" baseline="0" dirty="0">
                <a:solidFill>
                  <a:schemeClr val="tx1"/>
                </a:solidFill>
                <a:latin typeface="+mn-lt"/>
                <a:ea typeface="+mn-ea"/>
                <a:cs typeface="+mn-cs"/>
              </a:rPr>
              <a:t>s</a:t>
            </a:r>
            <a:r>
              <a:rPr lang="en-US" sz="1200" b="0" i="0" u="none" strike="noStrike" kern="1200" baseline="0" dirty="0">
                <a:solidFill>
                  <a:schemeClr val="tx1"/>
                </a:solidFill>
                <a:latin typeface="+mn-lt"/>
                <a:ea typeface="+mn-ea"/>
                <a:cs typeface="+mn-cs"/>
              </a:rPr>
              <a:t>3 were not present, the</a:t>
            </a:r>
          </a:p>
          <a:p>
            <a:r>
              <a:rPr lang="en-US" sz="1200" b="0" i="0" u="none" strike="noStrike" kern="1200" baseline="0" dirty="0">
                <a:solidFill>
                  <a:schemeClr val="tx1"/>
                </a:solidFill>
                <a:latin typeface="+mn-lt"/>
                <a:ea typeface="+mn-ea"/>
                <a:cs typeface="+mn-cs"/>
              </a:rPr>
              <a:t>system would be secure, because it could not enter an unauthorized state from an</a:t>
            </a:r>
          </a:p>
          <a:p>
            <a:r>
              <a:rPr lang="en-AU" sz="1200" b="0" i="0" u="none" strike="noStrike" kern="1200" baseline="0" dirty="0">
                <a:solidFill>
                  <a:schemeClr val="tx1"/>
                </a:solidFill>
                <a:latin typeface="+mn-lt"/>
                <a:ea typeface="+mn-ea"/>
                <a:cs typeface="+mn-cs"/>
              </a:rPr>
              <a:t>authorized state.</a:t>
            </a:r>
            <a:endParaRPr lang="en-AU" dirty="0"/>
          </a:p>
        </p:txBody>
      </p:sp>
      <p:sp>
        <p:nvSpPr>
          <p:cNvPr id="4" name="Slide Number Placeholder 3"/>
          <p:cNvSpPr>
            <a:spLocks noGrp="1"/>
          </p:cNvSpPr>
          <p:nvPr>
            <p:ph type="sldNum" sz="quarter" idx="10"/>
          </p:nvPr>
        </p:nvSpPr>
        <p:spPr/>
        <p:txBody>
          <a:bodyPr/>
          <a:lstStyle/>
          <a:p>
            <a:fld id="{69BD882E-D176-44D1-AC01-4C26BB13364A}" type="slidenum">
              <a:rPr lang="en-AU" smtClean="0"/>
              <a:t>3</a:t>
            </a:fld>
            <a:endParaRPr lang="en-AU"/>
          </a:p>
        </p:txBody>
      </p:sp>
    </p:spTree>
    <p:extLst>
      <p:ext uri="{BB962C8B-B14F-4D97-AF65-F5344CB8AC3E}">
        <p14:creationId xmlns:p14="http://schemas.microsoft.com/office/powerpoint/2010/main" val="1851144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BLP is a security model for access control. That we will learn shortly</a:t>
            </a:r>
            <a:endParaRPr lang="en-AU" dirty="0"/>
          </a:p>
        </p:txBody>
      </p:sp>
      <p:sp>
        <p:nvSpPr>
          <p:cNvPr id="4" name="Slide Number Placeholder 3"/>
          <p:cNvSpPr>
            <a:spLocks noGrp="1"/>
          </p:cNvSpPr>
          <p:nvPr>
            <p:ph type="sldNum" sz="quarter" idx="10"/>
          </p:nvPr>
        </p:nvSpPr>
        <p:spPr/>
        <p:txBody>
          <a:bodyPr/>
          <a:lstStyle/>
          <a:p>
            <a:fld id="{69BD882E-D176-44D1-AC01-4C26BB13364A}" type="slidenum">
              <a:rPr lang="en-AU" smtClean="0"/>
              <a:t>4</a:t>
            </a:fld>
            <a:endParaRPr lang="en-AU"/>
          </a:p>
        </p:txBody>
      </p:sp>
    </p:spTree>
    <p:extLst>
      <p:ext uri="{BB962C8B-B14F-4D97-AF65-F5344CB8AC3E}">
        <p14:creationId xmlns:p14="http://schemas.microsoft.com/office/powerpoint/2010/main" val="1609312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02C91ABA-89C9-4284-9F51-1E6F1488D33D}" type="slidenum">
              <a:rPr lang="en-AU" altLang="en-US" sz="1200" smtClean="0"/>
              <a:pPr/>
              <a:t>10</a:t>
            </a:fld>
            <a:endParaRPr lang="en-AU" altLang="en-US" sz="1200"/>
          </a:p>
        </p:txBody>
      </p:sp>
      <p:sp>
        <p:nvSpPr>
          <p:cNvPr id="10243" name="Rectangle 2"/>
          <p:cNvSpPr>
            <a:spLocks noGrp="1" noRot="1" noChangeAspect="1" noChangeArrowheads="1" noTextEdit="1"/>
          </p:cNvSpPr>
          <p:nvPr>
            <p:ph type="sldImg"/>
          </p:nvPr>
        </p:nvSpPr>
        <p:spPr>
          <a:xfrm>
            <a:off x="138113" y="768350"/>
            <a:ext cx="6823075" cy="3838575"/>
          </a:xfrm>
          <a:ln/>
        </p:spPr>
      </p:sp>
      <p:sp>
        <p:nvSpPr>
          <p:cNvPr id="10244"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pPr>
            <a:r>
              <a:rPr lang="en-US" altLang="en-US"/>
              <a:t>The BLP model was developed in the 1970s as a formal model for access control.</a:t>
            </a:r>
          </a:p>
          <a:p>
            <a:pPr>
              <a:lnSpc>
                <a:spcPct val="110000"/>
              </a:lnSpc>
            </a:pPr>
            <a:r>
              <a:rPr lang="en-US" altLang="en-US"/>
              <a:t>The Bell-LaPadula Model (BLM), also called the multi-level model, was proposed by Bell and LaPadula for enforcing access control in government and military applications. In such applications, subjects and objects are often partitioned into different security levels. A subject can only access objects at certain levels determined by his security level. For instance, the following are two typical access specifications: ``Unclassified personnel cannot read data at confidential levels'' and ``Top-Secret data cannot be written into the files at unclassified levels''. </a:t>
            </a:r>
          </a:p>
          <a:p>
            <a:r>
              <a:rPr lang="en-US" altLang="en-US"/>
              <a:t>In the model, each subject and each object is assigned a </a:t>
            </a:r>
            <a:r>
              <a:rPr lang="en-US" altLang="en-US" b="1"/>
              <a:t>security class</a:t>
            </a:r>
            <a:r>
              <a:rPr lang="en-US" altLang="en-US"/>
              <a:t>. In the simplest</a:t>
            </a:r>
          </a:p>
          <a:p>
            <a:r>
              <a:rPr lang="en-US" altLang="en-US"/>
              <a:t>formulation, security classes form a strict hierarchy and are referred to as </a:t>
            </a:r>
            <a:r>
              <a:rPr lang="en-US" altLang="en-US" b="1"/>
              <a:t>security</a:t>
            </a:r>
          </a:p>
          <a:p>
            <a:r>
              <a:rPr lang="en-AU" altLang="en-US" b="1"/>
              <a:t>levels.</a:t>
            </a:r>
            <a:endParaRPr lang="en-AU" altLang="en-US"/>
          </a:p>
        </p:txBody>
      </p:sp>
    </p:spTree>
    <p:extLst>
      <p:ext uri="{BB962C8B-B14F-4D97-AF65-F5344CB8AC3E}">
        <p14:creationId xmlns:p14="http://schemas.microsoft.com/office/powerpoint/2010/main" val="1968627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Partial order : reflexive a &lt;= a</a:t>
            </a:r>
          </a:p>
          <a:p>
            <a:r>
              <a:rPr lang="en-AU" altLang="en-US"/>
              <a:t>, antisymmetric: a&lt;+b, b&lt;=a -&gt; a= b</a:t>
            </a:r>
          </a:p>
          <a:p>
            <a:r>
              <a:rPr lang="en-AU" altLang="en-US"/>
              <a:t> transitivity: a&lt;=b, b&lt;= c then a&lt;=c</a:t>
            </a: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74E351C8-DC5C-416B-8CBE-5A85ACDDE2CB}" type="slidenum">
              <a:rPr lang="en-AU" altLang="en-US" sz="1200" smtClean="0"/>
              <a:pPr/>
              <a:t>11</a:t>
            </a:fld>
            <a:endParaRPr lang="en-AU" altLang="en-US" sz="1200"/>
          </a:p>
        </p:txBody>
      </p:sp>
    </p:spTree>
    <p:extLst>
      <p:ext uri="{BB962C8B-B14F-4D97-AF65-F5344CB8AC3E}">
        <p14:creationId xmlns:p14="http://schemas.microsoft.com/office/powerpoint/2010/main" val="1765777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07094D06-EA22-4615-8BA5-45E92767D3D1}" type="slidenum">
              <a:rPr lang="en-AU" altLang="en-US" sz="1200" smtClean="0"/>
              <a:pPr/>
              <a:t>13</a:t>
            </a:fld>
            <a:endParaRPr lang="en-AU" altLang="en-US" sz="1200"/>
          </a:p>
        </p:txBody>
      </p:sp>
      <p:sp>
        <p:nvSpPr>
          <p:cNvPr id="10243" name="Rectangle 2"/>
          <p:cNvSpPr>
            <a:spLocks noGrp="1" noRot="1" noChangeAspect="1" noChangeArrowheads="1" noTextEdit="1"/>
          </p:cNvSpPr>
          <p:nvPr>
            <p:ph type="sldImg"/>
          </p:nvPr>
        </p:nvSpPr>
        <p:spPr>
          <a:xfrm>
            <a:off x="138113" y="768350"/>
            <a:ext cx="6823075" cy="3838575"/>
          </a:xfrm>
          <a:ln/>
        </p:spPr>
      </p:sp>
      <p:sp>
        <p:nvSpPr>
          <p:cNvPr id="10244"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2637668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Explain in whiteboard</a:t>
            </a: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E93154E9-5712-4682-BA6E-414FCD0FEBC7}" type="slidenum">
              <a:rPr lang="en-AU" altLang="en-US" sz="1200" smtClean="0"/>
              <a:pPr/>
              <a:t>14</a:t>
            </a:fld>
            <a:endParaRPr lang="en-AU" altLang="en-US" sz="1200"/>
          </a:p>
        </p:txBody>
      </p:sp>
    </p:spTree>
    <p:extLst>
      <p:ext uri="{BB962C8B-B14F-4D97-AF65-F5344CB8AC3E}">
        <p14:creationId xmlns:p14="http://schemas.microsoft.com/office/powerpoint/2010/main" val="2784957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43C4CE18-8BA6-4C2D-879D-A1C3C981D6DA}" type="slidenum">
              <a:rPr lang="en-AU" altLang="en-US" sz="1200" smtClean="0"/>
              <a:pPr/>
              <a:t>15</a:t>
            </a:fld>
            <a:endParaRPr lang="en-AU" altLang="en-US" sz="1200"/>
          </a:p>
        </p:txBody>
      </p:sp>
    </p:spTree>
    <p:extLst>
      <p:ext uri="{BB962C8B-B14F-4D97-AF65-F5344CB8AC3E}">
        <p14:creationId xmlns:p14="http://schemas.microsoft.com/office/powerpoint/2010/main" val="2510423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9A8D9BCD-BFF9-4B82-971C-B302B495F898}" type="slidenum">
              <a:rPr lang="en-AU" altLang="en-US" sz="1200" smtClean="0"/>
              <a:pPr/>
              <a:t>19</a:t>
            </a:fld>
            <a:endParaRPr lang="en-AU" altLang="en-US" sz="1200"/>
          </a:p>
        </p:txBody>
      </p:sp>
      <p:sp>
        <p:nvSpPr>
          <p:cNvPr id="17411" name="Rectangle 2"/>
          <p:cNvSpPr>
            <a:spLocks noGrp="1" noRot="1" noChangeAspect="1" noChangeArrowheads="1" noTextEdit="1"/>
          </p:cNvSpPr>
          <p:nvPr>
            <p:ph type="sldImg"/>
          </p:nvPr>
        </p:nvSpPr>
        <p:spPr>
          <a:xfrm>
            <a:off x="138113" y="768350"/>
            <a:ext cx="6823075" cy="3838575"/>
          </a:xfrm>
          <a:ln/>
        </p:spPr>
      </p:sp>
      <p:sp>
        <p:nvSpPr>
          <p:cNvPr id="17412"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3729993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It satisfies every security property of BLP</a:t>
            </a: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4745160B-C95D-4EE9-866B-ACCFEA23CBB3}" type="slidenum">
              <a:rPr lang="en-AU" altLang="en-US" sz="1200" smtClean="0"/>
              <a:pPr/>
              <a:t>24</a:t>
            </a:fld>
            <a:endParaRPr lang="en-AU" altLang="en-US" sz="1200"/>
          </a:p>
        </p:txBody>
      </p:sp>
    </p:spTree>
    <p:extLst>
      <p:ext uri="{BB962C8B-B14F-4D97-AF65-F5344CB8AC3E}">
        <p14:creationId xmlns:p14="http://schemas.microsoft.com/office/powerpoint/2010/main" val="1920801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a:p>
            <a:r>
              <a:rPr lang="en-US" altLang="en-US"/>
              <a:t>BLP Security Is Not Sufficient! </a:t>
            </a:r>
            <a:endParaRPr lang="en-AU" altLang="en-US"/>
          </a:p>
          <a:p>
            <a:r>
              <a:rPr lang="en-US" altLang="en-US"/>
              <a:t>Tranquility principle</a:t>
            </a:r>
          </a:p>
          <a:p>
            <a:r>
              <a:rPr lang="en-US" altLang="en-US"/>
              <a:t>The tranquility principle of the Bell–LaPadula model states that the classification of a subject or object does not change while it is being referenced. There are two forms to the tranquility principle: the "principle of strong tranquility" states that security levels do not change during the normal operation of the system. The "principle of weak tranquility" states that security levels may never change in such a way as to violate a defined security policy. Weak tranquility is desirable as it allows systems to observe the </a:t>
            </a:r>
            <a:r>
              <a:rPr lang="en-US" altLang="en-US">
                <a:hlinkClick r:id="rId3" tooltip="Principle of least privilege"/>
              </a:rPr>
              <a:t>principle of least privilege</a:t>
            </a:r>
            <a:r>
              <a:rPr lang="en-US" altLang="en-US"/>
              <a:t>. That is, processes start with a low clearance level regardless of their owners clearance, and progressively accumulate higher clearance levels as actions require it.</a:t>
            </a:r>
          </a:p>
          <a:p>
            <a:endParaRPr lang="en-AU" altLang="en-US"/>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C231261D-C2A1-4828-B01E-5EA37F44176C}" type="slidenum">
              <a:rPr lang="en-AU" altLang="en-US" sz="1200" smtClean="0"/>
              <a:pPr/>
              <a:t>25</a:t>
            </a:fld>
            <a:endParaRPr lang="en-AU" altLang="en-US" sz="1200"/>
          </a:p>
        </p:txBody>
      </p:sp>
    </p:spTree>
    <p:extLst>
      <p:ext uri="{BB962C8B-B14F-4D97-AF65-F5344CB8AC3E}">
        <p14:creationId xmlns:p14="http://schemas.microsoft.com/office/powerpoint/2010/main" val="3319840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ltLang="en-US" dirty="0"/>
              <a:t>A secure system should not only protect against direct revelation of data, but also against violations that produce illegal information flow through indirect means.</a:t>
            </a:r>
          </a:p>
          <a:p>
            <a:pPr>
              <a:defRPr/>
            </a:pPr>
            <a:r>
              <a:rPr lang="en-US" altLang="en-US" dirty="0"/>
              <a:t> ● Inference Channels - A user at a low security class uses the lo w data to infer information about high security class. </a:t>
            </a:r>
          </a:p>
          <a:p>
            <a:pPr>
              <a:defRPr/>
            </a:pPr>
            <a:r>
              <a:rPr lang="en-US" altLang="en-US" dirty="0"/>
              <a:t>● Covert channels - Require two active agents, one at a low level and the other at a high level and an encoding scheme to pass on information about the high level to the low level</a:t>
            </a:r>
          </a:p>
          <a:p>
            <a:pPr>
              <a:defRPr/>
            </a:pPr>
            <a:endParaRPr lang="en-US" altLang="en-US" dirty="0"/>
          </a:p>
          <a:p>
            <a:pPr>
              <a:defRPr/>
            </a:pPr>
            <a:endParaRPr lang="en-US" altLang="en-US" dirty="0"/>
          </a:p>
          <a:p>
            <a:pPr marL="533400" indent="-533400" eaLnBrk="1" hangingPunct="1">
              <a:defRPr/>
            </a:pPr>
            <a:r>
              <a:rPr lang="en-US" altLang="en-US" i="1" dirty="0">
                <a:solidFill>
                  <a:srgbClr val="009900"/>
                </a:solidFill>
                <a:latin typeface="Arial Narrow" panose="020B0606020202030204" pitchFamily="34" charset="0"/>
              </a:rPr>
              <a:t>Covert channels</a:t>
            </a:r>
            <a:r>
              <a:rPr lang="en-US" altLang="en-US" dirty="0">
                <a:latin typeface="Arial Narrow" panose="020B0606020202030204" pitchFamily="34" charset="0"/>
              </a:rPr>
              <a:t> are information channels that are not </a:t>
            </a:r>
          </a:p>
          <a:p>
            <a:pPr marL="533400" indent="-533400" eaLnBrk="1" hangingPunct="1">
              <a:defRPr/>
            </a:pPr>
            <a:r>
              <a:rPr lang="en-US" altLang="en-US" dirty="0">
                <a:latin typeface="Arial Narrow" panose="020B0606020202030204" pitchFamily="34" charset="0"/>
              </a:rPr>
              <a:t>controlled by the security mechanism of the system.</a:t>
            </a:r>
          </a:p>
          <a:p>
            <a:pPr marL="533400" indent="-533400" eaLnBrk="1" hangingPunct="1">
              <a:defRPr/>
            </a:pPr>
            <a:r>
              <a:rPr lang="en-US" altLang="en-US" dirty="0">
                <a:latin typeface="Arial Narrow" panose="020B0606020202030204" pitchFamily="34" charset="0"/>
              </a:rPr>
              <a:t>Information can flow (leak) from a high security level to a low </a:t>
            </a:r>
          </a:p>
          <a:p>
            <a:pPr marL="533400" indent="-533400" eaLnBrk="1" hangingPunct="1">
              <a:defRPr/>
            </a:pPr>
            <a:r>
              <a:rPr lang="en-US" altLang="en-US" dirty="0">
                <a:latin typeface="Arial Narrow" panose="020B0606020202030204" pitchFamily="34" charset="0"/>
              </a:rPr>
              <a:t>security level</a:t>
            </a:r>
            <a:endParaRPr lang="en-AU" altLang="en-US" dirty="0"/>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27598D26-36E3-487B-8E78-C7FF027DD07A}" type="slidenum">
              <a:rPr lang="en-AU" altLang="en-US" sz="1200" smtClean="0"/>
              <a:pPr/>
              <a:t>26</a:t>
            </a:fld>
            <a:endParaRPr lang="en-AU" altLang="en-US" sz="1200"/>
          </a:p>
        </p:txBody>
      </p:sp>
    </p:spTree>
    <p:extLst>
      <p:ext uri="{BB962C8B-B14F-4D97-AF65-F5344CB8AC3E}">
        <p14:creationId xmlns:p14="http://schemas.microsoft.com/office/powerpoint/2010/main" val="3065077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Consider the following scenario</a:t>
            </a: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5EA42512-090C-406F-865E-28860A04186A}" type="slidenum">
              <a:rPr lang="en-AU" altLang="en-US" sz="1200" smtClean="0"/>
              <a:pPr/>
              <a:t>27</a:t>
            </a:fld>
            <a:endParaRPr lang="en-AU" altLang="en-US" sz="1200"/>
          </a:p>
        </p:txBody>
      </p:sp>
    </p:spTree>
    <p:extLst>
      <p:ext uri="{BB962C8B-B14F-4D97-AF65-F5344CB8AC3E}">
        <p14:creationId xmlns:p14="http://schemas.microsoft.com/office/powerpoint/2010/main" val="1723622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Examples of covert channels:</a:t>
            </a:r>
          </a:p>
          <a:p>
            <a:endParaRPr lang="en-AU" altLang="en-US"/>
          </a:p>
          <a:p>
            <a:endParaRPr lang="en-AU" altLang="en-US"/>
          </a:p>
          <a:p>
            <a:r>
              <a:rPr lang="en-US" altLang="en-US"/>
              <a:t>-Using file lock as a shared boolean variable </a:t>
            </a:r>
          </a:p>
          <a:p>
            <a:r>
              <a:rPr lang="en-US" altLang="en-US"/>
              <a:t>•By varying its ratio of computing to input/output or its paging rate, the service can transmit information to a concurrently running process </a:t>
            </a:r>
          </a:p>
          <a:p>
            <a:r>
              <a:rPr lang="en-US" altLang="en-US"/>
              <a:t>•Timing of packets being sent </a:t>
            </a:r>
          </a:p>
          <a:p>
            <a:endParaRPr lang="en-AU" altLang="en-US"/>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5FA368A1-38E0-4E45-909E-9F8D84458FBA}" type="slidenum">
              <a:rPr lang="en-AU" altLang="en-US" sz="1200" smtClean="0"/>
              <a:pPr/>
              <a:t>28</a:t>
            </a:fld>
            <a:endParaRPr lang="en-AU" altLang="en-US" sz="1200"/>
          </a:p>
        </p:txBody>
      </p:sp>
    </p:spTree>
    <p:extLst>
      <p:ext uri="{BB962C8B-B14F-4D97-AF65-F5344CB8AC3E}">
        <p14:creationId xmlns:p14="http://schemas.microsoft.com/office/powerpoint/2010/main" val="2515630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dirty="0"/>
              <a:t>allows convert channels</a:t>
            </a:r>
          </a:p>
          <a:p>
            <a:endParaRPr lang="en-AU" altLang="en-US" dirty="0"/>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67214D9F-227A-469F-AF3E-B98FB1A88EF3}" type="slidenum">
              <a:rPr lang="en-AU" altLang="en-US" sz="1200" smtClean="0"/>
              <a:pPr/>
              <a:t>29</a:t>
            </a:fld>
            <a:endParaRPr lang="en-AU" altLang="en-US" sz="1200"/>
          </a:p>
        </p:txBody>
      </p:sp>
    </p:spTree>
    <p:extLst>
      <p:ext uri="{BB962C8B-B14F-4D97-AF65-F5344CB8AC3E}">
        <p14:creationId xmlns:p14="http://schemas.microsoft.com/office/powerpoint/2010/main" val="22026931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BLP: </a:t>
            </a:r>
            <a:r>
              <a:rPr lang="en-AU" altLang="en-US" sz="1200" b="1" dirty="0"/>
              <a:t>“No write down, no read up!” </a:t>
            </a:r>
            <a:endParaRPr lang="en-US" dirty="0"/>
          </a:p>
        </p:txBody>
      </p:sp>
      <p:sp>
        <p:nvSpPr>
          <p:cNvPr id="4" name="Slide Number Placeholder 3"/>
          <p:cNvSpPr>
            <a:spLocks noGrp="1"/>
          </p:cNvSpPr>
          <p:nvPr>
            <p:ph type="sldNum" sz="quarter" idx="5"/>
          </p:nvPr>
        </p:nvSpPr>
        <p:spPr/>
        <p:txBody>
          <a:bodyPr/>
          <a:lstStyle/>
          <a:p>
            <a:fld id="{69BD882E-D176-44D1-AC01-4C26BB13364A}" type="slidenum">
              <a:rPr lang="en-AU" smtClean="0"/>
              <a:t>31</a:t>
            </a:fld>
            <a:endParaRPr lang="en-AU"/>
          </a:p>
        </p:txBody>
      </p:sp>
    </p:spTree>
    <p:extLst>
      <p:ext uri="{BB962C8B-B14F-4D97-AF65-F5344CB8AC3E}">
        <p14:creationId xmlns:p14="http://schemas.microsoft.com/office/powerpoint/2010/main" val="102137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BD882E-D176-44D1-AC01-4C26BB13364A}" type="slidenum">
              <a:rPr lang="en-AU" smtClean="0"/>
              <a:t>32</a:t>
            </a:fld>
            <a:endParaRPr lang="en-AU"/>
          </a:p>
        </p:txBody>
      </p:sp>
    </p:spTree>
    <p:extLst>
      <p:ext uri="{BB962C8B-B14F-4D97-AF65-F5344CB8AC3E}">
        <p14:creationId xmlns:p14="http://schemas.microsoft.com/office/powerpoint/2010/main" val="198776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David Clark and David Wilson (1987) argued that commercial</a:t>
            </a:r>
          </a:p>
          <a:p>
            <a:r>
              <a:rPr lang="en-US" altLang="en-US"/>
              <a:t>security has its own unique concerns and merits a model crafted</a:t>
            </a:r>
          </a:p>
          <a:p>
            <a:r>
              <a:rPr lang="en-AU" altLang="en-US"/>
              <a:t>for that domain.</a:t>
            </a:r>
          </a:p>
          <a:p>
            <a:r>
              <a:rPr lang="en-US" altLang="en-US"/>
              <a:t>The overriding concern is consistency among the various</a:t>
            </a:r>
          </a:p>
          <a:p>
            <a:r>
              <a:rPr lang="en-US" altLang="en-US"/>
              <a:t>components of the system state.</a:t>
            </a:r>
          </a:p>
          <a:p>
            <a:endParaRPr lang="en-US" altLang="en-US"/>
          </a:p>
          <a:p>
            <a:r>
              <a:rPr lang="en-US" altLang="en-US"/>
              <a:t>Example: In a bank, the funds at the beginning of the day plus</a:t>
            </a:r>
          </a:p>
          <a:p>
            <a:r>
              <a:rPr lang="en-US" altLang="en-US"/>
              <a:t>the funds deposited minus the funds withdrawn should equal funds</a:t>
            </a:r>
          </a:p>
          <a:p>
            <a:r>
              <a:rPr lang="en-US" altLang="en-US"/>
              <a:t>on hand at the end of the day.</a:t>
            </a:r>
          </a:p>
          <a:p>
            <a:endParaRPr lang="en-US" altLang="en-US"/>
          </a:p>
          <a:p>
            <a:r>
              <a:rPr lang="en-US" altLang="en-US"/>
              <a:t>Clark and Wilson claimed that the following are four fundamental</a:t>
            </a:r>
          </a:p>
          <a:p>
            <a:r>
              <a:rPr lang="en-US" altLang="en-US"/>
              <a:t>concerns of any reasonable commercial integrity model:</a:t>
            </a:r>
          </a:p>
          <a:p>
            <a:r>
              <a:rPr lang="en-US" altLang="en-US"/>
              <a:t>1 Authentication: identity of all users must be properly</a:t>
            </a:r>
          </a:p>
          <a:p>
            <a:r>
              <a:rPr lang="en-AU" altLang="en-US"/>
              <a:t>authenticated.</a:t>
            </a:r>
          </a:p>
          <a:p>
            <a:r>
              <a:rPr lang="en-US" altLang="en-US"/>
              <a:t>2 Audit: modifications should be logged to record every</a:t>
            </a:r>
          </a:p>
          <a:p>
            <a:r>
              <a:rPr lang="en-US" altLang="en-US"/>
              <a:t>program executed and by whom, in a way that cannot be</a:t>
            </a:r>
          </a:p>
          <a:p>
            <a:r>
              <a:rPr lang="en-AU" altLang="en-US"/>
              <a:t>subverted.</a:t>
            </a:r>
          </a:p>
          <a:p>
            <a:r>
              <a:rPr lang="en-US" altLang="en-US"/>
              <a:t>3 Well-formed transactions: users manipulate data only in</a:t>
            </a:r>
          </a:p>
          <a:p>
            <a:r>
              <a:rPr lang="en-US" altLang="en-US"/>
              <a:t>constrained ways. Only legitimate accesses are allowed.</a:t>
            </a:r>
          </a:p>
          <a:p>
            <a:r>
              <a:rPr lang="en-US" altLang="en-US"/>
              <a:t>4 Separation of duty: the system associates with each user a</a:t>
            </a:r>
          </a:p>
          <a:p>
            <a:r>
              <a:rPr lang="en-US" altLang="en-US"/>
              <a:t>valid set of programs they can run and prevents unauthorized</a:t>
            </a:r>
          </a:p>
          <a:p>
            <a:r>
              <a:rPr lang="en-US" altLang="en-US"/>
              <a:t>modifications, thus preserving integrity and consistency with</a:t>
            </a:r>
          </a:p>
          <a:p>
            <a:r>
              <a:rPr lang="en-AU" altLang="en-US"/>
              <a:t>the real world.</a:t>
            </a:r>
          </a:p>
          <a:p>
            <a:endParaRPr lang="en-AU" altLang="en-US"/>
          </a:p>
          <a:p>
            <a:endParaRPr lang="en-AU" altLang="en-US"/>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20BD120C-11AA-4F6C-B49B-0F9018688AA5}" type="slidenum">
              <a:rPr lang="en-AU" altLang="en-US" sz="1200" smtClean="0"/>
              <a:pPr/>
              <a:t>36</a:t>
            </a:fld>
            <a:endParaRPr lang="en-AU" altLang="en-US" sz="1200"/>
          </a:p>
        </p:txBody>
      </p:sp>
    </p:spTree>
    <p:extLst>
      <p:ext uri="{BB962C8B-B14F-4D97-AF65-F5344CB8AC3E}">
        <p14:creationId xmlns:p14="http://schemas.microsoft.com/office/powerpoint/2010/main" val="4113285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policy is constructed in terms of the following categories:</a:t>
            </a:r>
          </a:p>
          <a:p>
            <a:r>
              <a:rPr lang="en-US" altLang="en-US" dirty="0"/>
              <a:t>Constrained Data Items: CDIs are the objects whose</a:t>
            </a:r>
          </a:p>
          <a:p>
            <a:r>
              <a:rPr lang="en-AU" altLang="en-US" dirty="0"/>
              <a:t>integrity is protected</a:t>
            </a:r>
          </a:p>
          <a:p>
            <a:r>
              <a:rPr lang="en-US" altLang="en-US" dirty="0"/>
              <a:t>Unconstrained Data Items: UDIs are objects not covered by</a:t>
            </a:r>
          </a:p>
          <a:p>
            <a:r>
              <a:rPr lang="en-AU" altLang="en-US" dirty="0"/>
              <a:t>the integrity policy</a:t>
            </a:r>
          </a:p>
          <a:p>
            <a:r>
              <a:rPr lang="en-US" altLang="en-US" dirty="0"/>
              <a:t>Transformation Procedures: TPs are the only procedures</a:t>
            </a:r>
          </a:p>
          <a:p>
            <a:r>
              <a:rPr lang="en-US" altLang="en-US" dirty="0"/>
              <a:t>allowed to modify CDIs, or take arbitrary user input and</a:t>
            </a:r>
          </a:p>
          <a:p>
            <a:r>
              <a:rPr lang="en-US" altLang="en-US" dirty="0"/>
              <a:t>create new CDIs. Designed to take the system from one valid</a:t>
            </a:r>
          </a:p>
          <a:p>
            <a:r>
              <a:rPr lang="en-AU" altLang="en-US" dirty="0"/>
              <a:t>state to another.</a:t>
            </a:r>
          </a:p>
          <a:p>
            <a:r>
              <a:rPr lang="en-US" altLang="en-US" dirty="0"/>
              <a:t>Integrity Verification Procedures: IVPs are procedures</a:t>
            </a:r>
          </a:p>
          <a:p>
            <a:r>
              <a:rPr lang="en-US" altLang="en-US" dirty="0"/>
              <a:t>meant to verify </a:t>
            </a:r>
            <a:r>
              <a:rPr lang="en-US" altLang="en-US" dirty="0" err="1"/>
              <a:t>maintainance</a:t>
            </a:r>
            <a:r>
              <a:rPr lang="en-US" altLang="en-US" dirty="0"/>
              <a:t> of integrity of CDIs.</a:t>
            </a:r>
          </a:p>
          <a:p>
            <a:endParaRPr lang="en-US" altLang="en-US" dirty="0"/>
          </a:p>
          <a:p>
            <a:endParaRPr lang="en-US" altLang="en-US" b="1" dirty="0"/>
          </a:p>
          <a:p>
            <a:endParaRPr lang="en-US" altLang="en-US" b="1" dirty="0"/>
          </a:p>
          <a:p>
            <a:r>
              <a:rPr lang="en-US" altLang="en-US" b="1" dirty="0"/>
              <a:t>Certification rules </a:t>
            </a:r>
            <a:r>
              <a:rPr lang="en-US" altLang="en-US" dirty="0"/>
              <a:t>are security policy restrictions on the behavior of IVPs</a:t>
            </a:r>
          </a:p>
          <a:p>
            <a:r>
              <a:rPr lang="en-US" altLang="en-US" dirty="0"/>
              <a:t>and TPs. </a:t>
            </a:r>
            <a:r>
              <a:rPr lang="en-US" altLang="en-US" b="1" dirty="0"/>
              <a:t>Enforcement rules </a:t>
            </a:r>
            <a:r>
              <a:rPr lang="en-US" altLang="en-US" dirty="0"/>
              <a:t>are built-in system security mechanisms that achieve</a:t>
            </a:r>
          </a:p>
          <a:p>
            <a:r>
              <a:rPr lang="en-US" altLang="en-US" dirty="0"/>
              <a:t>the objectives of the certification rules.</a:t>
            </a:r>
            <a:endParaRPr lang="en-US" altLang="en-US" b="1" dirty="0"/>
          </a:p>
          <a:p>
            <a:r>
              <a:rPr lang="en-US" altLang="en-US" b="1" dirty="0"/>
              <a:t>Cl</a:t>
            </a:r>
            <a:r>
              <a:rPr lang="en-US" altLang="en-US" dirty="0"/>
              <a:t>: All IVPs must properly ensure that all CDIs are in a valid state at the time</a:t>
            </a:r>
          </a:p>
          <a:p>
            <a:r>
              <a:rPr lang="en-US" altLang="en-US" dirty="0"/>
              <a:t>the IVP is run.</a:t>
            </a:r>
          </a:p>
          <a:p>
            <a:r>
              <a:rPr lang="en-US" altLang="en-US" b="1" dirty="0"/>
              <a:t>C2</a:t>
            </a:r>
            <a:r>
              <a:rPr lang="en-US" altLang="en-US" dirty="0"/>
              <a:t>: All TPs must be certified to be valid. That is, they must take a CDI to a valid</a:t>
            </a:r>
          </a:p>
          <a:p>
            <a:r>
              <a:rPr lang="en-US" altLang="en-US" dirty="0"/>
              <a:t>final state, given that it is in a valid state to begin with. For each TP, and</a:t>
            </a:r>
          </a:p>
          <a:p>
            <a:r>
              <a:rPr lang="en-US" altLang="en-US" dirty="0"/>
              <a:t>each set of CDIs that it may manipulate, the security officer must specify a</a:t>
            </a:r>
          </a:p>
          <a:p>
            <a:r>
              <a:rPr lang="en-US" altLang="en-US" dirty="0"/>
              <a:t>relation, which defines that execution. A relation is thus of the form (</a:t>
            </a:r>
            <a:r>
              <a:rPr lang="en-US" altLang="en-US" dirty="0" err="1"/>
              <a:t>TPi</a:t>
            </a:r>
            <a:r>
              <a:rPr lang="en-US" altLang="en-US" dirty="0"/>
              <a:t>,</a:t>
            </a:r>
          </a:p>
          <a:p>
            <a:r>
              <a:rPr lang="en-US" altLang="en-US" dirty="0"/>
              <a:t>(</a:t>
            </a:r>
            <a:r>
              <a:rPr lang="en-US" altLang="en-US" dirty="0" err="1"/>
              <a:t>CDIa</a:t>
            </a:r>
            <a:r>
              <a:rPr lang="en-US" altLang="en-US" dirty="0"/>
              <a:t>, </a:t>
            </a:r>
            <a:r>
              <a:rPr lang="en-US" altLang="en-US" dirty="0" err="1"/>
              <a:t>CDIb</a:t>
            </a:r>
            <a:r>
              <a:rPr lang="en-US" altLang="en-US" dirty="0"/>
              <a:t>, </a:t>
            </a:r>
            <a:r>
              <a:rPr lang="en-US" altLang="en-US" dirty="0" err="1"/>
              <a:t>CDIc</a:t>
            </a:r>
            <a:r>
              <a:rPr lang="en-US" altLang="en-US" dirty="0"/>
              <a:t> . . . )), where the list of CDIs defines a particular set of</a:t>
            </a:r>
          </a:p>
          <a:p>
            <a:r>
              <a:rPr lang="en-US" altLang="en-US" dirty="0"/>
              <a:t>arguments for which the TP has been certified.</a:t>
            </a:r>
          </a:p>
          <a:p>
            <a:r>
              <a:rPr lang="en-US" altLang="en-US" b="1" dirty="0"/>
              <a:t>El</a:t>
            </a:r>
            <a:r>
              <a:rPr lang="en-US" altLang="en-US" dirty="0"/>
              <a:t>: The system must maintain the list of relations specified in rule C2 and</a:t>
            </a:r>
          </a:p>
          <a:p>
            <a:r>
              <a:rPr lang="en-US" altLang="en-US" dirty="0"/>
              <a:t>must ensure that the only manipulation of any CDI is by a TP, where the</a:t>
            </a:r>
          </a:p>
          <a:p>
            <a:r>
              <a:rPr lang="en-US" altLang="en-US" dirty="0"/>
              <a:t>TP is operating on the CDI as specified in some relation.</a:t>
            </a:r>
          </a:p>
          <a:p>
            <a:r>
              <a:rPr lang="en-US" altLang="en-US" b="1" dirty="0"/>
              <a:t>E2</a:t>
            </a:r>
            <a:r>
              <a:rPr lang="en-US" altLang="en-US" dirty="0"/>
              <a:t>: The system must maintain a list of relations of the form (</a:t>
            </a:r>
            <a:r>
              <a:rPr lang="en-US" altLang="en-US" dirty="0" err="1"/>
              <a:t>UserID</a:t>
            </a:r>
            <a:r>
              <a:rPr lang="en-US" altLang="en-US" dirty="0"/>
              <a:t>, </a:t>
            </a:r>
            <a:r>
              <a:rPr lang="en-US" altLang="en-US" dirty="0" err="1"/>
              <a:t>TPi</a:t>
            </a:r>
            <a:r>
              <a:rPr lang="en-US" altLang="en-US" dirty="0"/>
              <a:t>,</a:t>
            </a:r>
          </a:p>
          <a:p>
            <a:r>
              <a:rPr lang="en-US" altLang="en-US" dirty="0"/>
              <a:t>(</a:t>
            </a:r>
            <a:r>
              <a:rPr lang="en-US" altLang="en-US" dirty="0" err="1"/>
              <a:t>CDIa</a:t>
            </a:r>
            <a:r>
              <a:rPr lang="en-US" altLang="en-US" dirty="0"/>
              <a:t>, </a:t>
            </a:r>
            <a:r>
              <a:rPr lang="en-US" altLang="en-US" dirty="0" err="1"/>
              <a:t>CDIb</a:t>
            </a:r>
            <a:r>
              <a:rPr lang="en-US" altLang="en-US" dirty="0"/>
              <a:t>, </a:t>
            </a:r>
            <a:r>
              <a:rPr lang="en-US" altLang="en-US" dirty="0" err="1"/>
              <a:t>CDIc</a:t>
            </a:r>
            <a:r>
              <a:rPr lang="en-US" altLang="en-US" dirty="0"/>
              <a:t>, . . . )), which relates a user, a TP, and the data objects</a:t>
            </a:r>
          </a:p>
          <a:p>
            <a:r>
              <a:rPr lang="en-US" altLang="en-US" dirty="0"/>
              <a:t>that TP may reference on behalf of that user. It must ensure that only</a:t>
            </a:r>
          </a:p>
          <a:p>
            <a:r>
              <a:rPr lang="en-US" altLang="en-US" dirty="0"/>
              <a:t>executions described in one of the relations are performed.</a:t>
            </a:r>
          </a:p>
          <a:p>
            <a:r>
              <a:rPr lang="en-US" altLang="en-US" b="1" dirty="0"/>
              <a:t>C3</a:t>
            </a:r>
            <a:r>
              <a:rPr lang="en-US" altLang="en-US" dirty="0"/>
              <a:t>: The list of relations in E2 must be certified to meet the separation of duty</a:t>
            </a:r>
          </a:p>
          <a:p>
            <a:r>
              <a:rPr lang="en-US" altLang="en-US" dirty="0"/>
              <a:t>requirement.</a:t>
            </a:r>
          </a:p>
          <a:p>
            <a:r>
              <a:rPr lang="en-US" altLang="en-US" b="1" dirty="0"/>
              <a:t>E3</a:t>
            </a:r>
            <a:r>
              <a:rPr lang="en-US" altLang="en-US" dirty="0"/>
              <a:t>: The system must authenticate the identity of each user attempting to</a:t>
            </a:r>
          </a:p>
          <a:p>
            <a:r>
              <a:rPr lang="en-US" altLang="en-US" dirty="0"/>
              <a:t>execute a TP.</a:t>
            </a:r>
          </a:p>
          <a:p>
            <a:r>
              <a:rPr lang="en-US" altLang="en-US" b="1" dirty="0"/>
              <a:t>C4</a:t>
            </a:r>
            <a:r>
              <a:rPr lang="en-US" altLang="en-US" dirty="0"/>
              <a:t>: All TPs must be certified to write to an append-only CDI (the log) all information</a:t>
            </a:r>
          </a:p>
          <a:p>
            <a:r>
              <a:rPr lang="en-US" altLang="en-US" dirty="0"/>
              <a:t>necessary to permit the nature of the operation to be reconstructed.</a:t>
            </a:r>
          </a:p>
          <a:p>
            <a:r>
              <a:rPr lang="en-US" altLang="en-US" b="1" dirty="0"/>
              <a:t>C5</a:t>
            </a:r>
            <a:r>
              <a:rPr lang="en-US" altLang="en-US" dirty="0"/>
              <a:t>: Any TP that takes a UDI as an input value must be certified to perform</a:t>
            </a:r>
          </a:p>
          <a:p>
            <a:r>
              <a:rPr lang="en-US" altLang="en-US" dirty="0"/>
              <a:t>only valid transformations, or else no transformations, for any possible</a:t>
            </a:r>
          </a:p>
          <a:p>
            <a:r>
              <a:rPr lang="en-US" altLang="en-US" dirty="0"/>
              <a:t>value of the UDI. The transformation should take the input from a UDI</a:t>
            </a:r>
          </a:p>
          <a:p>
            <a:r>
              <a:rPr lang="en-US" altLang="en-US" dirty="0"/>
              <a:t>to a CDI, or the UDI is rejected. Typically, this is an edit program.</a:t>
            </a:r>
          </a:p>
          <a:p>
            <a:r>
              <a:rPr lang="en-US" altLang="en-US" b="1" dirty="0"/>
              <a:t>E4</a:t>
            </a:r>
            <a:r>
              <a:rPr lang="en-US" altLang="en-US" dirty="0"/>
              <a:t>: Only the agent permitted to certify entities may change the list of such</a:t>
            </a:r>
          </a:p>
          <a:p>
            <a:r>
              <a:rPr lang="en-US" altLang="en-US" dirty="0"/>
              <a:t>entities associated with other entities: specifically, the list of TPs associated</a:t>
            </a:r>
          </a:p>
          <a:p>
            <a:r>
              <a:rPr lang="en-US" altLang="en-US" dirty="0"/>
              <a:t>with a CDI and the list of users associated with a TP. An agent that can</a:t>
            </a:r>
          </a:p>
          <a:p>
            <a:r>
              <a:rPr lang="en-US" altLang="en-US" dirty="0"/>
              <a:t>certify an entity may not have any execute rights with respect to that entity.</a:t>
            </a: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2B0E34DC-43FD-435E-9209-78FB0E7FC96C}" type="slidenum">
              <a:rPr lang="en-AU" altLang="en-US" sz="1200" smtClean="0"/>
              <a:pPr/>
              <a:t>37</a:t>
            </a:fld>
            <a:endParaRPr lang="en-AU" altLang="en-US" sz="1200"/>
          </a:p>
        </p:txBody>
      </p:sp>
    </p:spTree>
    <p:extLst>
      <p:ext uri="{BB962C8B-B14F-4D97-AF65-F5344CB8AC3E}">
        <p14:creationId xmlns:p14="http://schemas.microsoft.com/office/powerpoint/2010/main" val="3824257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Steve Lipner (Microsoft) described some integrity</a:t>
            </a:r>
          </a:p>
          <a:p>
            <a:r>
              <a:rPr lang="en-US" altLang="en-US"/>
              <a:t>concerns you might find in a commercial data processing</a:t>
            </a:r>
          </a:p>
          <a:p>
            <a:r>
              <a:rPr lang="en-AU" altLang="en-US"/>
              <a:t>environment:</a:t>
            </a:r>
          </a:p>
          <a:p>
            <a:r>
              <a:rPr lang="en-US" altLang="en-US"/>
              <a:t>1 Users will not write their own programs, but use existing</a:t>
            </a:r>
          </a:p>
          <a:p>
            <a:r>
              <a:rPr lang="en-AU" altLang="en-US"/>
              <a:t>production software.</a:t>
            </a:r>
          </a:p>
          <a:p>
            <a:r>
              <a:rPr lang="en-US" altLang="en-US"/>
              <a:t>2 Programmers develop and test applications on a</a:t>
            </a:r>
          </a:p>
          <a:p>
            <a:r>
              <a:rPr lang="en-US" altLang="en-US"/>
              <a:t>nonproduction system, possibly using contrived data.</a:t>
            </a:r>
          </a:p>
          <a:p>
            <a:r>
              <a:rPr lang="en-US" altLang="en-US"/>
              <a:t>3 Moving applications from development to production requires</a:t>
            </a:r>
          </a:p>
          <a:p>
            <a:r>
              <a:rPr lang="en-AU" altLang="en-US"/>
              <a:t>a special process.</a:t>
            </a:r>
          </a:p>
          <a:p>
            <a:r>
              <a:rPr lang="en-US" altLang="en-US"/>
              <a:t>4 This process must be controlled and audited.</a:t>
            </a:r>
          </a:p>
          <a:p>
            <a:r>
              <a:rPr lang="en-US" altLang="en-US"/>
              <a:t>5 Managers and auditors must have access to system state and</a:t>
            </a:r>
          </a:p>
          <a:p>
            <a:r>
              <a:rPr lang="en-AU" altLang="en-US"/>
              <a:t>system logs.</a:t>
            </a:r>
          </a:p>
          <a:p>
            <a:r>
              <a:rPr lang="en-US" altLang="en-US"/>
              <a:t>Can we use our existing modeling mechanisms to build a secure</a:t>
            </a:r>
          </a:p>
          <a:p>
            <a:r>
              <a:rPr lang="en-US" altLang="en-US"/>
              <a:t>system that addresses such constraints?</a:t>
            </a:r>
          </a:p>
          <a:p>
            <a:endParaRPr lang="en-US" altLang="en-US"/>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013F909F-D723-4287-954D-B34CA435BCF2}" type="slidenum">
              <a:rPr lang="en-AU" altLang="en-US" sz="1200" smtClean="0"/>
              <a:pPr/>
              <a:t>38</a:t>
            </a:fld>
            <a:endParaRPr lang="en-AU" altLang="en-US" sz="1200"/>
          </a:p>
        </p:txBody>
      </p:sp>
    </p:spTree>
    <p:extLst>
      <p:ext uri="{BB962C8B-B14F-4D97-AF65-F5344CB8AC3E}">
        <p14:creationId xmlns:p14="http://schemas.microsoft.com/office/powerpoint/2010/main" val="584952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Lipner devised his Integrity Matrix Model to handle those concerns</a:t>
            </a:r>
          </a:p>
          <a:p>
            <a:r>
              <a:rPr lang="en-US" altLang="en-US"/>
              <a:t>via a combination of BLP and Biba Integrity.</a:t>
            </a:r>
            <a:endParaRPr lang="en-AU" altLang="en-US"/>
          </a:p>
          <a:p>
            <a:endParaRPr lang="en-AU" altLang="en-US"/>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8A8DA778-636E-4F90-B578-89DBF960D75F}" type="slidenum">
              <a:rPr lang="en-AU" altLang="en-US" sz="1200" smtClean="0"/>
              <a:pPr/>
              <a:t>39</a:t>
            </a:fld>
            <a:endParaRPr lang="en-AU" altLang="en-US" sz="1200"/>
          </a:p>
        </p:txBody>
      </p:sp>
    </p:spTree>
    <p:extLst>
      <p:ext uri="{BB962C8B-B14F-4D97-AF65-F5344CB8AC3E}">
        <p14:creationId xmlns:p14="http://schemas.microsoft.com/office/powerpoint/2010/main" val="4253427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336C1473-E000-4C5D-B2A2-2D9615DE1E9F}" type="slidenum">
              <a:rPr lang="en-AU" altLang="en-US" sz="1200" smtClean="0"/>
              <a:pPr/>
              <a:t>40</a:t>
            </a:fld>
            <a:endParaRPr lang="en-AU"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2655212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Security levels (both confidentiality and integrity) are assigned to</a:t>
            </a:r>
          </a:p>
          <a:p>
            <a:r>
              <a:rPr lang="en-US" altLang="en-US"/>
              <a:t>subjects based on their roles in the organization and their need to</a:t>
            </a:r>
          </a:p>
          <a:p>
            <a:r>
              <a:rPr lang="en-AU" altLang="en-US"/>
              <a:t>know.</a:t>
            </a: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2A1F1BD5-132D-4B57-A4D3-9C66AE0CB0ED}" type="slidenum">
              <a:rPr lang="en-AU" altLang="en-US" sz="1200" smtClean="0"/>
              <a:pPr/>
              <a:t>43</a:t>
            </a:fld>
            <a:endParaRPr lang="en-AU" altLang="en-US" sz="1200"/>
          </a:p>
        </p:txBody>
      </p:sp>
    </p:spTree>
    <p:extLst>
      <p:ext uri="{BB962C8B-B14F-4D97-AF65-F5344CB8AC3E}">
        <p14:creationId xmlns:p14="http://schemas.microsoft.com/office/powerpoint/2010/main" val="834282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Security levels (both confidentiality and </a:t>
            </a:r>
            <a:r>
              <a:rPr lang="en-US" altLang="en-US" dirty="0" err="1"/>
              <a:t>interity</a:t>
            </a:r>
            <a:r>
              <a:rPr lang="en-US" altLang="en-US" dirty="0"/>
              <a:t>) are assigned to</a:t>
            </a:r>
          </a:p>
          <a:p>
            <a:r>
              <a:rPr lang="en-US" altLang="en-US" dirty="0"/>
              <a:t>objects based on who should access them.</a:t>
            </a:r>
            <a:endParaRPr lang="en-AU" altLang="en-US" dirty="0"/>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F50A7E48-E036-4BD8-A030-91CF623C2EA5}" type="slidenum">
              <a:rPr lang="en-AU" altLang="en-US" sz="1200" smtClean="0"/>
              <a:pPr/>
              <a:t>44</a:t>
            </a:fld>
            <a:endParaRPr lang="en-AU" altLang="en-US" sz="1200"/>
          </a:p>
        </p:txBody>
      </p:sp>
    </p:spTree>
    <p:extLst>
      <p:ext uri="{BB962C8B-B14F-4D97-AF65-F5344CB8AC3E}">
        <p14:creationId xmlns:p14="http://schemas.microsoft.com/office/powerpoint/2010/main" val="41098253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potential for conflicts of interest and </a:t>
            </a:r>
            <a:r>
              <a:rPr lang="en-US" altLang="en-US" dirty="0" err="1"/>
              <a:t>inadvertant</a:t>
            </a:r>
            <a:r>
              <a:rPr lang="en-US" altLang="en-US" dirty="0"/>
              <a:t> disclosure of information by a consultant</a:t>
            </a:r>
          </a:p>
          <a:p>
            <a:r>
              <a:rPr lang="en-AU" altLang="en-US" dirty="0"/>
              <a:t>or contractor.</a:t>
            </a:r>
          </a:p>
          <a:p>
            <a:endParaRPr lang="en-AU" altLang="en-US" dirty="0"/>
          </a:p>
          <a:p>
            <a:r>
              <a:rPr lang="en-US" altLang="en-US" dirty="0"/>
              <a:t>A lawyer specializes in product liability and consults for</a:t>
            </a:r>
          </a:p>
          <a:p>
            <a:r>
              <a:rPr lang="en-US" altLang="en-US" dirty="0"/>
              <a:t>Qantas Airlines. It could be a breach of confidentiality for her to</a:t>
            </a:r>
          </a:p>
          <a:p>
            <a:r>
              <a:rPr lang="en-US" altLang="en-US" dirty="0"/>
              <a:t>consult also for Tiger Airlines. Why? A simultaneous contract</a:t>
            </a:r>
          </a:p>
          <a:p>
            <a:r>
              <a:rPr lang="en-US" altLang="en-US" dirty="0"/>
              <a:t>with McDonalds would not be a conflict.</a:t>
            </a:r>
            <a:endParaRPr lang="en-AU" altLang="en-US" dirty="0"/>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0EB1B30D-5DF2-4E61-BF1A-B65B658F53A9}" type="slidenum">
              <a:rPr lang="en-AU" altLang="en-US" sz="1200" smtClean="0"/>
              <a:pPr/>
              <a:t>46</a:t>
            </a:fld>
            <a:endParaRPr lang="en-AU" altLang="en-US" sz="1200"/>
          </a:p>
        </p:txBody>
      </p:sp>
    </p:spTree>
    <p:extLst>
      <p:ext uri="{BB962C8B-B14F-4D97-AF65-F5344CB8AC3E}">
        <p14:creationId xmlns:p14="http://schemas.microsoft.com/office/powerpoint/2010/main" val="304223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b="1" dirty="0">
                <a:latin typeface="Arial" panose="020B0604020202020204" pitchFamily="34" charset="0"/>
                <a:cs typeface="Arial" panose="020B0604020202020204" pitchFamily="34" charset="0"/>
              </a:rPr>
              <a:t>Simple sec rule </a:t>
            </a:r>
            <a:r>
              <a:rPr lang="en-US" altLang="en-US" dirty="0">
                <a:latin typeface="Arial" panose="020B0604020202020204" pitchFamily="34" charset="0"/>
                <a:cs typeface="Arial" panose="020B0604020202020204" pitchFamily="34" charset="0"/>
              </a:rPr>
              <a:t>(read): S can </a:t>
            </a:r>
          </a:p>
          <a:p>
            <a:pPr eaLnBrk="1" hangingPunct="1">
              <a:spcBef>
                <a:spcPct val="0"/>
              </a:spcBef>
            </a:pPr>
            <a:r>
              <a:rPr lang="en-US" altLang="en-US" dirty="0">
                <a:latin typeface="Arial" panose="020B0604020202020204" pitchFamily="34" charset="0"/>
                <a:cs typeface="Arial" panose="020B0604020202020204" pitchFamily="34" charset="0"/>
              </a:rPr>
              <a:t>read O if O is in the same dataset as</a:t>
            </a:r>
          </a:p>
          <a:p>
            <a:pPr eaLnBrk="1" hangingPunct="1">
              <a:spcBef>
                <a:spcPct val="0"/>
              </a:spcBef>
            </a:pPr>
            <a:r>
              <a:rPr lang="en-US" altLang="en-US" dirty="0">
                <a:latin typeface="Arial" panose="020B0604020202020204" pitchFamily="34" charset="0"/>
                <a:cs typeface="Arial" panose="020B0604020202020204" pitchFamily="34" charset="0"/>
              </a:rPr>
              <a:t>an object already accessed by S</a:t>
            </a:r>
          </a:p>
          <a:p>
            <a:pPr eaLnBrk="1" hangingPunct="1">
              <a:spcBef>
                <a:spcPct val="0"/>
              </a:spcBef>
            </a:pPr>
            <a:r>
              <a:rPr lang="en-US" altLang="en-US" dirty="0">
                <a:latin typeface="Arial" panose="020B0604020202020204" pitchFamily="34" charset="0"/>
                <a:cs typeface="Arial" panose="020B0604020202020204" pitchFamily="34" charset="0"/>
              </a:rPr>
              <a:t>OR O belongs to a Conflict of interest from which S has not yet accessed any info</a:t>
            </a:r>
          </a:p>
          <a:p>
            <a:pPr eaLnBrk="1" hangingPunct="1">
              <a:spcBef>
                <a:spcPct val="0"/>
              </a:spcBef>
            </a:pPr>
            <a:r>
              <a:rPr lang="en-US" altLang="en-US" b="1" dirty="0">
                <a:latin typeface="Arial" panose="020B0604020202020204" pitchFamily="34" charset="0"/>
                <a:cs typeface="Arial" panose="020B0604020202020204" pitchFamily="34" charset="0"/>
              </a:rPr>
              <a:t>*-property (write): </a:t>
            </a:r>
            <a:r>
              <a:rPr lang="en-US" altLang="en-US" dirty="0">
                <a:latin typeface="Arial" panose="020B0604020202020204" pitchFamily="34" charset="0"/>
                <a:cs typeface="Arial" panose="020B0604020202020204" pitchFamily="34" charset="0"/>
              </a:rPr>
              <a:t>S can write</a:t>
            </a:r>
          </a:p>
          <a:p>
            <a:pPr eaLnBrk="1" hangingPunct="1">
              <a:spcBef>
                <a:spcPct val="0"/>
              </a:spcBef>
            </a:pPr>
            <a:r>
              <a:rPr lang="en-US" altLang="en-US" dirty="0">
                <a:latin typeface="Arial" panose="020B0604020202020204" pitchFamily="34" charset="0"/>
                <a:cs typeface="Arial" panose="020B0604020202020204" pitchFamily="34" charset="0"/>
              </a:rPr>
              <a:t>O only if S can read O and all objects</a:t>
            </a:r>
          </a:p>
          <a:p>
            <a:pPr eaLnBrk="1" hangingPunct="1">
              <a:spcBef>
                <a:spcPct val="0"/>
              </a:spcBef>
            </a:pPr>
            <a:r>
              <a:rPr lang="en-US" altLang="en-US" dirty="0">
                <a:latin typeface="Arial" panose="020B0604020202020204" pitchFamily="34" charset="0"/>
                <a:cs typeface="Arial" panose="020B0604020202020204" pitchFamily="34" charset="0"/>
              </a:rPr>
              <a:t>that S can read are in the same DS</a:t>
            </a:r>
          </a:p>
          <a:p>
            <a:pPr eaLnBrk="1" hangingPunct="1">
              <a:spcBef>
                <a:spcPct val="0"/>
              </a:spcBef>
            </a:pPr>
            <a:r>
              <a:rPr lang="en-US" altLang="en-US" dirty="0">
                <a:latin typeface="Arial" panose="020B0604020202020204" pitchFamily="34" charset="0"/>
                <a:cs typeface="Arial" panose="020B0604020202020204" pitchFamily="34" charset="0"/>
              </a:rPr>
              <a:t>as O.</a:t>
            </a:r>
          </a:p>
          <a:p>
            <a:pPr eaLnBrk="1" hangingPunct="1">
              <a:spcBef>
                <a:spcPct val="0"/>
              </a:spcBef>
            </a:pPr>
            <a:endParaRPr lang="en-US" altLang="en-US" dirty="0">
              <a:latin typeface="Arial" panose="020B0604020202020204" pitchFamily="34" charset="0"/>
              <a:cs typeface="Arial" panose="020B0604020202020204" pitchFamily="34" charset="0"/>
            </a:endParaRPr>
          </a:p>
          <a:p>
            <a:endParaRPr lang="en-US" altLang="en-US" dirty="0"/>
          </a:p>
          <a:p>
            <a:r>
              <a:rPr lang="en-US" altLang="en-US" dirty="0"/>
              <a:t>Figure 27.6a gives an example. There are datasets representing banks, oil companies,</a:t>
            </a:r>
          </a:p>
          <a:p>
            <a:r>
              <a:rPr lang="en-US" altLang="en-US" dirty="0"/>
              <a:t>and gas companies. All bank datasets are in one CI, all oil company datasets</a:t>
            </a:r>
          </a:p>
          <a:p>
            <a:r>
              <a:rPr lang="en-US" altLang="en-US" dirty="0"/>
              <a:t>in another CI, and so forth.</a:t>
            </a:r>
          </a:p>
          <a:p>
            <a:endParaRPr lang="en-US" altLang="en-US" dirty="0"/>
          </a:p>
          <a:p>
            <a:r>
              <a:rPr lang="en-US" altLang="en-US" dirty="0"/>
              <a:t>Figures 27.6b and c illustrate the operation of this rule. Assume at some point,</a:t>
            </a:r>
          </a:p>
          <a:p>
            <a:r>
              <a:rPr lang="en-US" altLang="en-US" dirty="0"/>
              <a:t>John has made his first read request to any object in this set for an object in the Bank</a:t>
            </a:r>
          </a:p>
          <a:p>
            <a:r>
              <a:rPr lang="en-US" altLang="en-US" dirty="0"/>
              <a:t>A DS. Because John has not previously accessed an object in any other DS in CI 1, the</a:t>
            </a:r>
          </a:p>
          <a:p>
            <a:r>
              <a:rPr lang="en-US" altLang="en-US" dirty="0"/>
              <a:t>access is granted. Further, the system must remember that access has been granted so</a:t>
            </a:r>
          </a:p>
          <a:p>
            <a:r>
              <a:rPr lang="en-US" altLang="en-US" dirty="0"/>
              <a:t>that any subsequent request for access to an object in the Bank B DS will be denied.</a:t>
            </a:r>
          </a:p>
          <a:p>
            <a:r>
              <a:rPr lang="en-US" altLang="en-US" dirty="0"/>
              <a:t>Any request for access to other objects in the Bank A DS is granted. At a later time,</a:t>
            </a:r>
          </a:p>
          <a:p>
            <a:r>
              <a:rPr lang="en-US" altLang="en-US" dirty="0"/>
              <a:t>John requests access to an object in the Oil A DS. Because there is no conflict, this</a:t>
            </a:r>
          </a:p>
          <a:p>
            <a:r>
              <a:rPr lang="en-US" altLang="en-US" dirty="0"/>
              <a:t>access is granted, but a wall is set up prohibiting subsequent access to the Oil B DS, as</a:t>
            </a:r>
          </a:p>
          <a:p>
            <a:r>
              <a:rPr lang="en-US" altLang="en-US" dirty="0"/>
              <a:t>shown in Figure 27.6b. Similarly, Figure 27.6c reflects the alternate access history of Jane.</a:t>
            </a:r>
            <a:endParaRPr lang="en-AU" altLang="en-US" dirty="0"/>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9041066E-B84C-4F9A-AE77-6F1A2C8D52A2}" type="slidenum">
              <a:rPr lang="en-AU" altLang="en-US" sz="1200" smtClean="0"/>
              <a:pPr/>
              <a:t>53</a:t>
            </a:fld>
            <a:endParaRPr lang="en-AU" altLang="en-US" sz="1200"/>
          </a:p>
        </p:txBody>
      </p:sp>
    </p:spTree>
    <p:extLst>
      <p:ext uri="{BB962C8B-B14F-4D97-AF65-F5344CB8AC3E}">
        <p14:creationId xmlns:p14="http://schemas.microsoft.com/office/powerpoint/2010/main" val="2433387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5D86477C-73A1-46AE-9475-6040BB94BC22}" type="slidenum">
              <a:rPr lang="en-AU" altLang="en-US" sz="1200" smtClean="0"/>
              <a:pPr/>
              <a:t>54</a:t>
            </a:fld>
            <a:endParaRPr lang="en-AU" altLang="en-US" sz="1200"/>
          </a:p>
        </p:txBody>
      </p:sp>
    </p:spTree>
    <p:extLst>
      <p:ext uri="{BB962C8B-B14F-4D97-AF65-F5344CB8AC3E}">
        <p14:creationId xmlns:p14="http://schemas.microsoft.com/office/powerpoint/2010/main" val="1089078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Secure logon offers a  keystroke sequence that cannot be intercepted by any application. When Secure Logon is enabled, no other malicious program can intercept your user name and password as you enter it.</a:t>
            </a:r>
          </a:p>
          <a:p>
            <a:r>
              <a:rPr lang="en-US" altLang="en-US"/>
              <a:t>Pressing Ctrl+Alt+Del ensures that the authentic Windows logon screen appears. </a:t>
            </a:r>
          </a:p>
          <a:p>
            <a:endParaRPr lang="en-US" altLang="en-US"/>
          </a:p>
          <a:p>
            <a:r>
              <a:rPr lang="en-US" altLang="en-US"/>
              <a:t>The secure attention key is designed to make </a:t>
            </a:r>
            <a:r>
              <a:rPr lang="en-US" altLang="en-US">
                <a:hlinkClick r:id="rId3" tooltip="Login spoofing"/>
              </a:rPr>
              <a:t>login spoofing</a:t>
            </a:r>
            <a:r>
              <a:rPr lang="en-US" altLang="en-US"/>
              <a:t> impossible, as the kernel will suspend any program, including those masquerading as the computer's login process, before starting a trustable login operation.</a:t>
            </a:r>
          </a:p>
          <a:p>
            <a:r>
              <a:rPr lang="en-US" altLang="en-US" b="1"/>
              <a:t>Login spoofings</a:t>
            </a:r>
            <a:r>
              <a:rPr lang="en-US" altLang="en-US"/>
              <a:t> are techniques used to steal a user's </a:t>
            </a:r>
            <a:r>
              <a:rPr lang="en-US" altLang="en-US">
                <a:hlinkClick r:id="rId4"/>
              </a:rPr>
              <a:t>password</a:t>
            </a:r>
            <a:r>
              <a:rPr lang="en-US" altLang="en-US"/>
              <a:t>.</a:t>
            </a:r>
            <a:endParaRPr lang="en-US" altLang="en-US" baseline="30000"/>
          </a:p>
          <a:p>
            <a:r>
              <a:rPr lang="en-US" altLang="en-US"/>
              <a:t>The user is presented with an ordinary looking </a:t>
            </a:r>
            <a:r>
              <a:rPr lang="en-US" altLang="en-US">
                <a:hlinkClick r:id="rId5" tooltip="Logging (computer security)"/>
              </a:rPr>
              <a:t>login</a:t>
            </a:r>
            <a:r>
              <a:rPr lang="en-US" altLang="en-US"/>
              <a:t> prompt for username and password, which is actually a malicious program, usually called a </a:t>
            </a:r>
            <a:r>
              <a:rPr lang="en-US" altLang="en-US">
                <a:hlinkClick r:id="rId6" tooltip="Trojan horse (computing)"/>
              </a:rPr>
              <a:t>Trojan horse</a:t>
            </a:r>
            <a:r>
              <a:rPr lang="en-US" altLang="en-US"/>
              <a:t> under the control of the </a:t>
            </a:r>
            <a:r>
              <a:rPr lang="en-US" altLang="en-US">
                <a:hlinkClick r:id="rId7" tooltip="Security cracking"/>
              </a:rPr>
              <a:t>attacker</a:t>
            </a:r>
            <a:r>
              <a:rPr lang="en-US" altLang="en-US"/>
              <a:t>. When the username and password are entered, this information is logged or in some way passed along to the attacker, breaching security.</a:t>
            </a:r>
            <a:endParaRPr lang="en-AU" altLang="en-US"/>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DEAED55B-03A9-4754-827A-BAF68ACF4784}" type="slidenum">
              <a:rPr lang="en-AU" altLang="en-US" sz="1200" smtClean="0"/>
              <a:pPr/>
              <a:t>56</a:t>
            </a:fld>
            <a:endParaRPr lang="en-AU" altLang="en-US" sz="1200"/>
          </a:p>
        </p:txBody>
      </p:sp>
    </p:spTree>
    <p:extLst>
      <p:ext uri="{BB962C8B-B14F-4D97-AF65-F5344CB8AC3E}">
        <p14:creationId xmlns:p14="http://schemas.microsoft.com/office/powerpoint/2010/main" val="1354106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9951050F-B5FC-4D21-A73E-E4D9BA024DDA}" type="slidenum">
              <a:rPr lang="en-AU" altLang="en-US" sz="1200" smtClean="0"/>
              <a:pPr/>
              <a:t>57</a:t>
            </a:fld>
            <a:endParaRPr lang="en-AU" altLang="en-US" sz="1200"/>
          </a:p>
        </p:txBody>
      </p:sp>
      <p:sp>
        <p:nvSpPr>
          <p:cNvPr id="11267" name="Rectangle 2"/>
          <p:cNvSpPr>
            <a:spLocks noGrp="1" noRot="1" noChangeAspect="1" noChangeArrowheads="1" noTextEdit="1"/>
          </p:cNvSpPr>
          <p:nvPr>
            <p:ph type="sldImg"/>
          </p:nvPr>
        </p:nvSpPr>
        <p:spPr>
          <a:xfrm>
            <a:off x="138113" y="768350"/>
            <a:ext cx="6823075" cy="3838575"/>
          </a:xfrm>
          <a:ln/>
        </p:spPr>
      </p:sp>
      <p:sp>
        <p:nvSpPr>
          <p:cNvPr id="11268"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ACL is the columns in Access Control Matrix</a:t>
            </a:r>
          </a:p>
        </p:txBody>
      </p:sp>
    </p:spTree>
    <p:extLst>
      <p:ext uri="{BB962C8B-B14F-4D97-AF65-F5344CB8AC3E}">
        <p14:creationId xmlns:p14="http://schemas.microsoft.com/office/powerpoint/2010/main" val="82765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7F46A2A3-1F60-4874-998A-A6B7A3118595}" type="slidenum">
              <a:rPr lang="en-AU" altLang="en-US" sz="1200" smtClean="0"/>
              <a:pPr/>
              <a:t>58</a:t>
            </a:fld>
            <a:endParaRPr lang="en-AU" altLang="en-US" sz="1200"/>
          </a:p>
        </p:txBody>
      </p:sp>
      <p:sp>
        <p:nvSpPr>
          <p:cNvPr id="13315" name="Rectangle 2"/>
          <p:cNvSpPr>
            <a:spLocks noGrp="1" noRot="1" noChangeAspect="1" noChangeArrowheads="1" noTextEdit="1"/>
          </p:cNvSpPr>
          <p:nvPr>
            <p:ph type="sldImg"/>
          </p:nvPr>
        </p:nvSpPr>
        <p:spPr>
          <a:xfrm>
            <a:off x="138113" y="768350"/>
            <a:ext cx="6823075" cy="3838575"/>
          </a:xfrm>
          <a:ln/>
        </p:spPr>
      </p:sp>
      <p:sp>
        <p:nvSpPr>
          <p:cNvPr id="13316"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 </a:t>
            </a:r>
            <a:r>
              <a:rPr lang="en-US" altLang="en-US" i="1" dirty="0">
                <a:hlinkClick r:id="rId3"/>
              </a:rPr>
              <a:t>access control list</a:t>
            </a:r>
            <a:r>
              <a:rPr lang="en-US" altLang="en-US" dirty="0"/>
              <a:t> (ACL) is a list of </a:t>
            </a:r>
            <a:r>
              <a:rPr lang="en-US" altLang="en-US" dirty="0">
                <a:hlinkClick r:id="rId4"/>
              </a:rPr>
              <a:t>access control entries</a:t>
            </a:r>
            <a:r>
              <a:rPr lang="en-US" altLang="en-US" dirty="0"/>
              <a:t> (ACE). Each ACE in an ACL identifies a </a:t>
            </a:r>
            <a:r>
              <a:rPr lang="en-US" altLang="en-US" dirty="0">
                <a:hlinkClick r:id="rId5"/>
              </a:rPr>
              <a:t>trustee</a:t>
            </a:r>
            <a:r>
              <a:rPr lang="en-US" altLang="en-US" dirty="0"/>
              <a:t> and specifies the </a:t>
            </a:r>
            <a:r>
              <a:rPr lang="en-US" altLang="en-US" dirty="0">
                <a:hlinkClick r:id="rId6"/>
              </a:rPr>
              <a:t>access rights</a:t>
            </a:r>
            <a:r>
              <a:rPr lang="en-US" altLang="en-US" dirty="0"/>
              <a:t> allowed, denied, or audited for that trustee. The </a:t>
            </a:r>
            <a:r>
              <a:rPr lang="en-US" altLang="en-US" dirty="0">
                <a:hlinkClick r:id="rId7"/>
              </a:rPr>
              <a:t>security descriptor</a:t>
            </a:r>
            <a:r>
              <a:rPr lang="en-US" altLang="en-US" dirty="0"/>
              <a:t> for a </a:t>
            </a:r>
            <a:r>
              <a:rPr lang="en-US" altLang="en-US" dirty="0">
                <a:hlinkClick r:id="rId8"/>
              </a:rPr>
              <a:t>securable object</a:t>
            </a:r>
            <a:r>
              <a:rPr lang="en-US" altLang="en-US" dirty="0"/>
              <a:t> can contain two types of ACLs: a DACL and a SACL.</a:t>
            </a:r>
          </a:p>
          <a:p>
            <a:endParaRPr lang="en-US" altLang="en-US" dirty="0"/>
          </a:p>
          <a:p>
            <a:r>
              <a:rPr lang="en-US" altLang="en-US" dirty="0"/>
              <a:t>A </a:t>
            </a:r>
            <a:r>
              <a:rPr lang="en-US" altLang="en-US" i="1" dirty="0">
                <a:hlinkClick r:id="rId9"/>
              </a:rPr>
              <a:t>discretionary access control list</a:t>
            </a:r>
            <a:r>
              <a:rPr lang="en-US" altLang="en-US" dirty="0"/>
              <a:t> (DACL) identifies the trustees that are allowed or denied access to a securable object. When a </a:t>
            </a:r>
            <a:r>
              <a:rPr lang="en-US" altLang="en-US" i="1" dirty="0">
                <a:hlinkClick r:id="rId10"/>
              </a:rPr>
              <a:t>process</a:t>
            </a:r>
            <a:r>
              <a:rPr lang="en-US" altLang="en-US" dirty="0"/>
              <a:t> tries to access a securable object, the system checks the ACEs in the object's DACL to determine whether to grant access to it. If the object does not have a DACL, the system grants full access to everyone. If the object's DACL has no ACEs, the system denies all attempts to access the object because the DACL does not allow any access rights. The system checks the ACEs in sequence until it finds one or more ACEs that allow all the requested access rights, or until any of the requested access rights are denied. </a:t>
            </a:r>
          </a:p>
          <a:p>
            <a:endParaRPr lang="en-US" altLang="en-US" dirty="0"/>
          </a:p>
          <a:p>
            <a:r>
              <a:rPr lang="en-US" altLang="en-US" dirty="0"/>
              <a:t>A </a:t>
            </a:r>
            <a:r>
              <a:rPr lang="en-US" altLang="en-US" i="1" dirty="0">
                <a:hlinkClick r:id="rId11"/>
              </a:rPr>
              <a:t>system access control list</a:t>
            </a:r>
            <a:r>
              <a:rPr lang="en-US" altLang="en-US" dirty="0"/>
              <a:t> (SACL) enables administrators to log attempts to access a secured object. Each ACE specifies the types of access attempts by a specified trustee that cause the system to generate a record in the security event log. An ACE in a SACL can generate audit records when an access attempt fails, when it succeeds, or both.</a:t>
            </a:r>
            <a:endParaRPr lang="en-AU" altLang="en-US" dirty="0"/>
          </a:p>
          <a:p>
            <a:endParaRPr lang="en-AU" altLang="en-US" dirty="0"/>
          </a:p>
          <a:p>
            <a:r>
              <a:rPr lang="en-AU" altLang="en-US" dirty="0"/>
              <a:t>NTFS: New Technology File System </a:t>
            </a:r>
          </a:p>
        </p:txBody>
      </p:sp>
    </p:spTree>
    <p:extLst>
      <p:ext uri="{BB962C8B-B14F-4D97-AF65-F5344CB8AC3E}">
        <p14:creationId xmlns:p14="http://schemas.microsoft.com/office/powerpoint/2010/main" val="24449056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3C114EA8-5184-47E4-88FE-FD7437A51BE1}" type="slidenum">
              <a:rPr lang="en-AU" altLang="en-US" sz="1200" smtClean="0"/>
              <a:pPr/>
              <a:t>59</a:t>
            </a:fld>
            <a:endParaRPr lang="en-AU" altLang="en-US" sz="1200"/>
          </a:p>
        </p:txBody>
      </p:sp>
      <p:sp>
        <p:nvSpPr>
          <p:cNvPr id="15363" name="Rectangle 2"/>
          <p:cNvSpPr>
            <a:spLocks noGrp="1" noRot="1" noChangeAspect="1" noChangeArrowheads="1" noTextEdit="1"/>
          </p:cNvSpPr>
          <p:nvPr>
            <p:ph type="sldImg"/>
          </p:nvPr>
        </p:nvSpPr>
        <p:spPr>
          <a:xfrm>
            <a:off x="138113" y="768350"/>
            <a:ext cx="6823075" cy="3838575"/>
          </a:xfrm>
          <a:ln/>
        </p:spPr>
      </p:sp>
      <p:sp>
        <p:nvSpPr>
          <p:cNvPr id="15364"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NTFS permissions can be used to secure files and folders on an NTFS Partition. Unlike share permissions, NTFS permissions can be assigned to individual files as well as folders.  Permissions can be assigned to individual users or groups of users. NTFS permissions apply to the local machine as well as the network.</a:t>
            </a:r>
            <a:endParaRPr lang="en-AU" altLang="en-US" sz="1000"/>
          </a:p>
        </p:txBody>
      </p:sp>
    </p:spTree>
    <p:extLst>
      <p:ext uri="{BB962C8B-B14F-4D97-AF65-F5344CB8AC3E}">
        <p14:creationId xmlns:p14="http://schemas.microsoft.com/office/powerpoint/2010/main" val="40364982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3BBCCAC2-411A-400C-BE2D-48B5148B441C}" type="slidenum">
              <a:rPr lang="en-AU" altLang="en-US" sz="1200" smtClean="0"/>
              <a:pPr/>
              <a:t>60</a:t>
            </a:fld>
            <a:endParaRPr lang="en-AU" altLang="en-US" sz="1200"/>
          </a:p>
        </p:txBody>
      </p:sp>
      <p:sp>
        <p:nvSpPr>
          <p:cNvPr id="17411" name="Rectangle 2"/>
          <p:cNvSpPr>
            <a:spLocks noGrp="1" noRot="1" noChangeAspect="1" noChangeArrowheads="1" noTextEdit="1"/>
          </p:cNvSpPr>
          <p:nvPr>
            <p:ph type="sldImg"/>
          </p:nvPr>
        </p:nvSpPr>
        <p:spPr>
          <a:xfrm>
            <a:off x="138113" y="768350"/>
            <a:ext cx="6823075" cy="3838575"/>
          </a:xfrm>
          <a:ln/>
        </p:spPr>
      </p:sp>
      <p:sp>
        <p:nvSpPr>
          <p:cNvPr id="17412"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1098802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3002E8EF-A714-47B8-88A8-049F4198576C}" type="slidenum">
              <a:rPr lang="en-AU" altLang="en-US" sz="1200" smtClean="0"/>
              <a:pPr/>
              <a:t>62</a:t>
            </a:fld>
            <a:endParaRPr lang="en-AU" altLang="en-US" sz="1200"/>
          </a:p>
        </p:txBody>
      </p:sp>
      <p:sp>
        <p:nvSpPr>
          <p:cNvPr id="20483" name="Rectangle 2"/>
          <p:cNvSpPr>
            <a:spLocks noGrp="1" noRot="1" noChangeAspect="1" noChangeArrowheads="1" noTextEdit="1"/>
          </p:cNvSpPr>
          <p:nvPr>
            <p:ph type="sldImg"/>
          </p:nvPr>
        </p:nvSpPr>
        <p:spPr>
          <a:xfrm>
            <a:off x="138113" y="768350"/>
            <a:ext cx="6823075" cy="3838575"/>
          </a:xfrm>
          <a:ln/>
        </p:spPr>
      </p:sp>
      <p:sp>
        <p:nvSpPr>
          <p:cNvPr id="20484"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23433292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6A5C000E-A2A1-4AFB-8884-41194DEA297F}" type="slidenum">
              <a:rPr lang="en-AU" altLang="en-US" sz="1200" smtClean="0"/>
              <a:pPr/>
              <a:t>63</a:t>
            </a:fld>
            <a:endParaRPr lang="en-AU" altLang="en-US" sz="1200"/>
          </a:p>
        </p:txBody>
      </p:sp>
      <p:sp>
        <p:nvSpPr>
          <p:cNvPr id="22531" name="Rectangle 2"/>
          <p:cNvSpPr>
            <a:spLocks noGrp="1" noRot="1" noChangeAspect="1" noChangeArrowheads="1" noTextEdit="1"/>
          </p:cNvSpPr>
          <p:nvPr>
            <p:ph type="sldImg"/>
          </p:nvPr>
        </p:nvSpPr>
        <p:spPr>
          <a:xfrm>
            <a:off x="138113" y="768350"/>
            <a:ext cx="6823075" cy="3838575"/>
          </a:xfrm>
          <a:ln/>
        </p:spPr>
      </p:sp>
      <p:sp>
        <p:nvSpPr>
          <p:cNvPr id="22532"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3883789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9B0F8EBB-E6BF-422F-84FF-DEE81D5DD7D7}" type="slidenum">
              <a:rPr lang="en-AU" altLang="en-US" sz="1200" smtClean="0"/>
              <a:pPr/>
              <a:t>65</a:t>
            </a:fld>
            <a:endParaRPr lang="en-AU" altLang="en-US" sz="1200"/>
          </a:p>
        </p:txBody>
      </p:sp>
      <p:sp>
        <p:nvSpPr>
          <p:cNvPr id="25603" name="Rectangle 2"/>
          <p:cNvSpPr>
            <a:spLocks noGrp="1" noRot="1" noChangeAspect="1" noChangeArrowheads="1" noTextEdit="1"/>
          </p:cNvSpPr>
          <p:nvPr>
            <p:ph type="sldImg"/>
          </p:nvPr>
        </p:nvSpPr>
        <p:spPr>
          <a:xfrm>
            <a:off x="138113" y="768350"/>
            <a:ext cx="6823075" cy="3838575"/>
          </a:xfrm>
          <a:ln/>
        </p:spPr>
      </p:sp>
      <p:sp>
        <p:nvSpPr>
          <p:cNvPr id="25604"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3636032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CEEEF68C-1A05-41BA-893E-2B888661883A}" type="slidenum">
              <a:rPr lang="en-AU" altLang="en-US" sz="1200" smtClean="0"/>
              <a:pPr/>
              <a:t>66</a:t>
            </a:fld>
            <a:endParaRPr lang="en-AU" altLang="en-US" sz="1200"/>
          </a:p>
        </p:txBody>
      </p:sp>
      <p:sp>
        <p:nvSpPr>
          <p:cNvPr id="27651" name="Rectangle 2"/>
          <p:cNvSpPr>
            <a:spLocks noGrp="1" noRot="1" noChangeAspect="1" noChangeArrowheads="1" noTextEdit="1"/>
          </p:cNvSpPr>
          <p:nvPr>
            <p:ph type="sldImg"/>
          </p:nvPr>
        </p:nvSpPr>
        <p:spPr>
          <a:xfrm>
            <a:off x="138113" y="768350"/>
            <a:ext cx="6823075" cy="3838575"/>
          </a:xfrm>
          <a:ln/>
        </p:spPr>
      </p:sp>
      <p:sp>
        <p:nvSpPr>
          <p:cNvPr id="27652"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2549999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40AC05F5-940C-4B3A-A1E4-AF3C2EAF63AE}" type="slidenum">
              <a:rPr lang="en-AU" altLang="en-US" sz="1200" smtClean="0"/>
              <a:pPr/>
              <a:t>67</a:t>
            </a:fld>
            <a:endParaRPr lang="en-AU" altLang="en-US" sz="1200"/>
          </a:p>
        </p:txBody>
      </p:sp>
      <p:sp>
        <p:nvSpPr>
          <p:cNvPr id="29699" name="Rectangle 2"/>
          <p:cNvSpPr>
            <a:spLocks noGrp="1" noRot="1" noChangeAspect="1" noChangeArrowheads="1" noTextEdit="1"/>
          </p:cNvSpPr>
          <p:nvPr>
            <p:ph type="sldImg"/>
          </p:nvPr>
        </p:nvSpPr>
        <p:spPr>
          <a:xfrm>
            <a:off x="138113" y="768350"/>
            <a:ext cx="6823075" cy="3838575"/>
          </a:xfrm>
          <a:ln/>
        </p:spPr>
      </p:sp>
      <p:sp>
        <p:nvSpPr>
          <p:cNvPr id="29700" name="Rectangle 3"/>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1855739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B0C3EF71-34F6-4B77-9D5E-33CFD9520C8D}" type="datetimeFigureOut">
              <a:rPr lang="en-AU" smtClean="0"/>
              <a:t>12/10/2025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302874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B0C3EF71-34F6-4B77-9D5E-33CFD9520C8D}" type="datetimeFigureOut">
              <a:rPr lang="en-AU" smtClean="0"/>
              <a:t>12/10/2025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217460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C3EF71-34F6-4B77-9D5E-33CFD9520C8D}" type="datetimeFigureOut">
              <a:rPr lang="en-AU" smtClean="0"/>
              <a:t>12/10/2025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1257949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B0C3EF71-34F6-4B77-9D5E-33CFD9520C8D}" type="datetimeFigureOut">
              <a:rPr lang="en-AU" smtClean="0"/>
              <a:t>12/10/2025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162993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B0C3EF71-34F6-4B77-9D5E-33CFD9520C8D}" type="datetimeFigureOut">
              <a:rPr lang="en-AU" smtClean="0"/>
              <a:t>12/10/2025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2297485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B0C3EF71-34F6-4B77-9D5E-33CFD9520C8D}" type="datetimeFigureOut">
              <a:rPr lang="en-AU" smtClean="0"/>
              <a:t>12/10/2025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393186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C3EF71-34F6-4B77-9D5E-33CFD9520C8D}" type="datetimeFigureOut">
              <a:rPr lang="en-AU" smtClean="0"/>
              <a:t>12/10/2025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10845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C3EF71-34F6-4B77-9D5E-33CFD9520C8D}" type="datetimeFigureOut">
              <a:rPr lang="en-AU" smtClean="0"/>
              <a:t>12/10/2025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287731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C3EF71-34F6-4B77-9D5E-33CFD9520C8D}" type="datetimeFigureOut">
              <a:rPr lang="en-AU" smtClean="0"/>
              <a:t>12/10/2025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56751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B0C3EF71-34F6-4B77-9D5E-33CFD9520C8D}" type="datetimeFigureOut">
              <a:rPr lang="en-AU" smtClean="0"/>
              <a:t>12/10/2025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64572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B0C3EF71-34F6-4B77-9D5E-33CFD9520C8D}" type="datetimeFigureOut">
              <a:rPr lang="en-AU" smtClean="0"/>
              <a:t>12/10/2025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2C7A8C-82EC-49E3-A695-9E72E45A001F}" type="slidenum">
              <a:rPr lang="en-AU" smtClean="0"/>
              <a:t>‹#›</a:t>
            </a:fld>
            <a:endParaRPr lang="en-AU"/>
          </a:p>
        </p:txBody>
      </p:sp>
    </p:spTree>
    <p:extLst>
      <p:ext uri="{BB962C8B-B14F-4D97-AF65-F5344CB8AC3E}">
        <p14:creationId xmlns:p14="http://schemas.microsoft.com/office/powerpoint/2010/main" val="907771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64217"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47417"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27"/>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29"/>
          <p:cNvSpPr>
            <a:spLocks noGrp="1" noChangeArrowheads="1"/>
          </p:cNvSpPr>
          <p:nvPr>
            <p:ph type="sldNum" sz="quarter" idx="12"/>
          </p:nvPr>
        </p:nvSpPr>
        <p:spPr>
          <a:ln/>
        </p:spPr>
        <p:txBody>
          <a:bodyPr/>
          <a:lstStyle>
            <a:lvl1pPr>
              <a:defRPr/>
            </a:lvl1pPr>
          </a:lstStyle>
          <a:p>
            <a:pPr>
              <a:defRPr/>
            </a:pPr>
            <a:fld id="{21BF98BB-5E65-4BAE-BA2A-D31505970BAE}" type="slidenum">
              <a:rPr lang="en-US" altLang="en-US"/>
              <a:pPr>
                <a:defRPr/>
              </a:pPr>
              <a:t>‹#›</a:t>
            </a:fld>
            <a:endParaRPr lang="en-US" altLang="en-US"/>
          </a:p>
        </p:txBody>
      </p:sp>
    </p:spTree>
    <p:extLst>
      <p:ext uri="{BB962C8B-B14F-4D97-AF65-F5344CB8AC3E}">
        <p14:creationId xmlns:p14="http://schemas.microsoft.com/office/powerpoint/2010/main" val="190118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3EF71-34F6-4B77-9D5E-33CFD9520C8D}" type="datetimeFigureOut">
              <a:rPr lang="en-AU" smtClean="0"/>
              <a:t>12/10/2025</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2C7A8C-82EC-49E3-A695-9E72E45A001F}" type="slidenum">
              <a:rPr lang="en-AU" smtClean="0"/>
              <a:t>‹#›</a:t>
            </a:fld>
            <a:endParaRPr lang="en-AU"/>
          </a:p>
        </p:txBody>
      </p:sp>
    </p:spTree>
    <p:extLst>
      <p:ext uri="{BB962C8B-B14F-4D97-AF65-F5344CB8AC3E}">
        <p14:creationId xmlns:p14="http://schemas.microsoft.com/office/powerpoint/2010/main" val="256806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symantec.com/connect/articles/introduction-windows-integrity-contro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4035" y="592276"/>
            <a:ext cx="10243930" cy="2387600"/>
          </a:xfrm>
        </p:spPr>
        <p:txBody>
          <a:bodyPr/>
          <a:lstStyle/>
          <a:p>
            <a:r>
              <a:rPr lang="en-AU" b="1" dirty="0"/>
              <a:t>CSCI262 : System Security</a:t>
            </a:r>
          </a:p>
        </p:txBody>
      </p:sp>
      <p:sp>
        <p:nvSpPr>
          <p:cNvPr id="3" name="Subtitle 2"/>
          <p:cNvSpPr>
            <a:spLocks noGrp="1"/>
          </p:cNvSpPr>
          <p:nvPr>
            <p:ph type="subTitle" idx="1"/>
          </p:nvPr>
        </p:nvSpPr>
        <p:spPr/>
        <p:txBody>
          <a:bodyPr>
            <a:normAutofit/>
          </a:bodyPr>
          <a:lstStyle/>
          <a:p>
            <a:r>
              <a:rPr lang="en-AU" sz="4000" b="1"/>
              <a:t>Access </a:t>
            </a:r>
            <a:r>
              <a:rPr lang="en-AU" sz="4000" b="1" dirty="0"/>
              <a:t>Control 2</a:t>
            </a:r>
          </a:p>
        </p:txBody>
      </p:sp>
    </p:spTree>
    <p:extLst>
      <p:ext uri="{BB962C8B-B14F-4D97-AF65-F5344CB8AC3E}">
        <p14:creationId xmlns:p14="http://schemas.microsoft.com/office/powerpoint/2010/main" val="3757709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Schedule	</a:t>
            </a:r>
          </a:p>
        </p:txBody>
      </p:sp>
      <p:sp>
        <p:nvSpPr>
          <p:cNvPr id="3" name="Content Placeholder 2"/>
          <p:cNvSpPr>
            <a:spLocks noGrp="1"/>
          </p:cNvSpPr>
          <p:nvPr>
            <p:ph idx="1"/>
          </p:nvPr>
        </p:nvSpPr>
        <p:spPr/>
        <p:txBody>
          <a:bodyPr/>
          <a:lstStyle/>
          <a:p>
            <a:r>
              <a:rPr lang="en-AU" dirty="0"/>
              <a:t>Security Model</a:t>
            </a:r>
          </a:p>
          <a:p>
            <a:r>
              <a:rPr lang="en-AU" dirty="0"/>
              <a:t>Confidential Policies</a:t>
            </a:r>
          </a:p>
          <a:p>
            <a:r>
              <a:rPr lang="en-AU" dirty="0"/>
              <a:t>Integrity Policies</a:t>
            </a:r>
          </a:p>
          <a:p>
            <a:r>
              <a:rPr lang="en-AU" dirty="0"/>
              <a:t>Hybrid Policies</a:t>
            </a:r>
          </a:p>
        </p:txBody>
      </p:sp>
    </p:spTree>
    <p:extLst>
      <p:ext uri="{BB962C8B-B14F-4D97-AF65-F5344CB8AC3E}">
        <p14:creationId xmlns:p14="http://schemas.microsoft.com/office/powerpoint/2010/main" val="1333227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12B0-6663-DA15-1031-1E08F2E95EB0}"/>
              </a:ext>
            </a:extLst>
          </p:cNvPr>
          <p:cNvSpPr>
            <a:spLocks noGrp="1"/>
          </p:cNvSpPr>
          <p:nvPr>
            <p:ph type="title"/>
          </p:nvPr>
        </p:nvSpPr>
        <p:spPr>
          <a:xfrm>
            <a:off x="838200" y="365125"/>
            <a:ext cx="10515600" cy="1040685"/>
          </a:xfrm>
        </p:spPr>
        <p:txBody>
          <a:bodyPr/>
          <a:lstStyle/>
          <a:p>
            <a:r>
              <a:rPr lang="en-AU" dirty="0"/>
              <a:t>Security Policies</a:t>
            </a:r>
          </a:p>
        </p:txBody>
      </p:sp>
      <p:sp>
        <p:nvSpPr>
          <p:cNvPr id="3" name="Content Placeholder 2">
            <a:extLst>
              <a:ext uri="{FF2B5EF4-FFF2-40B4-BE49-F238E27FC236}">
                <a16:creationId xmlns:a16="http://schemas.microsoft.com/office/drawing/2014/main" id="{B6E6DBBA-6355-D6C3-B2CC-DF04484895FF}"/>
              </a:ext>
            </a:extLst>
          </p:cNvPr>
          <p:cNvSpPr>
            <a:spLocks noGrp="1"/>
          </p:cNvSpPr>
          <p:nvPr>
            <p:ph idx="1"/>
          </p:nvPr>
        </p:nvSpPr>
        <p:spPr>
          <a:xfrm>
            <a:off x="838200" y="1405810"/>
            <a:ext cx="10515600" cy="4351338"/>
          </a:xfrm>
        </p:spPr>
        <p:txBody>
          <a:bodyPr/>
          <a:lstStyle/>
          <a:p>
            <a:r>
              <a:rPr lang="en-AU" dirty="0"/>
              <a:t>A </a:t>
            </a:r>
            <a:r>
              <a:rPr lang="en-AU" b="1" dirty="0"/>
              <a:t>security policy </a:t>
            </a:r>
            <a:r>
              <a:rPr lang="en-AU" dirty="0"/>
              <a:t>is a statement that partitions the states of the system into a set of </a:t>
            </a:r>
            <a:r>
              <a:rPr lang="en-AU" b="1" dirty="0"/>
              <a:t>authorised</a:t>
            </a:r>
            <a:r>
              <a:rPr lang="en-AU" dirty="0"/>
              <a:t>, or </a:t>
            </a:r>
            <a:r>
              <a:rPr lang="en-AU" b="1" dirty="0"/>
              <a:t>secure</a:t>
            </a:r>
            <a:r>
              <a:rPr lang="en-AU" dirty="0"/>
              <a:t>, states and a set of </a:t>
            </a:r>
            <a:r>
              <a:rPr lang="en-AU" b="1" dirty="0"/>
              <a:t>unauthorised</a:t>
            </a:r>
            <a:r>
              <a:rPr lang="en-AU" dirty="0"/>
              <a:t>, or </a:t>
            </a:r>
            <a:r>
              <a:rPr lang="en-AU" b="1" dirty="0"/>
              <a:t>nonsecure</a:t>
            </a:r>
            <a:r>
              <a:rPr lang="en-AU" dirty="0"/>
              <a:t>, states.</a:t>
            </a:r>
          </a:p>
          <a:p>
            <a:r>
              <a:rPr lang="en-AU" dirty="0"/>
              <a:t>A </a:t>
            </a:r>
            <a:r>
              <a:rPr lang="en-AU" b="1" dirty="0"/>
              <a:t>secure system </a:t>
            </a:r>
            <a:r>
              <a:rPr lang="en-AU" dirty="0"/>
              <a:t>is a system that starts in an authorised state and cannot enter an unauthorised state.</a:t>
            </a:r>
          </a:p>
          <a:p>
            <a:r>
              <a:rPr lang="en-AU" dirty="0"/>
              <a:t>Example: (from [B18])</a:t>
            </a:r>
          </a:p>
          <a:p>
            <a:pPr lvl="1"/>
            <a:r>
              <a:rPr lang="en-AU" dirty="0"/>
              <a:t>Authorised state set {s</a:t>
            </a:r>
            <a:r>
              <a:rPr lang="en-AU" baseline="-25000" dirty="0"/>
              <a:t>1</a:t>
            </a:r>
            <a:r>
              <a:rPr lang="en-AU" dirty="0"/>
              <a:t>,s</a:t>
            </a:r>
            <a:r>
              <a:rPr lang="en-AU" baseline="-25000" dirty="0"/>
              <a:t>2</a:t>
            </a:r>
            <a:r>
              <a:rPr lang="en-AU" dirty="0"/>
              <a:t>}</a:t>
            </a:r>
          </a:p>
          <a:p>
            <a:pPr lvl="1"/>
            <a:r>
              <a:rPr lang="en-AU" dirty="0"/>
              <a:t>Unauthorised state set {s</a:t>
            </a:r>
            <a:r>
              <a:rPr lang="en-AU" baseline="-25000" dirty="0"/>
              <a:t>3</a:t>
            </a:r>
            <a:r>
              <a:rPr lang="en-AU" dirty="0"/>
              <a:t>,s</a:t>
            </a:r>
            <a:r>
              <a:rPr lang="en-AU" baseline="-25000" dirty="0"/>
              <a:t>4</a:t>
            </a:r>
            <a:r>
              <a:rPr lang="en-AU" dirty="0"/>
              <a:t>}</a:t>
            </a:r>
          </a:p>
          <a:p>
            <a:pPr lvl="1"/>
            <a:r>
              <a:rPr lang="en-AU" dirty="0"/>
              <a:t>The system is not secure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6528" y="3775710"/>
            <a:ext cx="6109055" cy="1632314"/>
          </a:xfrm>
          <a:prstGeom prst="rect">
            <a:avLst/>
          </a:prstGeom>
        </p:spPr>
      </p:pic>
      <p:sp>
        <p:nvSpPr>
          <p:cNvPr id="5" name="TextBox 4"/>
          <p:cNvSpPr txBox="1"/>
          <p:nvPr/>
        </p:nvSpPr>
        <p:spPr>
          <a:xfrm>
            <a:off x="7106194" y="5408024"/>
            <a:ext cx="3931920" cy="369332"/>
          </a:xfrm>
          <a:prstGeom prst="rect">
            <a:avLst/>
          </a:prstGeom>
          <a:noFill/>
        </p:spPr>
        <p:txBody>
          <a:bodyPr wrap="square" rtlCol="0">
            <a:spAutoFit/>
          </a:bodyPr>
          <a:lstStyle/>
          <a:p>
            <a:r>
              <a:rPr lang="en-AU" dirty="0"/>
              <a:t>Figure 4-1 in [B18]</a:t>
            </a:r>
          </a:p>
        </p:txBody>
      </p:sp>
    </p:spTree>
    <p:extLst>
      <p:ext uri="{BB962C8B-B14F-4D97-AF65-F5344CB8AC3E}">
        <p14:creationId xmlns:p14="http://schemas.microsoft.com/office/powerpoint/2010/main" val="3524057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Security model</a:t>
            </a:r>
          </a:p>
        </p:txBody>
      </p:sp>
      <p:sp>
        <p:nvSpPr>
          <p:cNvPr id="3" name="Content Placeholder 2"/>
          <p:cNvSpPr>
            <a:spLocks noGrp="1"/>
          </p:cNvSpPr>
          <p:nvPr>
            <p:ph idx="1"/>
          </p:nvPr>
        </p:nvSpPr>
        <p:spPr>
          <a:xfrm>
            <a:off x="838200" y="1690688"/>
            <a:ext cx="10515600" cy="4700860"/>
          </a:xfrm>
        </p:spPr>
        <p:txBody>
          <a:bodyPr>
            <a:normAutofit fontScale="92500" lnSpcReduction="10000"/>
          </a:bodyPr>
          <a:lstStyle/>
          <a:p>
            <a:r>
              <a:rPr lang="en-US" sz="3000" dirty="0"/>
              <a:t>A </a:t>
            </a:r>
            <a:r>
              <a:rPr lang="en-US" sz="3000" b="1" dirty="0"/>
              <a:t>security model </a:t>
            </a:r>
            <a:r>
              <a:rPr lang="en-US" sz="3000" dirty="0"/>
              <a:t>is a precise representation of the security requirements (security policy). </a:t>
            </a:r>
          </a:p>
          <a:p>
            <a:r>
              <a:rPr lang="en-US" sz="3000" dirty="0"/>
              <a:t>Characteristics:</a:t>
            </a:r>
          </a:p>
          <a:p>
            <a:pPr lvl="1"/>
            <a:r>
              <a:rPr lang="en-US" sz="2600" dirty="0"/>
              <a:t>Simple and abstract.</a:t>
            </a:r>
          </a:p>
          <a:p>
            <a:pPr lvl="1"/>
            <a:r>
              <a:rPr lang="en-US" sz="2600" dirty="0"/>
              <a:t>Precise and unambiguous.</a:t>
            </a:r>
          </a:p>
          <a:p>
            <a:pPr lvl="1"/>
            <a:r>
              <a:rPr lang="en-US" sz="2600" dirty="0"/>
              <a:t>Generic.</a:t>
            </a:r>
          </a:p>
          <a:p>
            <a:pPr lvl="2"/>
            <a:r>
              <a:rPr lang="en-US" sz="2400" dirty="0"/>
              <a:t>Deals with security properties.</a:t>
            </a:r>
          </a:p>
          <a:p>
            <a:pPr lvl="2"/>
            <a:r>
              <a:rPr lang="en-US" sz="2400" dirty="0"/>
              <a:t>Does not unduly constrain system functions or implementation details.</a:t>
            </a:r>
          </a:p>
          <a:p>
            <a:r>
              <a:rPr lang="en-US" altLang="en-US" sz="3000" dirty="0"/>
              <a:t>In state machine representations, we:</a:t>
            </a:r>
          </a:p>
          <a:p>
            <a:pPr lvl="1"/>
            <a:r>
              <a:rPr lang="en-US" altLang="en-US" sz="2600" dirty="0"/>
              <a:t>Describe the system as an abstract mathematical state machine.</a:t>
            </a:r>
          </a:p>
          <a:p>
            <a:pPr lvl="1"/>
            <a:r>
              <a:rPr lang="en-US" altLang="en-US" sz="2600" dirty="0"/>
              <a:t>Represent the state of the machine using state variables.</a:t>
            </a:r>
          </a:p>
          <a:p>
            <a:pPr lvl="1"/>
            <a:r>
              <a:rPr lang="en-US" altLang="en-US" sz="2600" dirty="0"/>
              <a:t>Describe how variables, and thus the state, changes using transition functions.</a:t>
            </a:r>
          </a:p>
          <a:p>
            <a:endParaRPr lang="en-AU" dirty="0"/>
          </a:p>
        </p:txBody>
      </p:sp>
    </p:spTree>
    <p:extLst>
      <p:ext uri="{BB962C8B-B14F-4D97-AF65-F5344CB8AC3E}">
        <p14:creationId xmlns:p14="http://schemas.microsoft.com/office/powerpoint/2010/main" val="135191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Traditional Security Models</a:t>
            </a:r>
          </a:p>
        </p:txBody>
      </p:sp>
      <p:sp>
        <p:nvSpPr>
          <p:cNvPr id="3" name="Content Placeholder 2"/>
          <p:cNvSpPr>
            <a:spLocks noGrp="1"/>
          </p:cNvSpPr>
          <p:nvPr>
            <p:ph idx="1"/>
          </p:nvPr>
        </p:nvSpPr>
        <p:spPr/>
        <p:txBody>
          <a:bodyPr>
            <a:normAutofit fontScale="92500" lnSpcReduction="20000"/>
          </a:bodyPr>
          <a:lstStyle/>
          <a:p>
            <a:r>
              <a:rPr lang="en-US" dirty="0"/>
              <a:t>System   :	&lt;Subjects, Objects&gt;</a:t>
            </a:r>
          </a:p>
          <a:p>
            <a:endParaRPr lang="en-US" dirty="0"/>
          </a:p>
          <a:p>
            <a:r>
              <a:rPr lang="en-US" dirty="0"/>
              <a:t>Subjects :	Active Entities</a:t>
            </a:r>
          </a:p>
          <a:p>
            <a:pPr marL="0" indent="0">
              <a:buNone/>
            </a:pPr>
            <a:r>
              <a:rPr lang="en-US" dirty="0"/>
              <a:t>                 :	Users, Processes</a:t>
            </a:r>
          </a:p>
          <a:p>
            <a:endParaRPr lang="en-US" dirty="0"/>
          </a:p>
          <a:p>
            <a:r>
              <a:rPr lang="en-US" dirty="0"/>
              <a:t>Objects  :	Passive Entities</a:t>
            </a:r>
          </a:p>
          <a:p>
            <a:pPr marL="0" indent="0">
              <a:buNone/>
            </a:pPr>
            <a:r>
              <a:rPr lang="en-US" dirty="0"/>
              <a:t>                 :	Files, Records</a:t>
            </a:r>
          </a:p>
          <a:p>
            <a:endParaRPr lang="en-US" dirty="0"/>
          </a:p>
          <a:p>
            <a:r>
              <a:rPr lang="en-US" dirty="0"/>
              <a:t>Security Relevant State Variables:</a:t>
            </a:r>
          </a:p>
          <a:p>
            <a:pPr marL="0" indent="0">
              <a:buNone/>
            </a:pPr>
            <a:r>
              <a:rPr lang="en-US" dirty="0"/>
              <a:t>                 &lt;Subjects, Objects, Security Attributes&gt;</a:t>
            </a:r>
          </a:p>
          <a:p>
            <a:endParaRPr lang="en-AU" dirty="0"/>
          </a:p>
        </p:txBody>
      </p:sp>
    </p:spTree>
    <p:extLst>
      <p:ext uri="{BB962C8B-B14F-4D97-AF65-F5344CB8AC3E}">
        <p14:creationId xmlns:p14="http://schemas.microsoft.com/office/powerpoint/2010/main" val="474627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State machine based security model</a:t>
            </a:r>
          </a:p>
        </p:txBody>
      </p:sp>
      <p:sp>
        <p:nvSpPr>
          <p:cNvPr id="3" name="Content Placeholder 2"/>
          <p:cNvSpPr>
            <a:spLocks noGrp="1"/>
          </p:cNvSpPr>
          <p:nvPr>
            <p:ph idx="1"/>
          </p:nvPr>
        </p:nvSpPr>
        <p:spPr>
          <a:xfrm>
            <a:off x="838200" y="1825625"/>
            <a:ext cx="10515600" cy="4810306"/>
          </a:xfrm>
        </p:spPr>
        <p:txBody>
          <a:bodyPr>
            <a:normAutofit lnSpcReduction="10000"/>
          </a:bodyPr>
          <a:lstStyle/>
          <a:p>
            <a:pPr marL="0" indent="0">
              <a:buNone/>
            </a:pPr>
            <a:r>
              <a:rPr lang="en-US" sz="3000" dirty="0"/>
              <a:t>To prove security of a particular state machine based system we use the following procedure:</a:t>
            </a:r>
          </a:p>
          <a:p>
            <a:pPr marL="0" indent="0">
              <a:buNone/>
            </a:pPr>
            <a:endParaRPr lang="en-US" sz="3000" dirty="0"/>
          </a:p>
          <a:p>
            <a:pPr marL="0" indent="0">
              <a:buNone/>
            </a:pPr>
            <a:r>
              <a:rPr lang="en-US" sz="3000" dirty="0"/>
              <a:t>1. Define appropriate state variables.</a:t>
            </a:r>
          </a:p>
          <a:p>
            <a:pPr lvl="1"/>
            <a:r>
              <a:rPr lang="en-US" sz="2600" dirty="0"/>
              <a:t>State relationships between them.</a:t>
            </a:r>
          </a:p>
          <a:p>
            <a:pPr marL="0" indent="0">
              <a:buNone/>
            </a:pPr>
            <a:r>
              <a:rPr lang="en-US" sz="3000" dirty="0"/>
              <a:t>2. Define conditions for a secure state:</a:t>
            </a:r>
          </a:p>
          <a:p>
            <a:pPr lvl="1"/>
            <a:r>
              <a:rPr lang="en-US" sz="2600" dirty="0"/>
              <a:t>This includes the relationships between values of state variables that must be maintained during state transitions.</a:t>
            </a:r>
          </a:p>
          <a:p>
            <a:pPr lvl="1"/>
            <a:r>
              <a:rPr lang="en-US" sz="2600" dirty="0"/>
              <a:t>These are security constraints.</a:t>
            </a:r>
          </a:p>
          <a:p>
            <a:pPr marL="0" indent="0">
              <a:buNone/>
            </a:pPr>
            <a:r>
              <a:rPr lang="en-US" sz="3000" dirty="0"/>
              <a:t>3. Define state transition functions:</a:t>
            </a:r>
          </a:p>
          <a:p>
            <a:pPr lvl="1"/>
            <a:r>
              <a:rPr lang="en-US" sz="2600" dirty="0"/>
              <a:t>Define the mechanisms by which state variables can change.</a:t>
            </a:r>
          </a:p>
          <a:p>
            <a:endParaRPr lang="en-AU" dirty="0"/>
          </a:p>
        </p:txBody>
      </p:sp>
    </p:spTree>
    <p:extLst>
      <p:ext uri="{BB962C8B-B14F-4D97-AF65-F5344CB8AC3E}">
        <p14:creationId xmlns:p14="http://schemas.microsoft.com/office/powerpoint/2010/main" val="357602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909"/>
            <a:ext cx="10515600" cy="5136879"/>
          </a:xfrm>
        </p:spPr>
        <p:txBody>
          <a:bodyPr>
            <a:normAutofit/>
          </a:bodyPr>
          <a:lstStyle/>
          <a:p>
            <a:pPr marL="0" indent="0">
              <a:spcBef>
                <a:spcPct val="0"/>
              </a:spcBef>
              <a:buClrTx/>
              <a:buSzTx/>
              <a:buNone/>
            </a:pPr>
            <a:r>
              <a:rPr lang="en-US" altLang="en-US" dirty="0"/>
              <a:t>4. Prove each transition function maintains a secure state, when acting on a secure state. </a:t>
            </a:r>
          </a:p>
          <a:p>
            <a:pPr marL="0" indent="0">
              <a:spcBef>
                <a:spcPct val="0"/>
              </a:spcBef>
              <a:buClrTx/>
              <a:buSzTx/>
              <a:buNone/>
            </a:pPr>
            <a:endParaRPr lang="en-US" altLang="en-US" dirty="0"/>
          </a:p>
          <a:p>
            <a:pPr>
              <a:spcBef>
                <a:spcPct val="0"/>
              </a:spcBef>
              <a:buClrTx/>
              <a:buSzTx/>
              <a:buFontTx/>
              <a:buNone/>
            </a:pPr>
            <a:endParaRPr lang="en-US" altLang="en-US" dirty="0"/>
          </a:p>
          <a:p>
            <a:pPr>
              <a:spcBef>
                <a:spcPct val="0"/>
              </a:spcBef>
              <a:buClrTx/>
              <a:buSzTx/>
              <a:buFontTx/>
              <a:buNone/>
            </a:pPr>
            <a:endParaRPr lang="en-US" altLang="en-US" dirty="0"/>
          </a:p>
          <a:p>
            <a:pPr>
              <a:spcBef>
                <a:spcPct val="0"/>
              </a:spcBef>
              <a:buClrTx/>
              <a:buSzTx/>
              <a:buFontTx/>
              <a:buNone/>
            </a:pPr>
            <a:endParaRPr lang="en-US" altLang="en-US" dirty="0"/>
          </a:p>
          <a:p>
            <a:pPr>
              <a:spcBef>
                <a:spcPct val="0"/>
              </a:spcBef>
              <a:buClrTx/>
              <a:buSzTx/>
              <a:buFontTx/>
              <a:buNone/>
            </a:pPr>
            <a:endParaRPr lang="en-US" altLang="en-US" dirty="0"/>
          </a:p>
          <a:p>
            <a:pPr>
              <a:spcBef>
                <a:spcPct val="0"/>
              </a:spcBef>
              <a:buClrTx/>
              <a:buSzTx/>
              <a:buFontTx/>
              <a:buNone/>
            </a:pPr>
            <a:r>
              <a:rPr lang="en-US" altLang="en-US" dirty="0"/>
              <a:t>5. Define an initial state.</a:t>
            </a:r>
          </a:p>
          <a:p>
            <a:pPr>
              <a:spcBef>
                <a:spcPct val="0"/>
              </a:spcBef>
              <a:buClrTx/>
              <a:buSzTx/>
              <a:buFontTx/>
              <a:buNone/>
            </a:pPr>
            <a:endParaRPr lang="en-US" altLang="en-US" dirty="0"/>
          </a:p>
          <a:p>
            <a:pPr marL="0" indent="0">
              <a:spcBef>
                <a:spcPct val="0"/>
              </a:spcBef>
              <a:buClrTx/>
              <a:buSzTx/>
              <a:buNone/>
            </a:pPr>
            <a:r>
              <a:rPr lang="en-US" altLang="en-US" dirty="0"/>
              <a:t>6. Show the initial state is secure.</a:t>
            </a:r>
          </a:p>
          <a:p>
            <a:pPr>
              <a:spcBef>
                <a:spcPct val="0"/>
              </a:spcBef>
              <a:buClrTx/>
              <a:buSzTx/>
              <a:buFontTx/>
              <a:buAutoNum type="arabicPeriod" startAt="6"/>
            </a:pPr>
            <a:endParaRPr lang="en-US" altLang="en-US" dirty="0"/>
          </a:p>
          <a:p>
            <a:pPr>
              <a:spcBef>
                <a:spcPct val="0"/>
              </a:spcBef>
              <a:buClrTx/>
              <a:buSzTx/>
              <a:buFontTx/>
              <a:buNone/>
            </a:pPr>
            <a:r>
              <a:rPr lang="en-US" altLang="en-US" dirty="0"/>
              <a:t>We then apply induction to show evolution of the system must leave it secure, by 4. and 6.</a:t>
            </a:r>
          </a:p>
          <a:p>
            <a:pPr marL="0" indent="0">
              <a:buNone/>
            </a:pPr>
            <a:endParaRPr lang="en-AU" dirty="0"/>
          </a:p>
        </p:txBody>
      </p:sp>
      <p:grpSp>
        <p:nvGrpSpPr>
          <p:cNvPr id="4" name="Group 3"/>
          <p:cNvGrpSpPr>
            <a:grpSpLocks/>
          </p:cNvGrpSpPr>
          <p:nvPr/>
        </p:nvGrpSpPr>
        <p:grpSpPr bwMode="auto">
          <a:xfrm>
            <a:off x="3561987" y="1730010"/>
            <a:ext cx="4535488" cy="1684338"/>
            <a:chOff x="1277" y="1195"/>
            <a:chExt cx="2857" cy="1061"/>
          </a:xfrm>
        </p:grpSpPr>
        <p:sp>
          <p:nvSpPr>
            <p:cNvPr id="5" name="Oval 4"/>
            <p:cNvSpPr>
              <a:spLocks noChangeArrowheads="1"/>
            </p:cNvSpPr>
            <p:nvPr/>
          </p:nvSpPr>
          <p:spPr bwMode="auto">
            <a:xfrm>
              <a:off x="1277" y="1259"/>
              <a:ext cx="720" cy="57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AU" altLang="en-US" sz="2800">
                <a:latin typeface="Times New Roman" panose="02020603050405020304" pitchFamily="18" charset="0"/>
              </a:endParaRPr>
            </a:p>
          </p:txBody>
        </p:sp>
        <p:sp>
          <p:nvSpPr>
            <p:cNvPr id="6" name="Oval 5"/>
            <p:cNvSpPr>
              <a:spLocks noChangeArrowheads="1"/>
            </p:cNvSpPr>
            <p:nvPr/>
          </p:nvSpPr>
          <p:spPr bwMode="auto">
            <a:xfrm>
              <a:off x="3245" y="1211"/>
              <a:ext cx="799" cy="57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AU" altLang="en-US" sz="2800">
                <a:latin typeface="Times New Roman" panose="02020603050405020304" pitchFamily="18" charset="0"/>
              </a:endParaRPr>
            </a:p>
          </p:txBody>
        </p:sp>
        <p:sp>
          <p:nvSpPr>
            <p:cNvPr id="7" name="Text Box 6"/>
            <p:cNvSpPr txBox="1">
              <a:spLocks noChangeArrowheads="1"/>
            </p:cNvSpPr>
            <p:nvPr/>
          </p:nvSpPr>
          <p:spPr bwMode="auto">
            <a:xfrm>
              <a:off x="1323" y="1968"/>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400"/>
                <a:t>Secure</a:t>
              </a:r>
            </a:p>
          </p:txBody>
        </p:sp>
        <p:sp>
          <p:nvSpPr>
            <p:cNvPr id="8" name="Text Box 7"/>
            <p:cNvSpPr txBox="1">
              <a:spLocks noChangeArrowheads="1"/>
            </p:cNvSpPr>
            <p:nvPr/>
          </p:nvSpPr>
          <p:spPr bwMode="auto">
            <a:xfrm>
              <a:off x="3409" y="1968"/>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400"/>
                <a:t>Secure</a:t>
              </a:r>
            </a:p>
          </p:txBody>
        </p:sp>
        <p:sp>
          <p:nvSpPr>
            <p:cNvPr id="9" name="Line 8"/>
            <p:cNvSpPr>
              <a:spLocks noChangeShapeType="1"/>
            </p:cNvSpPr>
            <p:nvPr/>
          </p:nvSpPr>
          <p:spPr bwMode="auto">
            <a:xfrm>
              <a:off x="2093" y="1595"/>
              <a:ext cx="1056"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AU"/>
            </a:p>
          </p:txBody>
        </p:sp>
        <p:sp>
          <p:nvSpPr>
            <p:cNvPr id="10" name="Text Box 9"/>
            <p:cNvSpPr txBox="1">
              <a:spLocks noChangeArrowheads="1"/>
            </p:cNvSpPr>
            <p:nvPr/>
          </p:nvSpPr>
          <p:spPr bwMode="auto">
            <a:xfrm>
              <a:off x="2107" y="1195"/>
              <a:ext cx="11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dirty="0"/>
                <a:t>Transition</a:t>
              </a:r>
              <a:endParaRPr kumimoji="0" lang="en-US" altLang="en-US" sz="2400" dirty="0"/>
            </a:p>
          </p:txBody>
        </p:sp>
        <p:sp>
          <p:nvSpPr>
            <p:cNvPr id="11" name="Text Box 10"/>
            <p:cNvSpPr txBox="1">
              <a:spLocks noChangeArrowheads="1"/>
            </p:cNvSpPr>
            <p:nvPr/>
          </p:nvSpPr>
          <p:spPr bwMode="auto">
            <a:xfrm>
              <a:off x="1331" y="1382"/>
              <a:ext cx="6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b="1" dirty="0"/>
                <a:t>State</a:t>
              </a:r>
              <a:endParaRPr kumimoji="0" lang="en-US" altLang="en-US" sz="2400" dirty="0"/>
            </a:p>
          </p:txBody>
        </p:sp>
        <p:sp>
          <p:nvSpPr>
            <p:cNvPr id="12" name="Text Box 11"/>
            <p:cNvSpPr txBox="1">
              <a:spLocks noChangeArrowheads="1"/>
            </p:cNvSpPr>
            <p:nvPr/>
          </p:nvSpPr>
          <p:spPr bwMode="auto">
            <a:xfrm>
              <a:off x="3316" y="1316"/>
              <a:ext cx="7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b="1"/>
                <a:t>State</a:t>
              </a:r>
              <a:r>
                <a:rPr kumimoji="0" lang="en-US" altLang="en-US" b="1" baseline="30000"/>
                <a:t>'</a:t>
              </a:r>
              <a:endParaRPr kumimoji="0" lang="en-US" altLang="en-US" sz="2400"/>
            </a:p>
          </p:txBody>
        </p:sp>
      </p:grpSp>
    </p:spTree>
    <p:extLst>
      <p:ext uri="{BB962C8B-B14F-4D97-AF65-F5344CB8AC3E}">
        <p14:creationId xmlns:p14="http://schemas.microsoft.com/office/powerpoint/2010/main" val="190705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3491"/>
            <a:ext cx="10515600" cy="923789"/>
          </a:xfrm>
        </p:spPr>
        <p:txBody>
          <a:bodyPr/>
          <a:lstStyle/>
          <a:p>
            <a:r>
              <a:rPr lang="en-AU" dirty="0"/>
              <a:t>Example</a:t>
            </a:r>
          </a:p>
        </p:txBody>
      </p:sp>
      <p:sp>
        <p:nvSpPr>
          <p:cNvPr id="3" name="Content Placeholder 2"/>
          <p:cNvSpPr>
            <a:spLocks noGrp="1"/>
          </p:cNvSpPr>
          <p:nvPr>
            <p:ph idx="1"/>
          </p:nvPr>
        </p:nvSpPr>
        <p:spPr>
          <a:xfrm>
            <a:off x="838200" y="1097280"/>
            <a:ext cx="10515600" cy="5042263"/>
          </a:xfrm>
        </p:spPr>
        <p:txBody>
          <a:bodyPr>
            <a:noAutofit/>
          </a:bodyPr>
          <a:lstStyle/>
          <a:p>
            <a:r>
              <a:rPr lang="en-US" dirty="0"/>
              <a:t>S = {S1, S2, S3}</a:t>
            </a:r>
          </a:p>
          <a:p>
            <a:r>
              <a:rPr lang="en-US" dirty="0"/>
              <a:t>O = {O1 , O2 , O3 }</a:t>
            </a:r>
          </a:p>
          <a:p>
            <a:r>
              <a:rPr lang="en-US" dirty="0"/>
              <a:t>A ={read, write, execute}</a:t>
            </a:r>
          </a:p>
          <a:p>
            <a:endParaRPr lang="en-US" dirty="0"/>
          </a:p>
          <a:p>
            <a:r>
              <a:rPr lang="en-US" dirty="0"/>
              <a:t>The state variables are combinations &lt;</a:t>
            </a:r>
            <a:r>
              <a:rPr lang="en-US" dirty="0" err="1"/>
              <a:t>S</a:t>
            </a:r>
            <a:r>
              <a:rPr lang="en-US" baseline="-25000" dirty="0" err="1"/>
              <a:t>i</a:t>
            </a:r>
            <a:r>
              <a:rPr lang="en-US" dirty="0" err="1"/>
              <a:t>,O</a:t>
            </a:r>
            <a:r>
              <a:rPr lang="en-US" baseline="-25000" dirty="0" err="1"/>
              <a:t>j</a:t>
            </a:r>
            <a:r>
              <a:rPr lang="en-US" dirty="0" err="1"/>
              <a:t>,A</a:t>
            </a:r>
            <a:r>
              <a:rPr lang="en-US" baseline="-25000" dirty="0" err="1"/>
              <a:t>k</a:t>
            </a:r>
            <a:r>
              <a:rPr lang="en-US" dirty="0"/>
              <a:t>&gt; of these which can effectively be on or off, with on corresponding to that action currently being active between S and O.</a:t>
            </a:r>
          </a:p>
          <a:p>
            <a:endParaRPr lang="en-US" dirty="0"/>
          </a:p>
          <a:p>
            <a:r>
              <a:rPr lang="en-US" dirty="0"/>
              <a:t>Conditions for a secure state (we will see shortly):</a:t>
            </a:r>
          </a:p>
          <a:p>
            <a:pPr lvl="1"/>
            <a:r>
              <a:rPr lang="en-US" dirty="0" err="1"/>
              <a:t>ss</a:t>
            </a:r>
            <a:r>
              <a:rPr lang="en-US" dirty="0"/>
              <a:t>-property.</a:t>
            </a:r>
          </a:p>
          <a:p>
            <a:pPr lvl="1"/>
            <a:r>
              <a:rPr lang="en-US" dirty="0"/>
              <a:t>*-property.</a:t>
            </a:r>
          </a:p>
          <a:p>
            <a:pPr lvl="1"/>
            <a:r>
              <a:rPr lang="en-US" dirty="0"/>
              <a:t>ds-property.</a:t>
            </a:r>
          </a:p>
          <a:p>
            <a:endParaRPr lang="en-AU" dirty="0"/>
          </a:p>
        </p:txBody>
      </p:sp>
    </p:spTree>
    <p:extLst>
      <p:ext uri="{BB962C8B-B14F-4D97-AF65-F5344CB8AC3E}">
        <p14:creationId xmlns:p14="http://schemas.microsoft.com/office/powerpoint/2010/main" val="1364303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Confidentiality policies</a:t>
            </a:r>
          </a:p>
        </p:txBody>
      </p:sp>
      <p:sp>
        <p:nvSpPr>
          <p:cNvPr id="3" name="Content Placeholder 2"/>
          <p:cNvSpPr>
            <a:spLocks noGrp="1"/>
          </p:cNvSpPr>
          <p:nvPr>
            <p:ph idx="1"/>
          </p:nvPr>
        </p:nvSpPr>
        <p:spPr/>
        <p:txBody>
          <a:bodyPr/>
          <a:lstStyle/>
          <a:p>
            <a:r>
              <a:rPr lang="en-AU" dirty="0"/>
              <a:t>A </a:t>
            </a:r>
            <a:r>
              <a:rPr lang="en-AU" b="1" dirty="0"/>
              <a:t>confidentiality policy</a:t>
            </a:r>
            <a:r>
              <a:rPr lang="en-AU" dirty="0"/>
              <a:t>, also called </a:t>
            </a:r>
            <a:r>
              <a:rPr lang="en-AU" b="1" dirty="0"/>
              <a:t>information flow policy</a:t>
            </a:r>
            <a:r>
              <a:rPr lang="en-AU" dirty="0"/>
              <a:t>, prevents the unauthorised disclosure of information</a:t>
            </a:r>
          </a:p>
          <a:p>
            <a:r>
              <a:rPr lang="en-AU" b="1" dirty="0"/>
              <a:t>Bell-</a:t>
            </a:r>
            <a:r>
              <a:rPr lang="en-AU" b="1" dirty="0" err="1"/>
              <a:t>LaPadula</a:t>
            </a:r>
            <a:r>
              <a:rPr lang="en-AU" b="1" dirty="0"/>
              <a:t> (BLP) Model </a:t>
            </a:r>
          </a:p>
          <a:p>
            <a:pPr lvl="1"/>
            <a:r>
              <a:rPr lang="en-AU" sz="2800" dirty="0"/>
              <a:t>is a confidentiality based access control model</a:t>
            </a:r>
          </a:p>
          <a:p>
            <a:pPr lvl="1"/>
            <a:r>
              <a:rPr lang="en-AU" sz="2800" dirty="0"/>
              <a:t>corresponds to military-type classifications</a:t>
            </a:r>
          </a:p>
          <a:p>
            <a:pPr lvl="2"/>
            <a:r>
              <a:rPr lang="en-AU" sz="2400" dirty="0"/>
              <a:t>Developed primarily to provide confidentiality</a:t>
            </a:r>
          </a:p>
          <a:p>
            <a:pPr lvl="1"/>
            <a:r>
              <a:rPr lang="en-AU" sz="2800" dirty="0"/>
              <a:t>has influenced the development of many other models and computer security technologies</a:t>
            </a:r>
          </a:p>
        </p:txBody>
      </p:sp>
    </p:spTree>
    <p:extLst>
      <p:ext uri="{BB962C8B-B14F-4D97-AF65-F5344CB8AC3E}">
        <p14:creationId xmlns:p14="http://schemas.microsoft.com/office/powerpoint/2010/main" val="305352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296EA43B-49B9-42B0-8100-CF7C44718403}" type="slidenum">
              <a:rPr kumimoji="0" lang="en-US" altLang="en-US" sz="1400"/>
              <a:pPr>
                <a:spcBef>
                  <a:spcPct val="50000"/>
                </a:spcBef>
                <a:buClrTx/>
                <a:buSzTx/>
                <a:buFontTx/>
                <a:buNone/>
              </a:pPr>
              <a:t>10</a:t>
            </a:fld>
            <a:endParaRPr kumimoji="0" lang="en-US" altLang="en-US" sz="1400"/>
          </a:p>
        </p:txBody>
      </p:sp>
      <p:sp>
        <p:nvSpPr>
          <p:cNvPr id="9219" name="Rectangle 2"/>
          <p:cNvSpPr>
            <a:spLocks noGrp="1" noChangeArrowheads="1"/>
          </p:cNvSpPr>
          <p:nvPr>
            <p:ph type="title"/>
          </p:nvPr>
        </p:nvSpPr>
        <p:spPr>
          <a:xfrm>
            <a:off x="880872" y="292294"/>
            <a:ext cx="8377238" cy="827088"/>
          </a:xfrm>
        </p:spPr>
        <p:txBody>
          <a:bodyPr>
            <a:normAutofit fontScale="90000"/>
          </a:bodyPr>
          <a:lstStyle/>
          <a:p>
            <a:r>
              <a:rPr lang="en-US" altLang="en-US" sz="4000" dirty="0"/>
              <a:t>The (simplified) Bell-</a:t>
            </a:r>
            <a:r>
              <a:rPr lang="en-US" altLang="en-US" sz="4000" dirty="0" err="1"/>
              <a:t>LaPadula</a:t>
            </a:r>
            <a:r>
              <a:rPr lang="en-US" altLang="en-US" sz="4000" dirty="0"/>
              <a:t> Model</a:t>
            </a:r>
          </a:p>
        </p:txBody>
      </p:sp>
      <p:sp>
        <p:nvSpPr>
          <p:cNvPr id="482307" name="Rectangle 3"/>
          <p:cNvSpPr>
            <a:spLocks noGrp="1" noChangeArrowheads="1"/>
          </p:cNvSpPr>
          <p:nvPr>
            <p:ph type="body" idx="1"/>
          </p:nvPr>
        </p:nvSpPr>
        <p:spPr>
          <a:xfrm>
            <a:off x="880872" y="1334319"/>
            <a:ext cx="10563876" cy="3483487"/>
          </a:xfrm>
        </p:spPr>
        <p:txBody>
          <a:bodyPr>
            <a:normAutofit/>
          </a:bodyPr>
          <a:lstStyle/>
          <a:p>
            <a:pPr>
              <a:lnSpc>
                <a:spcPct val="110000"/>
              </a:lnSpc>
            </a:pPr>
            <a:r>
              <a:rPr lang="en-US" altLang="en-US" sz="2800" dirty="0"/>
              <a:t>The Bell-</a:t>
            </a:r>
            <a:r>
              <a:rPr lang="en-US" altLang="en-US" sz="2800" dirty="0" err="1"/>
              <a:t>LaPadula</a:t>
            </a:r>
            <a:r>
              <a:rPr lang="en-US" altLang="en-US" sz="2800" dirty="0"/>
              <a:t> Model (1973, 1975) is a multilevel security model which works by specifying allowable paths of information flow in a secure system.</a:t>
            </a:r>
          </a:p>
          <a:p>
            <a:pPr>
              <a:lnSpc>
                <a:spcPct val="110000"/>
              </a:lnSpc>
            </a:pPr>
            <a:r>
              <a:rPr lang="en-US" altLang="en-US" sz="2800" dirty="0"/>
              <a:t>This is an important model when a system/machine has to concurrently handle data at different sensitivity levels. For example, a machine processing confidential and top-secret files at the same time.</a:t>
            </a:r>
          </a:p>
        </p:txBody>
      </p:sp>
    </p:spTree>
    <p:extLst>
      <p:ext uri="{BB962C8B-B14F-4D97-AF65-F5344CB8AC3E}">
        <p14:creationId xmlns:p14="http://schemas.microsoft.com/office/powerpoint/2010/main" val="3077678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82307">
                                            <p:txEl>
                                              <p:pRg st="0" end="0"/>
                                            </p:txEl>
                                          </p:spTgt>
                                        </p:tgtEl>
                                        <p:attrNameLst>
                                          <p:attrName>style.visibility</p:attrName>
                                        </p:attrNameLst>
                                      </p:cBhvr>
                                      <p:to>
                                        <p:strVal val="visible"/>
                                      </p:to>
                                    </p:set>
                                    <p:animEffect transition="in" filter="blinds(horizontal)">
                                      <p:cBhvr>
                                        <p:cTn id="7" dur="500"/>
                                        <p:tgtEl>
                                          <p:spTgt spid="482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82307">
                                            <p:txEl>
                                              <p:pRg st="1" end="1"/>
                                            </p:txEl>
                                          </p:spTgt>
                                        </p:tgtEl>
                                        <p:attrNameLst>
                                          <p:attrName>style.visibility</p:attrName>
                                        </p:attrNameLst>
                                      </p:cBhvr>
                                      <p:to>
                                        <p:strVal val="visible"/>
                                      </p:to>
                                    </p:set>
                                    <p:animEffect transition="in" filter="blinds(horizontal)">
                                      <p:cBhvr>
                                        <p:cTn id="12" dur="500"/>
                                        <p:tgtEl>
                                          <p:spTgt spid="482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51138745-F468-44D7-A876-3D112B690FDB}" type="slidenum">
              <a:rPr kumimoji="0" lang="en-US" altLang="en-US" sz="1400"/>
              <a:pPr>
                <a:spcBef>
                  <a:spcPct val="50000"/>
                </a:spcBef>
                <a:buClrTx/>
                <a:buSzTx/>
                <a:buFontTx/>
                <a:buNone/>
              </a:pPr>
              <a:t>11</a:t>
            </a:fld>
            <a:endParaRPr kumimoji="0" lang="en-US" altLang="en-US" sz="1400"/>
          </a:p>
        </p:txBody>
      </p:sp>
      <p:sp>
        <p:nvSpPr>
          <p:cNvPr id="573443" name="Rectangle 3"/>
          <p:cNvSpPr>
            <a:spLocks noGrp="1" noChangeArrowheads="1"/>
          </p:cNvSpPr>
          <p:nvPr>
            <p:ph type="body" idx="1"/>
          </p:nvPr>
        </p:nvSpPr>
        <p:spPr>
          <a:xfrm>
            <a:off x="851335" y="620110"/>
            <a:ext cx="10982855" cy="4771696"/>
          </a:xfrm>
        </p:spPr>
        <p:txBody>
          <a:bodyPr>
            <a:noAutofit/>
          </a:bodyPr>
          <a:lstStyle/>
          <a:p>
            <a:pPr>
              <a:lnSpc>
                <a:spcPct val="110000"/>
              </a:lnSpc>
            </a:pPr>
            <a:r>
              <a:rPr lang="en-US" altLang="en-US" sz="3200" dirty="0"/>
              <a:t>The components of the model are as follows:</a:t>
            </a:r>
            <a:endParaRPr lang="en-US" altLang="en-US" sz="4000" dirty="0"/>
          </a:p>
          <a:p>
            <a:pPr lvl="1">
              <a:lnSpc>
                <a:spcPct val="110000"/>
              </a:lnSpc>
            </a:pPr>
            <a:r>
              <a:rPr lang="en-US" altLang="en-US" sz="2800" dirty="0"/>
              <a:t>A set of objects O={O</a:t>
            </a:r>
            <a:r>
              <a:rPr lang="en-US" altLang="en-US" sz="2800" baseline="-25000" dirty="0"/>
              <a:t>i</a:t>
            </a:r>
            <a:r>
              <a:rPr lang="en-US" altLang="en-US" sz="2800" dirty="0"/>
              <a:t>}.</a:t>
            </a:r>
          </a:p>
          <a:p>
            <a:pPr lvl="1">
              <a:lnSpc>
                <a:spcPct val="115000"/>
              </a:lnSpc>
            </a:pPr>
            <a:r>
              <a:rPr lang="en-US" altLang="en-US" sz="2800" dirty="0"/>
              <a:t>A set of subjects S={S</a:t>
            </a:r>
            <a:r>
              <a:rPr lang="en-US" altLang="en-US" sz="2800" baseline="-25000" dirty="0"/>
              <a:t>i</a:t>
            </a:r>
            <a:r>
              <a:rPr lang="en-US" altLang="en-US" sz="2800" dirty="0"/>
              <a:t>}.</a:t>
            </a:r>
          </a:p>
          <a:p>
            <a:pPr lvl="1">
              <a:lnSpc>
                <a:spcPct val="115000"/>
              </a:lnSpc>
            </a:pPr>
            <a:r>
              <a:rPr lang="en-US" altLang="en-US" sz="2800" dirty="0"/>
              <a:t>A set of access operations A = {execute, read, write, append}.</a:t>
            </a:r>
          </a:p>
          <a:p>
            <a:pPr lvl="2">
              <a:lnSpc>
                <a:spcPct val="115000"/>
              </a:lnSpc>
            </a:pPr>
            <a:r>
              <a:rPr lang="en-US" altLang="en-US" sz="2800" dirty="0"/>
              <a:t>Append is writing only. Write is being allowed to read and write </a:t>
            </a:r>
            <a:r>
              <a:rPr lang="en-US" altLang="en-US" sz="2800" dirty="0">
                <a:sym typeface="Wingdings" panose="05000000000000000000" pitchFamily="2" charset="2"/>
              </a:rPr>
              <a:t></a:t>
            </a:r>
            <a:endParaRPr lang="en-US" altLang="en-US" sz="2800" dirty="0"/>
          </a:p>
          <a:p>
            <a:pPr lvl="1">
              <a:lnSpc>
                <a:spcPct val="115000"/>
              </a:lnSpc>
            </a:pPr>
            <a:r>
              <a:rPr lang="en-US" altLang="en-US" sz="2800" dirty="0"/>
              <a:t>A set of security levels L with a partial order </a:t>
            </a:r>
            <a:r>
              <a:rPr lang="en-US" altLang="en-US" sz="2800" dirty="0">
                <a:sym typeface="Symbol" panose="05050102010706020507" pitchFamily="18" charset="2"/>
              </a:rPr>
              <a:t>.</a:t>
            </a:r>
          </a:p>
          <a:p>
            <a:pPr lvl="2">
              <a:lnSpc>
                <a:spcPct val="115000"/>
              </a:lnSpc>
            </a:pPr>
            <a:r>
              <a:rPr lang="en-US" altLang="en-US" sz="2800" dirty="0">
                <a:sym typeface="Symbol" panose="05050102010706020507" pitchFamily="18" charset="2"/>
              </a:rPr>
              <a:t>(L, ) defines a lattice.</a:t>
            </a:r>
          </a:p>
          <a:p>
            <a:pPr lvl="2">
              <a:lnSpc>
                <a:spcPct val="115000"/>
              </a:lnSpc>
            </a:pPr>
            <a:r>
              <a:rPr lang="en-US" altLang="en-US" sz="2800" dirty="0"/>
              <a:t>In this simplified model the lattice is reduced to a linear structure.</a:t>
            </a:r>
          </a:p>
        </p:txBody>
      </p:sp>
    </p:spTree>
    <p:extLst>
      <p:ext uri="{BB962C8B-B14F-4D97-AF65-F5344CB8AC3E}">
        <p14:creationId xmlns:p14="http://schemas.microsoft.com/office/powerpoint/2010/main" val="1770156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73443">
                                            <p:txEl>
                                              <p:pRg st="0" end="0"/>
                                            </p:txEl>
                                          </p:spTgt>
                                        </p:tgtEl>
                                        <p:attrNameLst>
                                          <p:attrName>style.visibility</p:attrName>
                                        </p:attrNameLst>
                                      </p:cBhvr>
                                      <p:to>
                                        <p:strVal val="visible"/>
                                      </p:to>
                                    </p:set>
                                    <p:animEffect transition="in" filter="blinds(horizontal)">
                                      <p:cBhvr>
                                        <p:cTn id="7" dur="500"/>
                                        <p:tgtEl>
                                          <p:spTgt spid="573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443">
                                            <p:txEl>
                                              <p:pRg st="1" end="1"/>
                                            </p:txEl>
                                          </p:spTgt>
                                        </p:tgtEl>
                                        <p:attrNameLst>
                                          <p:attrName>style.visibility</p:attrName>
                                        </p:attrNameLst>
                                      </p:cBhvr>
                                      <p:to>
                                        <p:strVal val="visible"/>
                                      </p:to>
                                    </p:set>
                                    <p:animEffect transition="in" filter="blinds(horizontal)">
                                      <p:cBhvr>
                                        <p:cTn id="12" dur="500"/>
                                        <p:tgtEl>
                                          <p:spTgt spid="573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443">
                                            <p:txEl>
                                              <p:pRg st="2" end="2"/>
                                            </p:txEl>
                                          </p:spTgt>
                                        </p:tgtEl>
                                        <p:attrNameLst>
                                          <p:attrName>style.visibility</p:attrName>
                                        </p:attrNameLst>
                                      </p:cBhvr>
                                      <p:to>
                                        <p:strVal val="visible"/>
                                      </p:to>
                                    </p:set>
                                    <p:animEffect transition="in" filter="blinds(horizontal)">
                                      <p:cBhvr>
                                        <p:cTn id="17" dur="500"/>
                                        <p:tgtEl>
                                          <p:spTgt spid="5734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73443">
                                            <p:txEl>
                                              <p:pRg st="3" end="3"/>
                                            </p:txEl>
                                          </p:spTgt>
                                        </p:tgtEl>
                                        <p:attrNameLst>
                                          <p:attrName>style.visibility</p:attrName>
                                        </p:attrNameLst>
                                      </p:cBhvr>
                                      <p:to>
                                        <p:strVal val="visible"/>
                                      </p:to>
                                    </p:set>
                                    <p:animEffect transition="in" filter="blinds(horizontal)">
                                      <p:cBhvr>
                                        <p:cTn id="22" dur="500"/>
                                        <p:tgtEl>
                                          <p:spTgt spid="5734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73443">
                                            <p:txEl>
                                              <p:pRg st="4" end="4"/>
                                            </p:txEl>
                                          </p:spTgt>
                                        </p:tgtEl>
                                        <p:attrNameLst>
                                          <p:attrName>style.visibility</p:attrName>
                                        </p:attrNameLst>
                                      </p:cBhvr>
                                      <p:to>
                                        <p:strVal val="visible"/>
                                      </p:to>
                                    </p:set>
                                    <p:animEffect transition="in" filter="blinds(horizontal)">
                                      <p:cBhvr>
                                        <p:cTn id="27" dur="500"/>
                                        <p:tgtEl>
                                          <p:spTgt spid="5734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73443">
                                            <p:txEl>
                                              <p:pRg st="5" end="5"/>
                                            </p:txEl>
                                          </p:spTgt>
                                        </p:tgtEl>
                                        <p:attrNameLst>
                                          <p:attrName>style.visibility</p:attrName>
                                        </p:attrNameLst>
                                      </p:cBhvr>
                                      <p:to>
                                        <p:strVal val="visible"/>
                                      </p:to>
                                    </p:set>
                                    <p:animEffect transition="in" filter="blinds(horizontal)">
                                      <p:cBhvr>
                                        <p:cTn id="32" dur="500"/>
                                        <p:tgtEl>
                                          <p:spTgt spid="5734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73443">
                                            <p:txEl>
                                              <p:pRg st="6" end="6"/>
                                            </p:txEl>
                                          </p:spTgt>
                                        </p:tgtEl>
                                        <p:attrNameLst>
                                          <p:attrName>style.visibility</p:attrName>
                                        </p:attrNameLst>
                                      </p:cBhvr>
                                      <p:to>
                                        <p:strVal val="visible"/>
                                      </p:to>
                                    </p:set>
                                    <p:animEffect transition="in" filter="blinds(horizontal)">
                                      <p:cBhvr>
                                        <p:cTn id="37" dur="500"/>
                                        <p:tgtEl>
                                          <p:spTgt spid="57344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73443">
                                            <p:txEl>
                                              <p:pRg st="7" end="7"/>
                                            </p:txEl>
                                          </p:spTgt>
                                        </p:tgtEl>
                                        <p:attrNameLst>
                                          <p:attrName>style.visibility</p:attrName>
                                        </p:attrNameLst>
                                      </p:cBhvr>
                                      <p:to>
                                        <p:strVal val="visible"/>
                                      </p:to>
                                    </p:set>
                                    <p:animEffect transition="in" filter="blinds(horizontal)">
                                      <p:cBhvr>
                                        <p:cTn id="42" dur="500"/>
                                        <p:tgtEl>
                                          <p:spTgt spid="573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Lattices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a:t>A </a:t>
                </a:r>
                <a:r>
                  <a:rPr lang="en-AU" b="1" dirty="0"/>
                  <a:t>lattice</a:t>
                </a:r>
                <a:r>
                  <a:rPr lang="en-AU" dirty="0"/>
                  <a:t> (L, ≤) consists of a set L and a partial order ≤ (generally a reflexive, antisymmetric, and transitive relation), so that for every two elements a, b </a:t>
                </a:r>
                <a14:m>
                  <m:oMath xmlns:m="http://schemas.openxmlformats.org/officeDocument/2006/math">
                    <m:r>
                      <a:rPr lang="en-AU" i="1">
                        <a:latin typeface="Cambria Math" panose="02040503050406030204" pitchFamily="18" charset="0"/>
                        <a:ea typeface="Cambria Math" panose="02040503050406030204" pitchFamily="18" charset="0"/>
                      </a:rPr>
                      <m:t>∈</m:t>
                    </m:r>
                  </m:oMath>
                </a14:m>
                <a:r>
                  <a:rPr lang="en-AU" dirty="0"/>
                  <a:t> L there exists:</a:t>
                </a:r>
              </a:p>
              <a:p>
                <a:r>
                  <a:rPr lang="en-AU" dirty="0"/>
                  <a:t>A least upper bound u </a:t>
                </a:r>
                <a14:m>
                  <m:oMath xmlns:m="http://schemas.openxmlformats.org/officeDocument/2006/math">
                    <m:r>
                      <a:rPr lang="en-AU" i="1" smtClean="0">
                        <a:latin typeface="Cambria Math" panose="02040503050406030204" pitchFamily="18" charset="0"/>
                        <a:ea typeface="Cambria Math" panose="02040503050406030204" pitchFamily="18" charset="0"/>
                      </a:rPr>
                      <m:t>∈</m:t>
                    </m:r>
                  </m:oMath>
                </a14:m>
                <a:r>
                  <a:rPr lang="en-AU" dirty="0"/>
                  <a:t> L.</a:t>
                </a:r>
              </a:p>
              <a:p>
                <a:r>
                  <a:rPr lang="en-AU" dirty="0"/>
                  <a:t>A greatest lower bound l </a:t>
                </a:r>
                <a14:m>
                  <m:oMath xmlns:m="http://schemas.openxmlformats.org/officeDocument/2006/math">
                    <m:r>
                      <a:rPr lang="en-AU" i="1">
                        <a:latin typeface="Cambria Math" panose="02040503050406030204" pitchFamily="18" charset="0"/>
                        <a:ea typeface="Cambria Math" panose="02040503050406030204" pitchFamily="18" charset="0"/>
                      </a:rPr>
                      <m:t>∈</m:t>
                    </m:r>
                  </m:oMath>
                </a14:m>
                <a:r>
                  <a:rPr lang="en-AU" dirty="0"/>
                  <a:t> L.</a:t>
                </a:r>
              </a:p>
              <a:p>
                <a:r>
                  <a:rPr lang="en-AU" dirty="0"/>
                  <a:t>Formally:</a:t>
                </a:r>
              </a:p>
              <a:p>
                <a:pPr lvl="1"/>
                <a:r>
                  <a:rPr lang="en-AU" sz="2800" dirty="0"/>
                  <a:t>a ≤ u, b ≤ u, and for all v </a:t>
                </a:r>
                <a14:m>
                  <m:oMath xmlns:m="http://schemas.openxmlformats.org/officeDocument/2006/math">
                    <m:r>
                      <a:rPr lang="en-AU" sz="2800" i="1">
                        <a:latin typeface="Cambria Math" panose="02040503050406030204" pitchFamily="18" charset="0"/>
                        <a:ea typeface="Cambria Math" panose="02040503050406030204" pitchFamily="18" charset="0"/>
                      </a:rPr>
                      <m:t>∈</m:t>
                    </m:r>
                  </m:oMath>
                </a14:m>
                <a:r>
                  <a:rPr lang="en-AU" sz="2800" dirty="0"/>
                  <a:t> L : (a ≤ v </a:t>
                </a:r>
                <a:r>
                  <a:rPr lang="en-US" altLang="en-US" sz="2800" dirty="0">
                    <a:cs typeface="Arial" panose="020B0604020202020204" pitchFamily="34" charset="0"/>
                    <a:sym typeface="Symbol" panose="05050102010706020507" pitchFamily="18" charset="2"/>
                  </a:rPr>
                  <a:t></a:t>
                </a:r>
                <a:r>
                  <a:rPr lang="en-AU" sz="2800" dirty="0"/>
                  <a:t> b ≤ v) </a:t>
                </a:r>
                <a14:m>
                  <m:oMath xmlns:m="http://schemas.openxmlformats.org/officeDocument/2006/math">
                    <m:r>
                      <a:rPr lang="en-AU" sz="2800" i="1" smtClean="0">
                        <a:latin typeface="Cambria Math" panose="02040503050406030204" pitchFamily="18" charset="0"/>
                        <a:ea typeface="Cambria Math" panose="02040503050406030204" pitchFamily="18" charset="0"/>
                      </a:rPr>
                      <m:t>→</m:t>
                    </m:r>
                  </m:oMath>
                </a14:m>
                <a:r>
                  <a:rPr lang="en-AU" sz="2800" dirty="0"/>
                  <a:t> (u ≤ v)</a:t>
                </a:r>
              </a:p>
              <a:p>
                <a:pPr lvl="1"/>
                <a:r>
                  <a:rPr lang="en-AU" sz="2800" dirty="0"/>
                  <a:t>l ≤ a, l ≤ b, and for all k </a:t>
                </a:r>
                <a14:m>
                  <m:oMath xmlns:m="http://schemas.openxmlformats.org/officeDocument/2006/math">
                    <m:r>
                      <a:rPr lang="en-AU" sz="2800" i="1">
                        <a:latin typeface="Cambria Math" panose="02040503050406030204" pitchFamily="18" charset="0"/>
                        <a:ea typeface="Cambria Math" panose="02040503050406030204" pitchFamily="18" charset="0"/>
                      </a:rPr>
                      <m:t>∈</m:t>
                    </m:r>
                  </m:oMath>
                </a14:m>
                <a:r>
                  <a:rPr lang="en-AU" sz="2800" dirty="0"/>
                  <a:t> L : (k ≤ a </a:t>
                </a:r>
                <a:r>
                  <a:rPr lang="en-US" altLang="en-US" sz="2800" dirty="0">
                    <a:cs typeface="Arial" panose="020B0604020202020204" pitchFamily="34" charset="0"/>
                    <a:sym typeface="Symbol" panose="05050102010706020507" pitchFamily="18" charset="2"/>
                  </a:rPr>
                  <a:t></a:t>
                </a:r>
                <a:r>
                  <a:rPr lang="en-AU" sz="2800" dirty="0"/>
                  <a:t> k ≤ b) </a:t>
                </a:r>
                <a14:m>
                  <m:oMath xmlns:m="http://schemas.openxmlformats.org/officeDocument/2006/math">
                    <m:r>
                      <a:rPr lang="en-AU" sz="2800" i="1">
                        <a:latin typeface="Cambria Math" panose="02040503050406030204" pitchFamily="18" charset="0"/>
                        <a:ea typeface="Cambria Math" panose="02040503050406030204" pitchFamily="18" charset="0"/>
                      </a:rPr>
                      <m:t>→</m:t>
                    </m:r>
                  </m:oMath>
                </a14:m>
                <a:r>
                  <a:rPr lang="en-AU" sz="2800" dirty="0"/>
                  <a:t> (k ≤ l)</a:t>
                </a:r>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870"/>
                </a:stretch>
              </a:blipFill>
            </p:spPr>
            <p:txBody>
              <a:bodyPr/>
              <a:lstStyle/>
              <a:p>
                <a:r>
                  <a:rPr lang="en-AU">
                    <a:noFill/>
                  </a:rPr>
                  <a:t> </a:t>
                </a:r>
              </a:p>
            </p:txBody>
          </p:sp>
        </mc:Fallback>
      </mc:AlternateContent>
    </p:spTree>
    <p:extLst>
      <p:ext uri="{BB962C8B-B14F-4D97-AF65-F5344CB8AC3E}">
        <p14:creationId xmlns:p14="http://schemas.microsoft.com/office/powerpoint/2010/main" val="3400720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37B2FE95-8C72-4B23-A376-8E6E3DB3622F}" type="slidenum">
              <a:rPr kumimoji="0" lang="en-US" altLang="en-US" sz="1400"/>
              <a:pPr>
                <a:spcBef>
                  <a:spcPct val="50000"/>
                </a:spcBef>
                <a:buClrTx/>
                <a:buSzTx/>
                <a:buFontTx/>
                <a:buNone/>
              </a:pPr>
              <a:t>13</a:t>
            </a:fld>
            <a:endParaRPr kumimoji="0" lang="en-US" altLang="en-US" sz="1400"/>
          </a:p>
        </p:txBody>
      </p:sp>
      <p:sp>
        <p:nvSpPr>
          <p:cNvPr id="9219" name="Rectangle 2"/>
          <p:cNvSpPr>
            <a:spLocks noGrp="1" noChangeArrowheads="1"/>
          </p:cNvSpPr>
          <p:nvPr>
            <p:ph type="title"/>
          </p:nvPr>
        </p:nvSpPr>
        <p:spPr>
          <a:xfrm>
            <a:off x="1881189" y="333376"/>
            <a:ext cx="8588375" cy="1008063"/>
          </a:xfrm>
        </p:spPr>
        <p:txBody>
          <a:bodyPr/>
          <a:lstStyle/>
          <a:p>
            <a:r>
              <a:rPr lang="en-US" altLang="en-US" dirty="0"/>
              <a:t>Properties of the relation </a:t>
            </a:r>
            <a:r>
              <a:rPr lang="en-US" altLang="en-US" dirty="0">
                <a:cs typeface="Arial" panose="020B0604020202020204" pitchFamily="34" charset="0"/>
                <a:sym typeface="Math B" pitchFamily="2" charset="2"/>
              </a:rPr>
              <a:t>≤</a:t>
            </a:r>
            <a:endParaRPr lang="en-US" altLang="en-US" dirty="0"/>
          </a:p>
        </p:txBody>
      </p:sp>
      <p:sp>
        <p:nvSpPr>
          <p:cNvPr id="536579" name="Rectangle 3"/>
          <p:cNvSpPr>
            <a:spLocks noGrp="1" noChangeArrowheads="1"/>
          </p:cNvSpPr>
          <p:nvPr>
            <p:ph type="body" idx="1"/>
          </p:nvPr>
        </p:nvSpPr>
        <p:spPr>
          <a:xfrm flipH="1">
            <a:off x="893134" y="1500188"/>
            <a:ext cx="10417993" cy="5097462"/>
          </a:xfrm>
        </p:spPr>
        <p:txBody>
          <a:bodyPr>
            <a:normAutofit/>
          </a:bodyPr>
          <a:lstStyle/>
          <a:p>
            <a:pPr>
              <a:lnSpc>
                <a:spcPct val="115000"/>
              </a:lnSpc>
            </a:pPr>
            <a:r>
              <a:rPr lang="en-US" altLang="en-US" sz="3200" dirty="0"/>
              <a:t>Reflexive: a </a:t>
            </a:r>
            <a:r>
              <a:rPr lang="en-US" altLang="en-US" sz="3200" dirty="0">
                <a:cs typeface="Arial" panose="020B0604020202020204" pitchFamily="34" charset="0"/>
                <a:sym typeface="Math B" pitchFamily="2" charset="2"/>
              </a:rPr>
              <a:t>≤</a:t>
            </a:r>
            <a:r>
              <a:rPr lang="en-US" altLang="en-US" sz="3200" dirty="0"/>
              <a:t> a.</a:t>
            </a:r>
          </a:p>
          <a:p>
            <a:pPr>
              <a:lnSpc>
                <a:spcPct val="115000"/>
              </a:lnSpc>
            </a:pPr>
            <a:r>
              <a:rPr lang="en-US" altLang="en-US" sz="3200" dirty="0"/>
              <a:t>Antisymmetric: </a:t>
            </a:r>
            <a:r>
              <a:rPr lang="en-US" altLang="en-US" sz="3200" dirty="0">
                <a:sym typeface="Math B" pitchFamily="2" charset="2"/>
              </a:rPr>
              <a:t>If a </a:t>
            </a:r>
            <a:r>
              <a:rPr lang="en-US" altLang="en-US" sz="3200" dirty="0">
                <a:cs typeface="Arial" panose="020B0604020202020204" pitchFamily="34" charset="0"/>
                <a:sym typeface="Math B" pitchFamily="2" charset="2"/>
              </a:rPr>
              <a:t>≤</a:t>
            </a:r>
            <a:r>
              <a:rPr lang="en-US" altLang="en-US" sz="3200" dirty="0">
                <a:sym typeface="Math B" pitchFamily="2" charset="2"/>
              </a:rPr>
              <a:t> b and b </a:t>
            </a:r>
            <a:r>
              <a:rPr lang="en-US" altLang="en-US" sz="3200" dirty="0">
                <a:cs typeface="Arial" panose="020B0604020202020204" pitchFamily="34" charset="0"/>
                <a:sym typeface="Math B" pitchFamily="2" charset="2"/>
              </a:rPr>
              <a:t>≤</a:t>
            </a:r>
            <a:r>
              <a:rPr lang="en-US" altLang="en-US" sz="3200" dirty="0">
                <a:sym typeface="Math B" pitchFamily="2" charset="2"/>
              </a:rPr>
              <a:t> a then a = b.</a:t>
            </a:r>
            <a:endParaRPr lang="en-US" altLang="en-US" sz="3200" dirty="0"/>
          </a:p>
          <a:p>
            <a:pPr>
              <a:lnSpc>
                <a:spcPct val="115000"/>
              </a:lnSpc>
            </a:pPr>
            <a:r>
              <a:rPr lang="en-US" altLang="en-US" sz="3200" dirty="0"/>
              <a:t>Transitive: If a </a:t>
            </a:r>
            <a:r>
              <a:rPr lang="en-US" altLang="en-US" sz="3200" dirty="0">
                <a:cs typeface="Arial" panose="020B0604020202020204" pitchFamily="34" charset="0"/>
                <a:sym typeface="Math B" pitchFamily="2" charset="2"/>
              </a:rPr>
              <a:t>≤</a:t>
            </a:r>
            <a:r>
              <a:rPr lang="en-US" altLang="en-US" sz="3200" dirty="0">
                <a:sym typeface="Math B" pitchFamily="2" charset="2"/>
              </a:rPr>
              <a:t> b and b </a:t>
            </a:r>
            <a:r>
              <a:rPr lang="en-US" altLang="en-US" sz="3200" dirty="0">
                <a:cs typeface="Arial" panose="020B0604020202020204" pitchFamily="34" charset="0"/>
                <a:sym typeface="Math B" pitchFamily="2" charset="2"/>
              </a:rPr>
              <a:t>≤</a:t>
            </a:r>
            <a:r>
              <a:rPr lang="en-US" altLang="en-US" sz="3200" dirty="0">
                <a:sym typeface="Math B" pitchFamily="2" charset="2"/>
              </a:rPr>
              <a:t> c then a </a:t>
            </a:r>
            <a:r>
              <a:rPr lang="en-US" altLang="en-US" sz="3200" dirty="0">
                <a:cs typeface="Arial" panose="020B0604020202020204" pitchFamily="34" charset="0"/>
                <a:sym typeface="Math B" pitchFamily="2" charset="2"/>
              </a:rPr>
              <a:t>≤</a:t>
            </a:r>
            <a:r>
              <a:rPr lang="en-US" altLang="en-US" sz="3200" dirty="0">
                <a:sym typeface="Math B" pitchFamily="2" charset="2"/>
              </a:rPr>
              <a:t> c.</a:t>
            </a:r>
            <a:endParaRPr lang="en-US" altLang="en-US" sz="3200" dirty="0"/>
          </a:p>
          <a:p>
            <a:pPr>
              <a:lnSpc>
                <a:spcPct val="115000"/>
              </a:lnSpc>
            </a:pPr>
            <a:r>
              <a:rPr lang="en-US" altLang="en-US" sz="3200" dirty="0"/>
              <a:t>An important term:</a:t>
            </a:r>
          </a:p>
          <a:p>
            <a:pPr lvl="1">
              <a:lnSpc>
                <a:spcPct val="115000"/>
              </a:lnSpc>
            </a:pPr>
            <a:r>
              <a:rPr lang="en-US" altLang="en-US" sz="3000" dirty="0"/>
              <a:t>If a </a:t>
            </a:r>
            <a:r>
              <a:rPr lang="en-US" altLang="en-US" sz="3000" dirty="0">
                <a:cs typeface="Arial" panose="020B0604020202020204" pitchFamily="34" charset="0"/>
                <a:sym typeface="Math B" pitchFamily="2" charset="2"/>
              </a:rPr>
              <a:t>≤</a:t>
            </a:r>
            <a:r>
              <a:rPr lang="en-US" altLang="en-US" sz="3000" dirty="0">
                <a:sym typeface="Math B" pitchFamily="2" charset="2"/>
              </a:rPr>
              <a:t> b, b dominates a </a:t>
            </a:r>
            <a:r>
              <a:rPr lang="en-US" altLang="en-US" sz="3000" dirty="0">
                <a:sym typeface="Wingdings" panose="05000000000000000000" pitchFamily="2" charset="2"/>
              </a:rPr>
              <a:t> b </a:t>
            </a:r>
            <a:r>
              <a:rPr lang="en-US" altLang="en-US" sz="3000" i="1" dirty="0" err="1">
                <a:sym typeface="Wingdings" panose="05000000000000000000" pitchFamily="2" charset="2"/>
              </a:rPr>
              <a:t>dom</a:t>
            </a:r>
            <a:r>
              <a:rPr lang="en-US" altLang="en-US" sz="3000" dirty="0">
                <a:sym typeface="Wingdings" panose="05000000000000000000" pitchFamily="2" charset="2"/>
              </a:rPr>
              <a:t> a</a:t>
            </a:r>
            <a:endParaRPr lang="en-US" altLang="en-US" sz="3000" dirty="0">
              <a:sym typeface="Math B" pitchFamily="2" charset="2"/>
            </a:endParaRPr>
          </a:p>
          <a:p>
            <a:pPr marL="819150" lvl="1">
              <a:lnSpc>
                <a:spcPct val="115000"/>
              </a:lnSpc>
            </a:pPr>
            <a:r>
              <a:rPr lang="en-US" altLang="en-US" sz="2800" dirty="0"/>
              <a:t>Domination can be interpreted as meaning requiring a higher security level.</a:t>
            </a:r>
          </a:p>
        </p:txBody>
      </p:sp>
    </p:spTree>
    <p:extLst>
      <p:ext uri="{BB962C8B-B14F-4D97-AF65-F5344CB8AC3E}">
        <p14:creationId xmlns:p14="http://schemas.microsoft.com/office/powerpoint/2010/main" val="959926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36579">
                                            <p:txEl>
                                              <p:pRg st="0" end="0"/>
                                            </p:txEl>
                                          </p:spTgt>
                                        </p:tgtEl>
                                        <p:attrNameLst>
                                          <p:attrName>style.visibility</p:attrName>
                                        </p:attrNameLst>
                                      </p:cBhvr>
                                      <p:to>
                                        <p:strVal val="visible"/>
                                      </p:to>
                                    </p:set>
                                    <p:animEffect transition="in" filter="blinds(horizontal)">
                                      <p:cBhvr>
                                        <p:cTn id="7" dur="500"/>
                                        <p:tgtEl>
                                          <p:spTgt spid="536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6579">
                                            <p:txEl>
                                              <p:pRg st="1" end="1"/>
                                            </p:txEl>
                                          </p:spTgt>
                                        </p:tgtEl>
                                        <p:attrNameLst>
                                          <p:attrName>style.visibility</p:attrName>
                                        </p:attrNameLst>
                                      </p:cBhvr>
                                      <p:to>
                                        <p:strVal val="visible"/>
                                      </p:to>
                                    </p:set>
                                    <p:animEffect transition="in" filter="blinds(horizontal)">
                                      <p:cBhvr>
                                        <p:cTn id="12" dur="500"/>
                                        <p:tgtEl>
                                          <p:spTgt spid="5365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6579">
                                            <p:txEl>
                                              <p:pRg st="2" end="2"/>
                                            </p:txEl>
                                          </p:spTgt>
                                        </p:tgtEl>
                                        <p:attrNameLst>
                                          <p:attrName>style.visibility</p:attrName>
                                        </p:attrNameLst>
                                      </p:cBhvr>
                                      <p:to>
                                        <p:strVal val="visible"/>
                                      </p:to>
                                    </p:set>
                                    <p:animEffect transition="in" filter="blinds(horizontal)">
                                      <p:cBhvr>
                                        <p:cTn id="17" dur="500"/>
                                        <p:tgtEl>
                                          <p:spTgt spid="5365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6579">
                                            <p:txEl>
                                              <p:pRg st="3" end="3"/>
                                            </p:txEl>
                                          </p:spTgt>
                                        </p:tgtEl>
                                        <p:attrNameLst>
                                          <p:attrName>style.visibility</p:attrName>
                                        </p:attrNameLst>
                                      </p:cBhvr>
                                      <p:to>
                                        <p:strVal val="visible"/>
                                      </p:to>
                                    </p:set>
                                    <p:animEffect transition="in" filter="blinds(horizontal)">
                                      <p:cBhvr>
                                        <p:cTn id="22" dur="500"/>
                                        <p:tgtEl>
                                          <p:spTgt spid="536579">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36579">
                                            <p:txEl>
                                              <p:pRg st="4" end="4"/>
                                            </p:txEl>
                                          </p:spTgt>
                                        </p:tgtEl>
                                        <p:attrNameLst>
                                          <p:attrName>style.visibility</p:attrName>
                                        </p:attrNameLst>
                                      </p:cBhvr>
                                      <p:to>
                                        <p:strVal val="visible"/>
                                      </p:to>
                                    </p:set>
                                    <p:animEffect transition="in" filter="blinds(horizontal)">
                                      <p:cBhvr>
                                        <p:cTn id="25" dur="500"/>
                                        <p:tgtEl>
                                          <p:spTgt spid="536579">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36579">
                                            <p:txEl>
                                              <p:pRg st="5" end="5"/>
                                            </p:txEl>
                                          </p:spTgt>
                                        </p:tgtEl>
                                        <p:attrNameLst>
                                          <p:attrName>style.visibility</p:attrName>
                                        </p:attrNameLst>
                                      </p:cBhvr>
                                      <p:to>
                                        <p:strVal val="visible"/>
                                      </p:to>
                                    </p:set>
                                    <p:animEffect transition="in" filter="blinds(horizontal)">
                                      <p:cBhvr>
                                        <p:cTn id="28" dur="500"/>
                                        <p:tgtEl>
                                          <p:spTgt spid="536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279650" y="404813"/>
            <a:ext cx="7772400" cy="1143000"/>
          </a:xfrm>
        </p:spPr>
        <p:txBody>
          <a:bodyPr/>
          <a:lstStyle/>
          <a:p>
            <a:r>
              <a:rPr lang="en-AU" altLang="en-US" dirty="0"/>
              <a:t>Another example</a:t>
            </a:r>
          </a:p>
        </p:txBody>
      </p:sp>
      <p:sp>
        <p:nvSpPr>
          <p:cNvPr id="11267" name="Content Placeholder 2"/>
          <p:cNvSpPr>
            <a:spLocks noGrp="1" noRot="1" noChangeAspect="1" noMove="1" noResize="1" noEditPoints="1" noAdjustHandles="1" noChangeArrowheads="1" noChangeShapeType="1" noTextEdit="1"/>
          </p:cNvSpPr>
          <p:nvPr>
            <p:ph idx="1"/>
          </p:nvPr>
        </p:nvSpPr>
        <p:spPr>
          <a:xfrm>
            <a:off x="2303463" y="1866900"/>
            <a:ext cx="7772400" cy="4114800"/>
          </a:xfrm>
          <a:blipFill>
            <a:blip r:embed="rId3"/>
            <a:stretch>
              <a:fillRect l="-941" t="-1926" r="-2118"/>
            </a:stretch>
          </a:blipFill>
        </p:spPr>
        <p:txBody>
          <a:bodyPr/>
          <a:lstStyle/>
          <a:p>
            <a:r>
              <a:rPr lang="en-AU">
                <a:noFill/>
              </a:rPr>
              <a:t> </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B9BECB35-4A76-4B6E-9D7F-2C50EE1C03B1}" type="slidenum">
              <a:rPr kumimoji="0" lang="en-US" altLang="en-US" sz="1400"/>
              <a:pPr>
                <a:spcBef>
                  <a:spcPct val="50000"/>
                </a:spcBef>
                <a:buClrTx/>
                <a:buSzTx/>
                <a:buFontTx/>
                <a:buNone/>
              </a:pPr>
              <a:t>14</a:t>
            </a:fld>
            <a:endParaRPr kumimoji="0" lang="en-US" altLang="en-US" sz="1400"/>
          </a:p>
        </p:txBody>
      </p:sp>
    </p:spTree>
    <p:extLst>
      <p:ext uri="{BB962C8B-B14F-4D97-AF65-F5344CB8AC3E}">
        <p14:creationId xmlns:p14="http://schemas.microsoft.com/office/powerpoint/2010/main" val="3552388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424113" y="404813"/>
            <a:ext cx="7772400" cy="1143000"/>
          </a:xfrm>
        </p:spPr>
        <p:txBody>
          <a:bodyPr>
            <a:normAutofit/>
          </a:bodyPr>
          <a:lstStyle/>
          <a:p>
            <a:r>
              <a:rPr lang="en-AU" altLang="en-US"/>
              <a:t>Lattice diagram for S = {1,2,3}</a:t>
            </a:r>
          </a:p>
        </p:txBody>
      </p:sp>
      <p:sp>
        <p:nvSpPr>
          <p:cNvPr id="3" name="Content Placeholder 2"/>
          <p:cNvSpPr>
            <a:spLocks noGrp="1" noRot="1" noChangeAspect="1" noMove="1" noResize="1" noEditPoints="1" noAdjustHandles="1" noChangeArrowheads="1" noChangeShapeType="1" noTextEdit="1"/>
          </p:cNvSpPr>
          <p:nvPr>
            <p:ph idx="1"/>
          </p:nvPr>
        </p:nvSpPr>
        <p:spPr>
          <a:xfrm>
            <a:off x="2401888" y="1558075"/>
            <a:ext cx="7772400" cy="4114800"/>
          </a:xfrm>
          <a:blipFill>
            <a:blip r:embed="rId3"/>
            <a:stretch>
              <a:fillRect l="-863" t="-1926"/>
            </a:stretch>
          </a:blipFill>
        </p:spPr>
        <p:txBody>
          <a:bodyPr/>
          <a:lstStyle/>
          <a:p>
            <a:pPr>
              <a:defRPr/>
            </a:pPr>
            <a:r>
              <a:rPr lang="en-AU">
                <a:noFill/>
              </a:rPr>
              <a:t> </a:t>
            </a: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09E3EE3D-B8A8-442B-9D99-2271AA3C2834}" type="slidenum">
              <a:rPr kumimoji="0" lang="en-US" altLang="en-US" sz="1400"/>
              <a:pPr>
                <a:spcBef>
                  <a:spcPct val="50000"/>
                </a:spcBef>
                <a:buClrTx/>
                <a:buSzTx/>
                <a:buFontTx/>
                <a:buNone/>
              </a:pPr>
              <a:t>15</a:t>
            </a:fld>
            <a:endParaRPr kumimoji="0" lang="en-US" altLang="en-US" sz="1400"/>
          </a:p>
        </p:txBody>
      </p:sp>
    </p:spTree>
    <p:extLst>
      <p:ext uri="{BB962C8B-B14F-4D97-AF65-F5344CB8AC3E}">
        <p14:creationId xmlns:p14="http://schemas.microsoft.com/office/powerpoint/2010/main" val="2320615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9D23482-B317-4747-9274-8ACA0ACB1CEC}" type="slidenum">
              <a:rPr kumimoji="0" lang="en-US" altLang="en-US" sz="1400"/>
              <a:pPr>
                <a:spcBef>
                  <a:spcPct val="50000"/>
                </a:spcBef>
                <a:buClrTx/>
                <a:buSzTx/>
                <a:buFontTx/>
                <a:buNone/>
              </a:pPr>
              <a:t>16</a:t>
            </a:fld>
            <a:endParaRPr kumimoji="0" lang="en-US" altLang="en-US" sz="1400"/>
          </a:p>
        </p:txBody>
      </p:sp>
      <p:sp>
        <p:nvSpPr>
          <p:cNvPr id="5" name="Text Box 11"/>
          <p:cNvSpPr txBox="1">
            <a:spLocks noChangeArrowheads="1"/>
          </p:cNvSpPr>
          <p:nvPr/>
        </p:nvSpPr>
        <p:spPr bwMode="auto">
          <a:xfrm>
            <a:off x="5184775" y="5589589"/>
            <a:ext cx="8191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a:t>
            </a:r>
            <a:r>
              <a:rPr kumimoji="0" lang="en-AU" altLang="en-US" sz="2800"/>
              <a:t>}</a:t>
            </a:r>
          </a:p>
        </p:txBody>
      </p:sp>
      <p:sp>
        <p:nvSpPr>
          <p:cNvPr id="6" name="Text Box 11"/>
          <p:cNvSpPr txBox="1">
            <a:spLocks noChangeArrowheads="1"/>
          </p:cNvSpPr>
          <p:nvPr/>
        </p:nvSpPr>
        <p:spPr bwMode="auto">
          <a:xfrm>
            <a:off x="3503614" y="4221164"/>
            <a:ext cx="725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1</a:t>
            </a:r>
            <a:r>
              <a:rPr kumimoji="0" lang="en-AU" altLang="en-US" sz="2800"/>
              <a:t>}</a:t>
            </a:r>
          </a:p>
        </p:txBody>
      </p:sp>
      <p:sp>
        <p:nvSpPr>
          <p:cNvPr id="7" name="Text Box 11"/>
          <p:cNvSpPr txBox="1">
            <a:spLocks noChangeArrowheads="1"/>
          </p:cNvSpPr>
          <p:nvPr/>
        </p:nvSpPr>
        <p:spPr bwMode="auto">
          <a:xfrm>
            <a:off x="5232400" y="4216400"/>
            <a:ext cx="7239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2</a:t>
            </a:r>
            <a:r>
              <a:rPr kumimoji="0" lang="en-AU" altLang="en-US" sz="2800"/>
              <a:t>}</a:t>
            </a:r>
          </a:p>
        </p:txBody>
      </p:sp>
      <p:sp>
        <p:nvSpPr>
          <p:cNvPr id="8" name="Text Box 11"/>
          <p:cNvSpPr txBox="1">
            <a:spLocks noChangeArrowheads="1"/>
          </p:cNvSpPr>
          <p:nvPr/>
        </p:nvSpPr>
        <p:spPr bwMode="auto">
          <a:xfrm>
            <a:off x="7037388" y="4216400"/>
            <a:ext cx="7239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3</a:t>
            </a:r>
            <a:r>
              <a:rPr kumimoji="0" lang="en-AU" altLang="en-US" sz="2800"/>
              <a:t>}</a:t>
            </a:r>
          </a:p>
        </p:txBody>
      </p:sp>
      <p:sp>
        <p:nvSpPr>
          <p:cNvPr id="9" name="Text Box 11"/>
          <p:cNvSpPr txBox="1">
            <a:spLocks noChangeArrowheads="1"/>
          </p:cNvSpPr>
          <p:nvPr/>
        </p:nvSpPr>
        <p:spPr bwMode="auto">
          <a:xfrm>
            <a:off x="3408364" y="2689225"/>
            <a:ext cx="1025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1,2</a:t>
            </a:r>
            <a:r>
              <a:rPr kumimoji="0" lang="en-AU" altLang="en-US" sz="2800"/>
              <a:t>}</a:t>
            </a:r>
          </a:p>
        </p:txBody>
      </p:sp>
      <p:sp>
        <p:nvSpPr>
          <p:cNvPr id="10" name="Text Box 11"/>
          <p:cNvSpPr txBox="1">
            <a:spLocks noChangeArrowheads="1"/>
          </p:cNvSpPr>
          <p:nvPr/>
        </p:nvSpPr>
        <p:spPr bwMode="auto">
          <a:xfrm>
            <a:off x="5129214" y="2716214"/>
            <a:ext cx="1025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 {</a:t>
            </a:r>
            <a:r>
              <a:rPr kumimoji="0" lang="en-AU" altLang="en-US" sz="2800">
                <a:sym typeface="Symbol" panose="05050102010706020507" pitchFamily="18" charset="2"/>
              </a:rPr>
              <a:t>1,3</a:t>
            </a:r>
            <a:r>
              <a:rPr kumimoji="0" lang="en-AU" altLang="en-US" sz="2800"/>
              <a:t>}</a:t>
            </a:r>
          </a:p>
        </p:txBody>
      </p:sp>
      <p:sp>
        <p:nvSpPr>
          <p:cNvPr id="11" name="Text Box 11"/>
          <p:cNvSpPr txBox="1">
            <a:spLocks noChangeArrowheads="1"/>
          </p:cNvSpPr>
          <p:nvPr/>
        </p:nvSpPr>
        <p:spPr bwMode="auto">
          <a:xfrm>
            <a:off x="6737350" y="2711451"/>
            <a:ext cx="1023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dirty="0"/>
              <a:t> {</a:t>
            </a:r>
            <a:r>
              <a:rPr kumimoji="0" lang="en-AU" altLang="en-US" sz="2800" dirty="0">
                <a:sym typeface="Symbol" panose="05050102010706020507" pitchFamily="18" charset="2"/>
              </a:rPr>
              <a:t>2,3</a:t>
            </a:r>
            <a:r>
              <a:rPr kumimoji="0" lang="en-AU" altLang="en-US" sz="2800" dirty="0"/>
              <a:t>}</a:t>
            </a:r>
          </a:p>
        </p:txBody>
      </p:sp>
      <p:sp>
        <p:nvSpPr>
          <p:cNvPr id="12" name="Text Box 11"/>
          <p:cNvSpPr txBox="1">
            <a:spLocks noChangeArrowheads="1"/>
          </p:cNvSpPr>
          <p:nvPr/>
        </p:nvSpPr>
        <p:spPr bwMode="auto">
          <a:xfrm>
            <a:off x="4746625" y="908051"/>
            <a:ext cx="1773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0"/>
              </a:spcBef>
              <a:buClrTx/>
              <a:buSzTx/>
              <a:buFontTx/>
              <a:buNone/>
            </a:pPr>
            <a:r>
              <a:rPr kumimoji="0" lang="en-AU" altLang="en-US" sz="2800"/>
              <a:t>S= {</a:t>
            </a:r>
            <a:r>
              <a:rPr kumimoji="0" lang="en-AU" altLang="en-US" sz="2800">
                <a:sym typeface="Symbol" panose="05050102010706020507" pitchFamily="18" charset="2"/>
              </a:rPr>
              <a:t>1,2,3</a:t>
            </a:r>
            <a:r>
              <a:rPr kumimoji="0" lang="en-AU" altLang="en-US" sz="2800"/>
              <a:t>}</a:t>
            </a:r>
          </a:p>
        </p:txBody>
      </p:sp>
      <p:cxnSp>
        <p:nvCxnSpPr>
          <p:cNvPr id="15371" name="Straight Arrow Connector 13"/>
          <p:cNvCxnSpPr>
            <a:cxnSpLocks noChangeShapeType="1"/>
            <a:stCxn id="5" idx="0"/>
            <a:endCxn id="7" idx="2"/>
          </p:cNvCxnSpPr>
          <p:nvPr/>
        </p:nvCxnSpPr>
        <p:spPr bwMode="auto">
          <a:xfrm flipV="1">
            <a:off x="5594350" y="4738688"/>
            <a:ext cx="0" cy="85090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2" name="Straight Arrow Connector 17"/>
          <p:cNvCxnSpPr>
            <a:cxnSpLocks noChangeShapeType="1"/>
            <a:stCxn id="5" idx="0"/>
            <a:endCxn id="8" idx="2"/>
          </p:cNvCxnSpPr>
          <p:nvPr/>
        </p:nvCxnSpPr>
        <p:spPr bwMode="auto">
          <a:xfrm flipV="1">
            <a:off x="5594350" y="4738688"/>
            <a:ext cx="1804988" cy="85090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3" name="Straight Arrow Connector 20"/>
          <p:cNvCxnSpPr>
            <a:cxnSpLocks noChangeShapeType="1"/>
            <a:stCxn id="5" idx="0"/>
            <a:endCxn id="6" idx="2"/>
          </p:cNvCxnSpPr>
          <p:nvPr/>
        </p:nvCxnSpPr>
        <p:spPr bwMode="auto">
          <a:xfrm flipH="1" flipV="1">
            <a:off x="3865564" y="4745038"/>
            <a:ext cx="1728787" cy="84455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4" name="Straight Arrow Connector 23"/>
          <p:cNvCxnSpPr>
            <a:cxnSpLocks noChangeShapeType="1"/>
            <a:stCxn id="6" idx="0"/>
            <a:endCxn id="9" idx="2"/>
          </p:cNvCxnSpPr>
          <p:nvPr/>
        </p:nvCxnSpPr>
        <p:spPr bwMode="auto">
          <a:xfrm flipV="1">
            <a:off x="3865563" y="3211513"/>
            <a:ext cx="55562" cy="100965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5" name="Straight Arrow Connector 26"/>
          <p:cNvCxnSpPr>
            <a:cxnSpLocks noChangeShapeType="1"/>
            <a:stCxn id="6" idx="0"/>
            <a:endCxn id="10" idx="2"/>
          </p:cNvCxnSpPr>
          <p:nvPr/>
        </p:nvCxnSpPr>
        <p:spPr bwMode="auto">
          <a:xfrm flipV="1">
            <a:off x="3865563" y="3240089"/>
            <a:ext cx="1776412" cy="981075"/>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6" name="Straight Arrow Connector 29"/>
          <p:cNvCxnSpPr>
            <a:cxnSpLocks noChangeShapeType="1"/>
            <a:stCxn id="7" idx="0"/>
            <a:endCxn id="9" idx="2"/>
          </p:cNvCxnSpPr>
          <p:nvPr/>
        </p:nvCxnSpPr>
        <p:spPr bwMode="auto">
          <a:xfrm flipH="1" flipV="1">
            <a:off x="3921126" y="3211514"/>
            <a:ext cx="1673225" cy="1004887"/>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7" name="Straight Arrow Connector 32"/>
          <p:cNvCxnSpPr>
            <a:cxnSpLocks noChangeShapeType="1"/>
            <a:stCxn id="7" idx="0"/>
            <a:endCxn id="11" idx="2"/>
          </p:cNvCxnSpPr>
          <p:nvPr/>
        </p:nvCxnSpPr>
        <p:spPr bwMode="auto">
          <a:xfrm flipV="1">
            <a:off x="5594351" y="3235326"/>
            <a:ext cx="1655763" cy="981075"/>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8" name="Straight Arrow Connector 35"/>
          <p:cNvCxnSpPr>
            <a:cxnSpLocks noChangeShapeType="1"/>
            <a:stCxn id="8" idx="0"/>
            <a:endCxn id="10" idx="2"/>
          </p:cNvCxnSpPr>
          <p:nvPr/>
        </p:nvCxnSpPr>
        <p:spPr bwMode="auto">
          <a:xfrm flipH="1" flipV="1">
            <a:off x="5641976" y="3240088"/>
            <a:ext cx="1757363" cy="976312"/>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9" name="Straight Arrow Connector 38"/>
          <p:cNvCxnSpPr>
            <a:cxnSpLocks noChangeShapeType="1"/>
            <a:stCxn id="8" idx="0"/>
            <a:endCxn id="11" idx="2"/>
          </p:cNvCxnSpPr>
          <p:nvPr/>
        </p:nvCxnSpPr>
        <p:spPr bwMode="auto">
          <a:xfrm flipH="1" flipV="1">
            <a:off x="7250114" y="3235326"/>
            <a:ext cx="149225" cy="981075"/>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0" name="Straight Arrow Connector 41"/>
          <p:cNvCxnSpPr>
            <a:cxnSpLocks noChangeShapeType="1"/>
            <a:stCxn id="9" idx="0"/>
            <a:endCxn id="12" idx="2"/>
          </p:cNvCxnSpPr>
          <p:nvPr/>
        </p:nvCxnSpPr>
        <p:spPr bwMode="auto">
          <a:xfrm flipV="1">
            <a:off x="3921126" y="1431925"/>
            <a:ext cx="1712913" cy="125730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1" name="Straight Arrow Connector 44"/>
          <p:cNvCxnSpPr>
            <a:cxnSpLocks noChangeShapeType="1"/>
            <a:stCxn id="10" idx="0"/>
            <a:endCxn id="12" idx="2"/>
          </p:cNvCxnSpPr>
          <p:nvPr/>
        </p:nvCxnSpPr>
        <p:spPr bwMode="auto">
          <a:xfrm flipH="1" flipV="1">
            <a:off x="5634039" y="1431925"/>
            <a:ext cx="7937" cy="1284288"/>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2" name="Straight Arrow Connector 47"/>
          <p:cNvCxnSpPr>
            <a:cxnSpLocks noChangeShapeType="1"/>
            <a:stCxn id="11" idx="0"/>
            <a:endCxn id="12" idx="2"/>
          </p:cNvCxnSpPr>
          <p:nvPr/>
        </p:nvCxnSpPr>
        <p:spPr bwMode="auto">
          <a:xfrm flipH="1" flipV="1">
            <a:off x="5634039" y="1431926"/>
            <a:ext cx="1616075" cy="1279525"/>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53008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par>
                          <p:cTn id="20" fill="hold" nodeType="afterGroup">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childTnLst>
                          </p:cTn>
                        </p:par>
                        <p:par>
                          <p:cTn id="24" fill="hold" nodeType="afterGroup">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par>
                          <p:cTn id="28" fill="hold" nodeType="afterGroup">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childTnLst>
                          </p:cTn>
                        </p:par>
                        <p:par>
                          <p:cTn id="32" fill="hold" nodeType="afterGroup">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A8801520-16EE-4F75-B639-85D74CD6F362}" type="slidenum">
              <a:rPr kumimoji="0" lang="en-US" altLang="en-US" sz="1400"/>
              <a:pPr>
                <a:spcBef>
                  <a:spcPct val="50000"/>
                </a:spcBef>
                <a:buClrTx/>
                <a:buSzTx/>
                <a:buFontTx/>
                <a:buNone/>
              </a:pPr>
              <a:t>17</a:t>
            </a:fld>
            <a:endParaRPr kumimoji="0" lang="en-US" altLang="en-US" sz="1400"/>
          </a:p>
        </p:txBody>
      </p:sp>
      <p:sp>
        <p:nvSpPr>
          <p:cNvPr id="13315" name="Rectangle 2"/>
          <p:cNvSpPr>
            <a:spLocks noGrp="1" noChangeArrowheads="1"/>
          </p:cNvSpPr>
          <p:nvPr>
            <p:ph type="title"/>
          </p:nvPr>
        </p:nvSpPr>
        <p:spPr>
          <a:xfrm>
            <a:off x="1042988" y="136361"/>
            <a:ext cx="7772400" cy="1143000"/>
          </a:xfrm>
        </p:spPr>
        <p:txBody>
          <a:bodyPr/>
          <a:lstStyle/>
          <a:p>
            <a:r>
              <a:rPr lang="en-AU" altLang="en-US" dirty="0"/>
              <a:t>BLP system state</a:t>
            </a:r>
          </a:p>
        </p:txBody>
      </p:sp>
      <p:sp>
        <p:nvSpPr>
          <p:cNvPr id="517123" name="Rectangle 3"/>
          <p:cNvSpPr>
            <a:spLocks noGrp="1" noChangeArrowheads="1"/>
          </p:cNvSpPr>
          <p:nvPr>
            <p:ph type="body" idx="1"/>
          </p:nvPr>
        </p:nvSpPr>
        <p:spPr>
          <a:xfrm>
            <a:off x="1042987" y="1279361"/>
            <a:ext cx="10570943" cy="5445125"/>
          </a:xfrm>
        </p:spPr>
        <p:txBody>
          <a:bodyPr>
            <a:normAutofit/>
          </a:bodyPr>
          <a:lstStyle/>
          <a:p>
            <a:pPr>
              <a:lnSpc>
                <a:spcPct val="90000"/>
              </a:lnSpc>
            </a:pPr>
            <a:r>
              <a:rPr lang="en-AU" altLang="en-US" sz="3200" dirty="0"/>
              <a:t>The state of a system is described by the 4-tuple (</a:t>
            </a:r>
            <a:r>
              <a:rPr lang="en-AU" altLang="en-US" sz="3200" dirty="0" err="1"/>
              <a:t>b,M,f,H</a:t>
            </a:r>
            <a:r>
              <a:rPr lang="en-AU" altLang="en-US" sz="3200" dirty="0"/>
              <a:t>):</a:t>
            </a:r>
          </a:p>
          <a:p>
            <a:pPr>
              <a:lnSpc>
                <a:spcPct val="90000"/>
              </a:lnSpc>
            </a:pPr>
            <a:r>
              <a:rPr lang="en-AU" altLang="en-US" sz="3200" b="1" dirty="0"/>
              <a:t>Current access set</a:t>
            </a:r>
            <a:r>
              <a:rPr lang="en-AU" altLang="en-US" sz="3200" dirty="0"/>
              <a:t> b:</a:t>
            </a:r>
          </a:p>
          <a:p>
            <a:pPr lvl="1">
              <a:lnSpc>
                <a:spcPct val="90000"/>
              </a:lnSpc>
            </a:pPr>
            <a:r>
              <a:rPr lang="en-AU" altLang="en-US" sz="2800" dirty="0"/>
              <a:t>Triples (subject, object, operation).</a:t>
            </a:r>
          </a:p>
          <a:p>
            <a:pPr lvl="1">
              <a:lnSpc>
                <a:spcPct val="90000"/>
              </a:lnSpc>
            </a:pPr>
            <a:r>
              <a:rPr lang="en-AU" altLang="en-US" sz="2800" dirty="0"/>
              <a:t>The triple (</a:t>
            </a:r>
            <a:r>
              <a:rPr lang="en-AU" altLang="en-US" sz="2800" dirty="0" err="1"/>
              <a:t>S</a:t>
            </a:r>
            <a:r>
              <a:rPr lang="en-AU" altLang="en-US" sz="2800" baseline="-25000" dirty="0" err="1"/>
              <a:t>i</a:t>
            </a:r>
            <a:r>
              <a:rPr lang="en-AU" altLang="en-US" sz="2800" dirty="0" err="1"/>
              <a:t>,O</a:t>
            </a:r>
            <a:r>
              <a:rPr lang="en-AU" altLang="en-US" sz="2800" baseline="-25000" dirty="0" err="1"/>
              <a:t>j</a:t>
            </a:r>
            <a:r>
              <a:rPr lang="en-AU" altLang="en-US" sz="2800" dirty="0" err="1"/>
              <a:t>,a</a:t>
            </a:r>
            <a:r>
              <a:rPr lang="en-AU" altLang="en-US" sz="2800" dirty="0"/>
              <a:t>) is interpreted as “S</a:t>
            </a:r>
            <a:r>
              <a:rPr lang="en-AU" altLang="en-US" sz="2800" baseline="-25000" dirty="0"/>
              <a:t>i</a:t>
            </a:r>
            <a:r>
              <a:rPr lang="en-AU" altLang="en-US" sz="2800" dirty="0"/>
              <a:t> is </a:t>
            </a:r>
            <a:r>
              <a:rPr lang="en-AU" altLang="en-US" sz="2800" i="1" dirty="0"/>
              <a:t>currently </a:t>
            </a:r>
            <a:r>
              <a:rPr lang="en-AU" altLang="en-US" sz="2800" dirty="0"/>
              <a:t>doing a with respect to </a:t>
            </a:r>
            <a:r>
              <a:rPr lang="en-AU" altLang="en-US" sz="2800" dirty="0" err="1"/>
              <a:t>O</a:t>
            </a:r>
            <a:r>
              <a:rPr lang="en-AU" altLang="en-US" sz="2800" baseline="-25000" dirty="0" err="1"/>
              <a:t>j</a:t>
            </a:r>
            <a:r>
              <a:rPr lang="en-AU" altLang="en-US" sz="2800" dirty="0"/>
              <a:t>”.</a:t>
            </a:r>
          </a:p>
          <a:p>
            <a:pPr lvl="1">
              <a:lnSpc>
                <a:spcPct val="90000"/>
              </a:lnSpc>
            </a:pPr>
            <a:r>
              <a:rPr lang="en-AU" altLang="en-US" sz="2800" dirty="0"/>
              <a:t>The only triples that exist are allowed ones, otherwise the activity couldn’t take place.</a:t>
            </a:r>
          </a:p>
          <a:p>
            <a:pPr>
              <a:lnSpc>
                <a:spcPct val="90000"/>
              </a:lnSpc>
            </a:pPr>
            <a:r>
              <a:rPr lang="en-AU" altLang="en-US" sz="3200" b="1" dirty="0"/>
              <a:t>Access matrix</a:t>
            </a:r>
            <a:r>
              <a:rPr lang="en-AU" altLang="en-US" sz="3200" dirty="0"/>
              <a:t> M:</a:t>
            </a:r>
          </a:p>
          <a:p>
            <a:pPr lvl="1">
              <a:lnSpc>
                <a:spcPct val="90000"/>
              </a:lnSpc>
            </a:pPr>
            <a:r>
              <a:rPr lang="en-AU" altLang="en-US" sz="2800" dirty="0"/>
              <a:t>As described earlier, this indicates which operations a subject can perform an object. Each element of the matrix is labelled M[</a:t>
            </a:r>
            <a:r>
              <a:rPr lang="en-AU" altLang="en-US" sz="2800" dirty="0" err="1"/>
              <a:t>S</a:t>
            </a:r>
            <a:r>
              <a:rPr lang="en-AU" altLang="en-US" sz="2800" baseline="-25000" dirty="0" err="1"/>
              <a:t>i</a:t>
            </a:r>
            <a:r>
              <a:rPr lang="en-AU" altLang="en-US" sz="2800" dirty="0" err="1"/>
              <a:t>,O</a:t>
            </a:r>
            <a:r>
              <a:rPr lang="en-AU" altLang="en-US" sz="2800" baseline="-25000" dirty="0" err="1"/>
              <a:t>j</a:t>
            </a:r>
            <a:r>
              <a:rPr lang="en-AU" altLang="en-US" sz="2800" dirty="0"/>
              <a:t>] and contains a list of allowed actions.</a:t>
            </a:r>
          </a:p>
        </p:txBody>
      </p:sp>
    </p:spTree>
    <p:extLst>
      <p:ext uri="{BB962C8B-B14F-4D97-AF65-F5344CB8AC3E}">
        <p14:creationId xmlns:p14="http://schemas.microsoft.com/office/powerpoint/2010/main" val="3860537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blinds(horizontal)">
                                      <p:cBhvr>
                                        <p:cTn id="7" dur="500"/>
                                        <p:tgtEl>
                                          <p:spTgt spid="517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7123">
                                            <p:txEl>
                                              <p:pRg st="1" end="1"/>
                                            </p:txEl>
                                          </p:spTgt>
                                        </p:tgtEl>
                                        <p:attrNameLst>
                                          <p:attrName>style.visibility</p:attrName>
                                        </p:attrNameLst>
                                      </p:cBhvr>
                                      <p:to>
                                        <p:strVal val="visible"/>
                                      </p:to>
                                    </p:set>
                                    <p:animEffect transition="in" filter="blinds(horizontal)">
                                      <p:cBhvr>
                                        <p:cTn id="12" dur="500"/>
                                        <p:tgtEl>
                                          <p:spTgt spid="51712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17123">
                                            <p:txEl>
                                              <p:pRg st="2" end="2"/>
                                            </p:txEl>
                                          </p:spTgt>
                                        </p:tgtEl>
                                        <p:attrNameLst>
                                          <p:attrName>style.visibility</p:attrName>
                                        </p:attrNameLst>
                                      </p:cBhvr>
                                      <p:to>
                                        <p:strVal val="visible"/>
                                      </p:to>
                                    </p:set>
                                    <p:animEffect transition="in" filter="blinds(horizontal)">
                                      <p:cBhvr>
                                        <p:cTn id="15" dur="500"/>
                                        <p:tgtEl>
                                          <p:spTgt spid="51712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17123">
                                            <p:txEl>
                                              <p:pRg st="3" end="3"/>
                                            </p:txEl>
                                          </p:spTgt>
                                        </p:tgtEl>
                                        <p:attrNameLst>
                                          <p:attrName>style.visibility</p:attrName>
                                        </p:attrNameLst>
                                      </p:cBhvr>
                                      <p:to>
                                        <p:strVal val="visible"/>
                                      </p:to>
                                    </p:set>
                                    <p:animEffect transition="in" filter="blinds(horizontal)">
                                      <p:cBhvr>
                                        <p:cTn id="18" dur="500"/>
                                        <p:tgtEl>
                                          <p:spTgt spid="51712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17123">
                                            <p:txEl>
                                              <p:pRg st="4" end="4"/>
                                            </p:txEl>
                                          </p:spTgt>
                                        </p:tgtEl>
                                        <p:attrNameLst>
                                          <p:attrName>style.visibility</p:attrName>
                                        </p:attrNameLst>
                                      </p:cBhvr>
                                      <p:to>
                                        <p:strVal val="visible"/>
                                      </p:to>
                                    </p:set>
                                    <p:animEffect transition="in" filter="blinds(horizontal)">
                                      <p:cBhvr>
                                        <p:cTn id="21" dur="500"/>
                                        <p:tgtEl>
                                          <p:spTgt spid="517123">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517123">
                                            <p:txEl>
                                              <p:pRg st="5" end="5"/>
                                            </p:txEl>
                                          </p:spTgt>
                                        </p:tgtEl>
                                        <p:attrNameLst>
                                          <p:attrName>style.visibility</p:attrName>
                                        </p:attrNameLst>
                                      </p:cBhvr>
                                      <p:to>
                                        <p:strVal val="visible"/>
                                      </p:to>
                                    </p:set>
                                    <p:animEffect transition="in" filter="blinds(horizontal)">
                                      <p:cBhvr>
                                        <p:cTn id="26" dur="500"/>
                                        <p:tgtEl>
                                          <p:spTgt spid="517123">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17123">
                                            <p:txEl>
                                              <p:pRg st="6" end="6"/>
                                            </p:txEl>
                                          </p:spTgt>
                                        </p:tgtEl>
                                        <p:attrNameLst>
                                          <p:attrName>style.visibility</p:attrName>
                                        </p:attrNameLst>
                                      </p:cBhvr>
                                      <p:to>
                                        <p:strVal val="visible"/>
                                      </p:to>
                                    </p:set>
                                    <p:animEffect transition="in" filter="blinds(horizontal)">
                                      <p:cBhvr>
                                        <p:cTn id="29" dur="500"/>
                                        <p:tgtEl>
                                          <p:spTgt spid="517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D3917D77-502C-4A68-A596-1750DD4B1550}" type="slidenum">
              <a:rPr kumimoji="0" lang="en-US" altLang="en-US" sz="1400"/>
              <a:pPr>
                <a:spcBef>
                  <a:spcPct val="50000"/>
                </a:spcBef>
                <a:buClrTx/>
                <a:buSzTx/>
                <a:buFontTx/>
                <a:buNone/>
              </a:pPr>
              <a:t>18</a:t>
            </a:fld>
            <a:endParaRPr kumimoji="0" lang="en-US" altLang="en-US" sz="1400"/>
          </a:p>
        </p:txBody>
      </p:sp>
      <p:sp>
        <p:nvSpPr>
          <p:cNvPr id="518147" name="Rectangle 3"/>
          <p:cNvSpPr>
            <a:spLocks noGrp="1" noChangeArrowheads="1"/>
          </p:cNvSpPr>
          <p:nvPr>
            <p:ph type="body" idx="1"/>
          </p:nvPr>
        </p:nvSpPr>
        <p:spPr>
          <a:xfrm>
            <a:off x="727545" y="276143"/>
            <a:ext cx="10898398" cy="6346725"/>
          </a:xfrm>
        </p:spPr>
        <p:txBody>
          <a:bodyPr>
            <a:normAutofit fontScale="92500" lnSpcReduction="10000"/>
          </a:bodyPr>
          <a:lstStyle/>
          <a:p>
            <a:pPr>
              <a:lnSpc>
                <a:spcPct val="90000"/>
              </a:lnSpc>
            </a:pPr>
            <a:r>
              <a:rPr lang="en-AU" altLang="en-US" sz="3600" b="1" dirty="0"/>
              <a:t>Level function</a:t>
            </a:r>
            <a:r>
              <a:rPr lang="en-AU" altLang="en-US" sz="3600" dirty="0"/>
              <a:t> f: This consists of three mappings with overall responsibility for assigning security levels to each subject and to each object.</a:t>
            </a:r>
          </a:p>
          <a:p>
            <a:pPr lvl="1"/>
            <a:r>
              <a:rPr lang="en-AU" altLang="en-US" sz="3200" dirty="0" err="1"/>
              <a:t>f</a:t>
            </a:r>
            <a:r>
              <a:rPr lang="en-AU" altLang="en-US" sz="3200" baseline="-25000" dirty="0" err="1"/>
              <a:t>o</a:t>
            </a:r>
            <a:r>
              <a:rPr lang="en-AU" altLang="en-US" sz="3200" dirty="0"/>
              <a:t>(O</a:t>
            </a:r>
            <a:r>
              <a:rPr lang="en-AU" altLang="en-US" sz="3200" baseline="-25000" dirty="0"/>
              <a:t>i</a:t>
            </a:r>
            <a:r>
              <a:rPr lang="en-AU" altLang="en-US" sz="3200" dirty="0"/>
              <a:t>) produces the classification level of O</a:t>
            </a:r>
            <a:r>
              <a:rPr lang="en-AU" altLang="en-US" sz="3200" baseline="-25000" dirty="0"/>
              <a:t>i</a:t>
            </a:r>
            <a:r>
              <a:rPr lang="en-AU" altLang="en-US" sz="3200" dirty="0"/>
              <a:t>.</a:t>
            </a:r>
          </a:p>
          <a:p>
            <a:pPr lvl="1"/>
            <a:r>
              <a:rPr lang="en-AU" altLang="en-US" sz="3200" dirty="0"/>
              <a:t>f</a:t>
            </a:r>
            <a:r>
              <a:rPr lang="en-AU" altLang="en-US" sz="3200" baseline="-25000" dirty="0"/>
              <a:t>s</a:t>
            </a:r>
            <a:r>
              <a:rPr lang="en-AU" altLang="en-US" sz="3200" dirty="0"/>
              <a:t>(</a:t>
            </a:r>
            <a:r>
              <a:rPr lang="en-AU" altLang="en-US" sz="3200" dirty="0" err="1"/>
              <a:t>S</a:t>
            </a:r>
            <a:r>
              <a:rPr lang="en-AU" altLang="en-US" sz="3200" baseline="-25000" dirty="0" err="1"/>
              <a:t>j</a:t>
            </a:r>
            <a:r>
              <a:rPr lang="en-AU" altLang="en-US" sz="3200" dirty="0"/>
              <a:t>) produces the security clearance of </a:t>
            </a:r>
            <a:r>
              <a:rPr lang="en-AU" altLang="en-US" sz="3200" dirty="0" err="1"/>
              <a:t>S</a:t>
            </a:r>
            <a:r>
              <a:rPr lang="en-AU" altLang="en-US" sz="3200" baseline="-25000" dirty="0" err="1"/>
              <a:t>j</a:t>
            </a:r>
            <a:r>
              <a:rPr lang="en-AU" altLang="en-US" sz="3200" dirty="0"/>
              <a:t>.</a:t>
            </a:r>
          </a:p>
          <a:p>
            <a:pPr lvl="1"/>
            <a:r>
              <a:rPr lang="en-AU" altLang="en-US" sz="3200" dirty="0"/>
              <a:t>f</a:t>
            </a:r>
            <a:r>
              <a:rPr lang="en-AU" altLang="en-US" sz="3200" baseline="-25000" dirty="0"/>
              <a:t>c</a:t>
            </a:r>
            <a:r>
              <a:rPr lang="en-AU" altLang="en-US" sz="3200" dirty="0"/>
              <a:t>(</a:t>
            </a:r>
            <a:r>
              <a:rPr lang="en-AU" altLang="en-US" sz="3200" dirty="0" err="1"/>
              <a:t>S</a:t>
            </a:r>
            <a:r>
              <a:rPr lang="en-AU" altLang="en-US" sz="3200" baseline="-25000" dirty="0" err="1"/>
              <a:t>j</a:t>
            </a:r>
            <a:r>
              <a:rPr lang="en-AU" altLang="en-US" sz="3200" dirty="0"/>
              <a:t>) produces the </a:t>
            </a:r>
            <a:r>
              <a:rPr lang="en-AU" altLang="en-US" sz="3200" i="1" dirty="0"/>
              <a:t>current security level </a:t>
            </a:r>
            <a:r>
              <a:rPr lang="en-AU" altLang="en-US" sz="3200" dirty="0"/>
              <a:t>of </a:t>
            </a:r>
            <a:r>
              <a:rPr lang="en-AU" altLang="en-US" sz="3200" dirty="0" err="1"/>
              <a:t>S</a:t>
            </a:r>
            <a:r>
              <a:rPr lang="en-AU" altLang="en-US" sz="3200" baseline="-25000" dirty="0" err="1"/>
              <a:t>j</a:t>
            </a:r>
            <a:r>
              <a:rPr lang="en-AU" altLang="en-US" sz="3200" dirty="0"/>
              <a:t>. We necessarily have f</a:t>
            </a:r>
            <a:r>
              <a:rPr lang="en-AU" altLang="en-US" sz="3200" baseline="-25000" dirty="0"/>
              <a:t>c</a:t>
            </a:r>
            <a:r>
              <a:rPr lang="en-AU" altLang="en-US" sz="3200" dirty="0"/>
              <a:t>(S</a:t>
            </a:r>
            <a:r>
              <a:rPr lang="en-AU" altLang="en-US" sz="3200" baseline="-25000" dirty="0"/>
              <a:t>i</a:t>
            </a:r>
            <a:r>
              <a:rPr lang="en-AU" altLang="en-US" sz="3200" dirty="0"/>
              <a:t>) </a:t>
            </a:r>
            <a:r>
              <a:rPr lang="en-US" altLang="en-US" sz="3200" dirty="0">
                <a:sym typeface="Symbol" panose="05050102010706020507" pitchFamily="18" charset="2"/>
              </a:rPr>
              <a:t> f</a:t>
            </a:r>
            <a:r>
              <a:rPr lang="en-US" altLang="en-US" sz="3200" baseline="-25000" dirty="0">
                <a:sym typeface="Symbol" panose="05050102010706020507" pitchFamily="18" charset="2"/>
              </a:rPr>
              <a:t>s</a:t>
            </a:r>
            <a:r>
              <a:rPr lang="en-US" altLang="en-US" sz="3200" dirty="0">
                <a:sym typeface="Symbol" panose="05050102010706020507" pitchFamily="18" charset="2"/>
              </a:rPr>
              <a:t>(S</a:t>
            </a:r>
            <a:r>
              <a:rPr lang="en-US" altLang="en-US" sz="3200" baseline="-25000" dirty="0">
                <a:sym typeface="Symbol" panose="05050102010706020507" pitchFamily="18" charset="2"/>
              </a:rPr>
              <a:t>i</a:t>
            </a:r>
            <a:r>
              <a:rPr lang="en-US" altLang="en-US" sz="3200" dirty="0">
                <a:sym typeface="Symbol" panose="05050102010706020507" pitchFamily="18" charset="2"/>
              </a:rPr>
              <a:t>), so that a subject can operate at a lower security clearance than their maximum.</a:t>
            </a:r>
          </a:p>
          <a:p>
            <a:r>
              <a:rPr lang="en-US" altLang="en-US" sz="3600" b="1" dirty="0"/>
              <a:t>Hierarchy H:</a:t>
            </a:r>
          </a:p>
          <a:p>
            <a:pPr lvl="1"/>
            <a:r>
              <a:rPr lang="en-US" altLang="en-US" sz="3200" dirty="0"/>
              <a:t>A directed rooted tree with the nodes being the objects.</a:t>
            </a:r>
          </a:p>
          <a:p>
            <a:pPr lvl="1"/>
            <a:r>
              <a:rPr lang="en-US" altLang="en-US" sz="3200" dirty="0"/>
              <a:t>This ties into the lattice.</a:t>
            </a:r>
          </a:p>
          <a:p>
            <a:pPr lvl="1"/>
            <a:r>
              <a:rPr lang="en-US" altLang="en-US" sz="3200" dirty="0"/>
              <a:t>The BLP model requires that the security level of an object dominates the security level of its parent.</a:t>
            </a:r>
          </a:p>
          <a:p>
            <a:pPr lvl="1"/>
            <a:r>
              <a:rPr lang="en-US" altLang="en-US" sz="3200" dirty="0"/>
              <a:t>Domination effectively means must be higher.</a:t>
            </a:r>
          </a:p>
          <a:p>
            <a:pPr>
              <a:lnSpc>
                <a:spcPct val="90000"/>
              </a:lnSpc>
            </a:pPr>
            <a:endParaRPr lang="en-AU" altLang="en-US" sz="2800" dirty="0"/>
          </a:p>
        </p:txBody>
      </p:sp>
    </p:spTree>
    <p:extLst>
      <p:ext uri="{BB962C8B-B14F-4D97-AF65-F5344CB8AC3E}">
        <p14:creationId xmlns:p14="http://schemas.microsoft.com/office/powerpoint/2010/main" val="1368093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18147">
                                            <p:txEl>
                                              <p:pRg st="0" end="0"/>
                                            </p:txEl>
                                          </p:spTgt>
                                        </p:tgtEl>
                                        <p:attrNameLst>
                                          <p:attrName>style.visibility</p:attrName>
                                        </p:attrNameLst>
                                      </p:cBhvr>
                                      <p:to>
                                        <p:strVal val="visible"/>
                                      </p:to>
                                    </p:set>
                                    <p:animEffect transition="in" filter="blinds(horizontal)">
                                      <p:cBhvr>
                                        <p:cTn id="7" dur="500"/>
                                        <p:tgtEl>
                                          <p:spTgt spid="518147">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18147">
                                            <p:txEl>
                                              <p:pRg st="1" end="1"/>
                                            </p:txEl>
                                          </p:spTgt>
                                        </p:tgtEl>
                                        <p:attrNameLst>
                                          <p:attrName>style.visibility</p:attrName>
                                        </p:attrNameLst>
                                      </p:cBhvr>
                                      <p:to>
                                        <p:strVal val="visible"/>
                                      </p:to>
                                    </p:set>
                                    <p:animEffect transition="in" filter="blinds(horizontal)">
                                      <p:cBhvr>
                                        <p:cTn id="11" dur="500"/>
                                        <p:tgtEl>
                                          <p:spTgt spid="518147">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518147">
                                            <p:txEl>
                                              <p:pRg st="2" end="2"/>
                                            </p:txEl>
                                          </p:spTgt>
                                        </p:tgtEl>
                                        <p:attrNameLst>
                                          <p:attrName>style.visibility</p:attrName>
                                        </p:attrNameLst>
                                      </p:cBhvr>
                                      <p:to>
                                        <p:strVal val="visible"/>
                                      </p:to>
                                    </p:set>
                                    <p:animEffect transition="in" filter="blinds(horizontal)">
                                      <p:cBhvr>
                                        <p:cTn id="15" dur="500"/>
                                        <p:tgtEl>
                                          <p:spTgt spid="518147">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518147">
                                            <p:txEl>
                                              <p:pRg st="3" end="3"/>
                                            </p:txEl>
                                          </p:spTgt>
                                        </p:tgtEl>
                                        <p:attrNameLst>
                                          <p:attrName>style.visibility</p:attrName>
                                        </p:attrNameLst>
                                      </p:cBhvr>
                                      <p:to>
                                        <p:strVal val="visible"/>
                                      </p:to>
                                    </p:set>
                                    <p:animEffect transition="in" filter="blinds(horizontal)">
                                      <p:cBhvr>
                                        <p:cTn id="19" dur="500"/>
                                        <p:tgtEl>
                                          <p:spTgt spid="518147">
                                            <p:txEl>
                                              <p:pRg st="3" end="3"/>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518147">
                                            <p:txEl>
                                              <p:pRg st="4" end="4"/>
                                            </p:txEl>
                                          </p:spTgt>
                                        </p:tgtEl>
                                        <p:attrNameLst>
                                          <p:attrName>style.visibility</p:attrName>
                                        </p:attrNameLst>
                                      </p:cBhvr>
                                      <p:to>
                                        <p:strVal val="visible"/>
                                      </p:to>
                                    </p:set>
                                    <p:animEffect transition="in" filter="blinds(horizontal)">
                                      <p:cBhvr>
                                        <p:cTn id="23" dur="500"/>
                                        <p:tgtEl>
                                          <p:spTgt spid="518147">
                                            <p:txEl>
                                              <p:pRg st="4" end="4"/>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518147">
                                            <p:txEl>
                                              <p:pRg st="5" end="5"/>
                                            </p:txEl>
                                          </p:spTgt>
                                        </p:tgtEl>
                                        <p:attrNameLst>
                                          <p:attrName>style.visibility</p:attrName>
                                        </p:attrNameLst>
                                      </p:cBhvr>
                                      <p:to>
                                        <p:strVal val="visible"/>
                                      </p:to>
                                    </p:set>
                                    <p:animEffect transition="in" filter="blinds(horizontal)">
                                      <p:cBhvr>
                                        <p:cTn id="27" dur="500"/>
                                        <p:tgtEl>
                                          <p:spTgt spid="518147">
                                            <p:txEl>
                                              <p:pRg st="5" end="5"/>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518147">
                                            <p:txEl>
                                              <p:pRg st="6" end="6"/>
                                            </p:txEl>
                                          </p:spTgt>
                                        </p:tgtEl>
                                        <p:attrNameLst>
                                          <p:attrName>style.visibility</p:attrName>
                                        </p:attrNameLst>
                                      </p:cBhvr>
                                      <p:to>
                                        <p:strVal val="visible"/>
                                      </p:to>
                                    </p:set>
                                    <p:animEffect transition="in" filter="blinds(horizontal)">
                                      <p:cBhvr>
                                        <p:cTn id="31" dur="500"/>
                                        <p:tgtEl>
                                          <p:spTgt spid="518147">
                                            <p:txEl>
                                              <p:pRg st="6" end="6"/>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518147">
                                            <p:txEl>
                                              <p:pRg st="7" end="7"/>
                                            </p:txEl>
                                          </p:spTgt>
                                        </p:tgtEl>
                                        <p:attrNameLst>
                                          <p:attrName>style.visibility</p:attrName>
                                        </p:attrNameLst>
                                      </p:cBhvr>
                                      <p:to>
                                        <p:strVal val="visible"/>
                                      </p:to>
                                    </p:set>
                                    <p:animEffect transition="in" filter="blinds(horizontal)">
                                      <p:cBhvr>
                                        <p:cTn id="35" dur="500"/>
                                        <p:tgtEl>
                                          <p:spTgt spid="518147">
                                            <p:txEl>
                                              <p:pRg st="7" end="7"/>
                                            </p:txEl>
                                          </p:spTgt>
                                        </p:tgtEl>
                                      </p:cBhvr>
                                    </p:animEffect>
                                  </p:childTnLst>
                                </p:cTn>
                              </p:par>
                            </p:childTnLst>
                          </p:cTn>
                        </p:par>
                        <p:par>
                          <p:cTn id="36" fill="hold">
                            <p:stCondLst>
                              <p:cond delay="4000"/>
                            </p:stCondLst>
                            <p:childTnLst>
                              <p:par>
                                <p:cTn id="37" presetID="3" presetClass="entr" presetSubtype="10" fill="hold" nodeType="afterEffect">
                                  <p:stCondLst>
                                    <p:cond delay="0"/>
                                  </p:stCondLst>
                                  <p:childTnLst>
                                    <p:set>
                                      <p:cBhvr>
                                        <p:cTn id="38" dur="1" fill="hold">
                                          <p:stCondLst>
                                            <p:cond delay="0"/>
                                          </p:stCondLst>
                                        </p:cTn>
                                        <p:tgtEl>
                                          <p:spTgt spid="518147">
                                            <p:txEl>
                                              <p:pRg st="8" end="8"/>
                                            </p:txEl>
                                          </p:spTgt>
                                        </p:tgtEl>
                                        <p:attrNameLst>
                                          <p:attrName>style.visibility</p:attrName>
                                        </p:attrNameLst>
                                      </p:cBhvr>
                                      <p:to>
                                        <p:strVal val="visible"/>
                                      </p:to>
                                    </p:set>
                                    <p:animEffect transition="in" filter="blinds(horizontal)">
                                      <p:cBhvr>
                                        <p:cTn id="39" dur="500"/>
                                        <p:tgtEl>
                                          <p:spTgt spid="518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60C531D4-DE80-486F-A62E-C104D3646BBA}" type="slidenum">
              <a:rPr kumimoji="0" lang="en-US" altLang="en-US" sz="1400"/>
              <a:pPr>
                <a:spcBef>
                  <a:spcPct val="50000"/>
                </a:spcBef>
                <a:buClrTx/>
                <a:buSzTx/>
                <a:buFontTx/>
                <a:buNone/>
              </a:pPr>
              <a:t>19</a:t>
            </a:fld>
            <a:endParaRPr kumimoji="0" lang="en-US" altLang="en-US" sz="1400"/>
          </a:p>
        </p:txBody>
      </p:sp>
      <p:sp>
        <p:nvSpPr>
          <p:cNvPr id="484355" name="Rectangle 3"/>
          <p:cNvSpPr>
            <a:spLocks noGrp="1" noChangeArrowheads="1"/>
          </p:cNvSpPr>
          <p:nvPr>
            <p:ph type="body" idx="1"/>
          </p:nvPr>
        </p:nvSpPr>
        <p:spPr>
          <a:xfrm>
            <a:off x="1116559" y="1268413"/>
            <a:ext cx="10486861" cy="5256212"/>
          </a:xfrm>
        </p:spPr>
        <p:txBody>
          <a:bodyPr>
            <a:normAutofit/>
          </a:bodyPr>
          <a:lstStyle/>
          <a:p>
            <a:pPr>
              <a:lnSpc>
                <a:spcPct val="115000"/>
              </a:lnSpc>
            </a:pPr>
            <a:r>
              <a:rPr lang="en-AU" altLang="en-US" sz="2800" dirty="0"/>
              <a:t>The mandatory properties of BLP are characterised by the phrase:</a:t>
            </a:r>
          </a:p>
          <a:p>
            <a:pPr>
              <a:lnSpc>
                <a:spcPct val="115000"/>
              </a:lnSpc>
              <a:buFont typeface="Monotype Sorts" pitchFamily="36" charset="2"/>
              <a:buNone/>
            </a:pPr>
            <a:r>
              <a:rPr lang="en-AU" altLang="en-US" sz="2800" b="1" dirty="0"/>
              <a:t>		“No write down, no read up!” 	(</a:t>
            </a:r>
            <a:r>
              <a:rPr lang="en-AU" altLang="en-US" sz="2800" b="1" dirty="0" err="1"/>
              <a:t>ss</a:t>
            </a:r>
            <a:r>
              <a:rPr lang="en-AU" altLang="en-US" sz="2800" b="1" dirty="0"/>
              <a:t> and *)</a:t>
            </a:r>
          </a:p>
          <a:p>
            <a:pPr>
              <a:lnSpc>
                <a:spcPct val="80000"/>
              </a:lnSpc>
            </a:pPr>
            <a:r>
              <a:rPr lang="en-AU" altLang="en-US" sz="2800" dirty="0"/>
              <a:t>As a whole the properties are designed to protect against unauthorized disclosure of information.</a:t>
            </a:r>
            <a:endParaRPr lang="en-US" altLang="en-US" dirty="0"/>
          </a:p>
          <a:p>
            <a:pPr>
              <a:lnSpc>
                <a:spcPct val="115000"/>
              </a:lnSpc>
            </a:pPr>
            <a:r>
              <a:rPr lang="en-US" altLang="en-US" sz="2800" b="1" dirty="0" err="1"/>
              <a:t>ss</a:t>
            </a:r>
            <a:r>
              <a:rPr lang="en-US" altLang="en-US" sz="2800" b="1" dirty="0"/>
              <a:t> – property:</a:t>
            </a:r>
          </a:p>
          <a:p>
            <a:pPr>
              <a:lnSpc>
                <a:spcPct val="115000"/>
              </a:lnSpc>
              <a:buFont typeface="Monotype Sorts" pitchFamily="36" charset="2"/>
              <a:buNone/>
            </a:pPr>
            <a:r>
              <a:rPr lang="en-US" altLang="en-US" sz="2800" dirty="0"/>
              <a:t>	(</a:t>
            </a:r>
            <a:r>
              <a:rPr lang="en-US" altLang="en-US" sz="2800" dirty="0" err="1"/>
              <a:t>S</a:t>
            </a:r>
            <a:r>
              <a:rPr lang="en-US" altLang="en-US" sz="2800" baseline="-25000" dirty="0" err="1"/>
              <a:t>i</a:t>
            </a:r>
            <a:r>
              <a:rPr lang="en-US" altLang="en-US" sz="2800" dirty="0" err="1"/>
              <a:t>,O</a:t>
            </a:r>
            <a:r>
              <a:rPr lang="en-US" altLang="en-US" sz="2800" baseline="-25000" dirty="0" err="1"/>
              <a:t>j</a:t>
            </a:r>
            <a:r>
              <a:rPr lang="en-US" altLang="en-US" sz="2800" dirty="0" err="1"/>
              <a:t>,read</a:t>
            </a:r>
            <a:r>
              <a:rPr lang="en-US" altLang="en-US" sz="2800" dirty="0"/>
              <a:t>) can be in b </a:t>
            </a:r>
            <a:r>
              <a:rPr lang="en-US" altLang="en-US" sz="2800" dirty="0" err="1"/>
              <a:t>iff</a:t>
            </a:r>
            <a:r>
              <a:rPr lang="en-US" altLang="en-US" sz="2800" dirty="0"/>
              <a:t>  </a:t>
            </a:r>
            <a:r>
              <a:rPr lang="en-US" altLang="en-US" sz="2800" dirty="0" err="1"/>
              <a:t>f</a:t>
            </a:r>
            <a:r>
              <a:rPr lang="en-US" altLang="en-US" sz="2800" baseline="-25000" dirty="0" err="1"/>
              <a:t>o</a:t>
            </a:r>
            <a:r>
              <a:rPr lang="en-US" altLang="en-US" sz="2800" dirty="0"/>
              <a:t>(</a:t>
            </a:r>
            <a:r>
              <a:rPr lang="en-US" altLang="en-US" sz="2800" dirty="0" err="1"/>
              <a:t>O</a:t>
            </a:r>
            <a:r>
              <a:rPr lang="en-US" altLang="en-US" sz="2800" baseline="-25000" dirty="0" err="1"/>
              <a:t>j</a:t>
            </a:r>
            <a:r>
              <a:rPr lang="en-US" altLang="en-US" sz="2800" dirty="0"/>
              <a:t>) </a:t>
            </a:r>
            <a:r>
              <a:rPr lang="en-US" altLang="en-US" sz="2800" dirty="0">
                <a:cs typeface="Arial" panose="020B0604020202020204" pitchFamily="34" charset="0"/>
                <a:sym typeface="Math B" pitchFamily="2" charset="2"/>
              </a:rPr>
              <a:t>≤</a:t>
            </a:r>
            <a:r>
              <a:rPr lang="en-US" altLang="en-US" sz="2800" dirty="0">
                <a:sym typeface="Math B" pitchFamily="2" charset="2"/>
              </a:rPr>
              <a:t> f</a:t>
            </a:r>
            <a:r>
              <a:rPr lang="en-US" altLang="en-US" sz="2800" baseline="-25000" dirty="0">
                <a:sym typeface="Math B" pitchFamily="2" charset="2"/>
              </a:rPr>
              <a:t>c</a:t>
            </a:r>
            <a:r>
              <a:rPr lang="en-US" altLang="en-US" sz="2800" dirty="0">
                <a:sym typeface="Math B" pitchFamily="2" charset="2"/>
              </a:rPr>
              <a:t>(S</a:t>
            </a:r>
            <a:r>
              <a:rPr lang="en-US" altLang="en-US" sz="2800" baseline="-25000" dirty="0">
                <a:sym typeface="Math B" pitchFamily="2" charset="2"/>
              </a:rPr>
              <a:t>i</a:t>
            </a:r>
            <a:r>
              <a:rPr lang="en-US" altLang="en-US" sz="2800" dirty="0">
                <a:sym typeface="Math B" pitchFamily="2" charset="2"/>
              </a:rPr>
              <a:t>).</a:t>
            </a:r>
          </a:p>
          <a:p>
            <a:pPr>
              <a:lnSpc>
                <a:spcPct val="115000"/>
              </a:lnSpc>
            </a:pPr>
            <a:r>
              <a:rPr lang="en-US" altLang="en-US" sz="2800" dirty="0">
                <a:sym typeface="Math B" pitchFamily="2" charset="2"/>
              </a:rPr>
              <a:t>Turning this around: The state (</a:t>
            </a:r>
            <a:r>
              <a:rPr lang="en-US" altLang="en-US" sz="2800" dirty="0" err="1">
                <a:sym typeface="Math B" pitchFamily="2" charset="2"/>
              </a:rPr>
              <a:t>b,M,f,H</a:t>
            </a:r>
            <a:r>
              <a:rPr lang="en-US" altLang="en-US" sz="2800" dirty="0">
                <a:sym typeface="Math B" pitchFamily="2" charset="2"/>
              </a:rPr>
              <a:t>) has the </a:t>
            </a:r>
            <a:r>
              <a:rPr lang="en-US" altLang="en-US" sz="2800" dirty="0" err="1">
                <a:sym typeface="Math B" pitchFamily="2" charset="2"/>
              </a:rPr>
              <a:t>ss</a:t>
            </a:r>
            <a:r>
              <a:rPr lang="en-US" altLang="en-US" sz="2800" dirty="0">
                <a:sym typeface="Math B" pitchFamily="2" charset="2"/>
              </a:rPr>
              <a:t>–property if, for every </a:t>
            </a:r>
            <a:r>
              <a:rPr lang="en-US" altLang="en-US" sz="2800" dirty="0"/>
              <a:t>(</a:t>
            </a:r>
            <a:r>
              <a:rPr lang="en-US" altLang="en-US" sz="2800" dirty="0" err="1"/>
              <a:t>S</a:t>
            </a:r>
            <a:r>
              <a:rPr lang="en-US" altLang="en-US" sz="2800" baseline="-25000" dirty="0" err="1"/>
              <a:t>i</a:t>
            </a:r>
            <a:r>
              <a:rPr lang="en-US" altLang="en-US" sz="2800" dirty="0" err="1"/>
              <a:t>,O</a:t>
            </a:r>
            <a:r>
              <a:rPr lang="en-US" altLang="en-US" sz="2800" baseline="-25000" dirty="0" err="1"/>
              <a:t>j</a:t>
            </a:r>
            <a:r>
              <a:rPr lang="en-US" altLang="en-US" sz="2800" dirty="0" err="1"/>
              <a:t>,read</a:t>
            </a:r>
            <a:r>
              <a:rPr lang="en-US" altLang="en-US" sz="2800" dirty="0"/>
              <a:t>) </a:t>
            </a:r>
            <a:r>
              <a:rPr lang="en-US" altLang="en-US" sz="2800" dirty="0">
                <a:sym typeface="Symbol" panose="05050102010706020507" pitchFamily="18" charset="2"/>
              </a:rPr>
              <a:t> </a:t>
            </a:r>
            <a:r>
              <a:rPr lang="en-US" altLang="en-US" sz="2800" dirty="0">
                <a:sym typeface="Math B" pitchFamily="2" charset="2"/>
              </a:rPr>
              <a:t>b, we have that </a:t>
            </a:r>
            <a:r>
              <a:rPr lang="en-US" altLang="en-US" sz="2800" dirty="0" err="1"/>
              <a:t>f</a:t>
            </a:r>
            <a:r>
              <a:rPr lang="en-US" altLang="en-US" sz="2800" baseline="-25000" dirty="0" err="1"/>
              <a:t>o</a:t>
            </a:r>
            <a:r>
              <a:rPr lang="en-US" altLang="en-US" sz="2800" dirty="0"/>
              <a:t>(</a:t>
            </a:r>
            <a:r>
              <a:rPr lang="en-US" altLang="en-US" sz="2800" dirty="0" err="1"/>
              <a:t>O</a:t>
            </a:r>
            <a:r>
              <a:rPr lang="en-US" altLang="en-US" sz="2800" baseline="-25000" dirty="0" err="1"/>
              <a:t>j</a:t>
            </a:r>
            <a:r>
              <a:rPr lang="en-US" altLang="en-US" sz="2800" dirty="0"/>
              <a:t>) </a:t>
            </a:r>
            <a:r>
              <a:rPr lang="en-US" altLang="en-US" sz="2800" dirty="0">
                <a:cs typeface="Arial" panose="020B0604020202020204" pitchFamily="34" charset="0"/>
                <a:sym typeface="Math B" pitchFamily="2" charset="2"/>
              </a:rPr>
              <a:t>≤</a:t>
            </a:r>
            <a:r>
              <a:rPr lang="en-US" altLang="en-US" sz="2800" dirty="0">
                <a:sym typeface="Math B" pitchFamily="2" charset="2"/>
              </a:rPr>
              <a:t> f</a:t>
            </a:r>
            <a:r>
              <a:rPr lang="en-US" altLang="en-US" sz="2800" baseline="-25000" dirty="0">
                <a:sym typeface="Math B" pitchFamily="2" charset="2"/>
              </a:rPr>
              <a:t>c</a:t>
            </a:r>
            <a:r>
              <a:rPr lang="en-US" altLang="en-US" sz="2800" dirty="0">
                <a:sym typeface="Math B" pitchFamily="2" charset="2"/>
              </a:rPr>
              <a:t>(S</a:t>
            </a:r>
            <a:r>
              <a:rPr lang="en-US" altLang="en-US" sz="2800" baseline="-25000" dirty="0">
                <a:sym typeface="Math B" pitchFamily="2" charset="2"/>
              </a:rPr>
              <a:t>i</a:t>
            </a:r>
            <a:r>
              <a:rPr lang="en-US" altLang="en-US" sz="2800" dirty="0">
                <a:sym typeface="Math B" pitchFamily="2" charset="2"/>
              </a:rPr>
              <a:t>).</a:t>
            </a:r>
          </a:p>
        </p:txBody>
      </p:sp>
      <p:sp>
        <p:nvSpPr>
          <p:cNvPr id="16388" name="Rectangle 5"/>
          <p:cNvSpPr>
            <a:spLocks noGrp="1" noChangeArrowheads="1"/>
          </p:cNvSpPr>
          <p:nvPr>
            <p:ph type="title"/>
          </p:nvPr>
        </p:nvSpPr>
        <p:spPr>
          <a:xfrm>
            <a:off x="1116560" y="125413"/>
            <a:ext cx="7772400" cy="1143000"/>
          </a:xfrm>
          <a:noFill/>
        </p:spPr>
        <p:txBody>
          <a:bodyPr>
            <a:noAutofit/>
          </a:bodyPr>
          <a:lstStyle/>
          <a:p>
            <a:r>
              <a:rPr lang="en-AU" altLang="en-US" dirty="0"/>
              <a:t>BLP properties: 2 Mandatory</a:t>
            </a:r>
          </a:p>
        </p:txBody>
      </p:sp>
    </p:spTree>
    <p:extLst>
      <p:ext uri="{BB962C8B-B14F-4D97-AF65-F5344CB8AC3E}">
        <p14:creationId xmlns:p14="http://schemas.microsoft.com/office/powerpoint/2010/main" val="3033385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84355">
                                            <p:txEl>
                                              <p:pRg st="0" end="0"/>
                                            </p:txEl>
                                          </p:spTgt>
                                        </p:tgtEl>
                                        <p:attrNameLst>
                                          <p:attrName>style.visibility</p:attrName>
                                        </p:attrNameLst>
                                      </p:cBhvr>
                                      <p:to>
                                        <p:strVal val="visible"/>
                                      </p:to>
                                    </p:set>
                                    <p:animEffect transition="in" filter="blinds(horizontal)">
                                      <p:cBhvr>
                                        <p:cTn id="7" dur="500"/>
                                        <p:tgtEl>
                                          <p:spTgt spid="484355">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484355">
                                            <p:txEl>
                                              <p:pRg st="1" end="1"/>
                                            </p:txEl>
                                          </p:spTgt>
                                        </p:tgtEl>
                                        <p:attrNameLst>
                                          <p:attrName>style.visibility</p:attrName>
                                        </p:attrNameLst>
                                      </p:cBhvr>
                                      <p:to>
                                        <p:strVal val="visible"/>
                                      </p:to>
                                    </p:set>
                                    <p:animEffect transition="in" filter="blinds(horizontal)">
                                      <p:cBhvr>
                                        <p:cTn id="11" dur="500"/>
                                        <p:tgtEl>
                                          <p:spTgt spid="48435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484355">
                                            <p:txEl>
                                              <p:pRg st="2" end="2"/>
                                            </p:txEl>
                                          </p:spTgt>
                                        </p:tgtEl>
                                        <p:attrNameLst>
                                          <p:attrName>style.visibility</p:attrName>
                                        </p:attrNameLst>
                                      </p:cBhvr>
                                      <p:to>
                                        <p:strVal val="visible"/>
                                      </p:to>
                                    </p:set>
                                    <p:animEffect transition="in" filter="blinds(horizontal)">
                                      <p:cBhvr>
                                        <p:cTn id="16" dur="500"/>
                                        <p:tgtEl>
                                          <p:spTgt spid="48435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84355">
                                            <p:txEl>
                                              <p:pRg st="3" end="3"/>
                                            </p:txEl>
                                          </p:spTgt>
                                        </p:tgtEl>
                                        <p:attrNameLst>
                                          <p:attrName>style.visibility</p:attrName>
                                        </p:attrNameLst>
                                      </p:cBhvr>
                                      <p:to>
                                        <p:strVal val="visible"/>
                                      </p:to>
                                    </p:set>
                                    <p:animEffect transition="in" filter="blinds(horizontal)">
                                      <p:cBhvr>
                                        <p:cTn id="21" dur="500"/>
                                        <p:tgtEl>
                                          <p:spTgt spid="484355">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84355">
                                            <p:txEl>
                                              <p:pRg st="4" end="4"/>
                                            </p:txEl>
                                          </p:spTgt>
                                        </p:tgtEl>
                                        <p:attrNameLst>
                                          <p:attrName>style.visibility</p:attrName>
                                        </p:attrNameLst>
                                      </p:cBhvr>
                                      <p:to>
                                        <p:strVal val="visible"/>
                                      </p:to>
                                    </p:set>
                                    <p:animEffect transition="in" filter="blinds(horizontal)">
                                      <p:cBhvr>
                                        <p:cTn id="26" dur="500"/>
                                        <p:tgtEl>
                                          <p:spTgt spid="484355">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84355">
                                            <p:txEl>
                                              <p:pRg st="5" end="5"/>
                                            </p:txEl>
                                          </p:spTgt>
                                        </p:tgtEl>
                                        <p:attrNameLst>
                                          <p:attrName>style.visibility</p:attrName>
                                        </p:attrNameLst>
                                      </p:cBhvr>
                                      <p:to>
                                        <p:strVal val="visible"/>
                                      </p:to>
                                    </p:set>
                                    <p:animEffect transition="in" filter="blinds(horizontal)">
                                      <p:cBhvr>
                                        <p:cTn id="31" dur="500"/>
                                        <p:tgtEl>
                                          <p:spTgt spid="4843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18396F6-357B-45A6-8510-513B1F821AC3}" type="slidenum">
              <a:rPr kumimoji="0" lang="en-US" altLang="en-US" sz="1400"/>
              <a:pPr>
                <a:spcBef>
                  <a:spcPct val="50000"/>
                </a:spcBef>
                <a:buClrTx/>
                <a:buSzTx/>
                <a:buFontTx/>
                <a:buNone/>
              </a:pPr>
              <a:t>20</a:t>
            </a:fld>
            <a:endParaRPr kumimoji="0" lang="en-US" altLang="en-US" sz="1400"/>
          </a:p>
        </p:txBody>
      </p:sp>
      <p:sp>
        <p:nvSpPr>
          <p:cNvPr id="521219" name="Rectangle 3"/>
          <p:cNvSpPr>
            <a:spLocks noGrp="1" noChangeArrowheads="1"/>
          </p:cNvSpPr>
          <p:nvPr>
            <p:ph type="body" idx="1"/>
          </p:nvPr>
        </p:nvSpPr>
        <p:spPr>
          <a:xfrm>
            <a:off x="1061545" y="406973"/>
            <a:ext cx="10131971" cy="6048375"/>
          </a:xfrm>
        </p:spPr>
        <p:txBody>
          <a:bodyPr/>
          <a:lstStyle/>
          <a:p>
            <a:pPr>
              <a:lnSpc>
                <a:spcPct val="115000"/>
              </a:lnSpc>
            </a:pPr>
            <a:r>
              <a:rPr lang="en-US" altLang="en-US" sz="3200" b="1" dirty="0">
                <a:sym typeface="Math B" pitchFamily="2" charset="2"/>
              </a:rPr>
              <a:t>* </a:t>
            </a:r>
            <a:r>
              <a:rPr lang="en-US" altLang="en-US" sz="3200" b="1" dirty="0"/>
              <a:t>–</a:t>
            </a:r>
            <a:r>
              <a:rPr lang="en-US" altLang="en-US" sz="3200" b="1" dirty="0">
                <a:sym typeface="Math B" pitchFamily="2" charset="2"/>
              </a:rPr>
              <a:t> property:</a:t>
            </a:r>
          </a:p>
          <a:p>
            <a:pPr lvl="1">
              <a:lnSpc>
                <a:spcPct val="115000"/>
              </a:lnSpc>
              <a:buFontTx/>
              <a:buNone/>
            </a:pPr>
            <a:r>
              <a:rPr lang="en-US" altLang="en-US" sz="2800" dirty="0">
                <a:latin typeface="Times New Roman" panose="02020603050405020304" pitchFamily="18" charset="0"/>
                <a:sym typeface="Math B" pitchFamily="2" charset="2"/>
              </a:rPr>
              <a:t>(</a:t>
            </a:r>
            <a:r>
              <a:rPr lang="en-US" altLang="en-US" sz="2800" dirty="0" err="1">
                <a:latin typeface="Times New Roman" panose="02020603050405020304" pitchFamily="18" charset="0"/>
                <a:sym typeface="Math B" pitchFamily="2" charset="2"/>
              </a:rPr>
              <a:t>S</a:t>
            </a:r>
            <a:r>
              <a:rPr lang="en-US" altLang="en-US" sz="2800" baseline="-25000" dirty="0" err="1">
                <a:latin typeface="Times New Roman" panose="02020603050405020304" pitchFamily="18" charset="0"/>
                <a:sym typeface="Math B" pitchFamily="2" charset="2"/>
              </a:rPr>
              <a:t>i</a:t>
            </a:r>
            <a:r>
              <a:rPr lang="en-US" altLang="en-US" sz="2800" dirty="0" err="1">
                <a:latin typeface="Times New Roman" panose="02020603050405020304" pitchFamily="18" charset="0"/>
                <a:sym typeface="Math B" pitchFamily="2" charset="2"/>
              </a:rPr>
              <a:t>,O</a:t>
            </a:r>
            <a:r>
              <a:rPr lang="en-US" altLang="en-US" sz="2800" baseline="-25000" dirty="0" err="1">
                <a:latin typeface="Times New Roman" panose="02020603050405020304" pitchFamily="18" charset="0"/>
                <a:sym typeface="Math B" pitchFamily="2" charset="2"/>
              </a:rPr>
              <a:t>j</a:t>
            </a:r>
            <a:r>
              <a:rPr lang="en-US" altLang="en-US" sz="2800" dirty="0" err="1">
                <a:latin typeface="Times New Roman" panose="02020603050405020304" pitchFamily="18" charset="0"/>
                <a:sym typeface="Math B" pitchFamily="2" charset="2"/>
              </a:rPr>
              <a:t>,append</a:t>
            </a:r>
            <a:r>
              <a:rPr lang="en-US" altLang="en-US" sz="2800" dirty="0">
                <a:latin typeface="Times New Roman" panose="02020603050405020304" pitchFamily="18" charset="0"/>
                <a:sym typeface="Math B" pitchFamily="2" charset="2"/>
              </a:rPr>
              <a:t>) can be in b </a:t>
            </a:r>
            <a:r>
              <a:rPr lang="en-US" altLang="en-US" sz="2800" dirty="0" err="1">
                <a:latin typeface="Times New Roman" panose="02020603050405020304" pitchFamily="18" charset="0"/>
                <a:sym typeface="Math B" pitchFamily="2" charset="2"/>
              </a:rPr>
              <a:t>iff</a:t>
            </a:r>
            <a:r>
              <a:rPr lang="en-US" altLang="en-US" sz="2800" dirty="0">
                <a:latin typeface="Times New Roman" panose="02020603050405020304" pitchFamily="18" charset="0"/>
                <a:sym typeface="Math B" pitchFamily="2" charset="2"/>
              </a:rPr>
              <a:t> f</a:t>
            </a:r>
            <a:r>
              <a:rPr lang="en-US" altLang="en-US" sz="2800" baseline="-25000" dirty="0">
                <a:latin typeface="Times New Roman" panose="02020603050405020304" pitchFamily="18" charset="0"/>
                <a:sym typeface="Math B" pitchFamily="2" charset="2"/>
              </a:rPr>
              <a:t>c</a:t>
            </a:r>
            <a:r>
              <a:rPr lang="en-US" altLang="en-US" sz="2800" dirty="0">
                <a:latin typeface="Times New Roman" panose="02020603050405020304" pitchFamily="18" charset="0"/>
                <a:sym typeface="Math B" pitchFamily="2" charset="2"/>
              </a:rPr>
              <a:t>(S</a:t>
            </a:r>
            <a:r>
              <a:rPr lang="en-US" altLang="en-US" sz="2800" baseline="-25000" dirty="0">
                <a:latin typeface="Times New Roman" panose="02020603050405020304" pitchFamily="18" charset="0"/>
                <a:sym typeface="Math B" pitchFamily="2" charset="2"/>
              </a:rPr>
              <a:t>i</a:t>
            </a:r>
            <a:r>
              <a:rPr lang="en-US" altLang="en-US" sz="2800" dirty="0">
                <a:latin typeface="Times New Roman" panose="02020603050405020304" pitchFamily="18" charset="0"/>
                <a:sym typeface="Math B" pitchFamily="2" charset="2"/>
              </a:rPr>
              <a:t>) </a:t>
            </a:r>
            <a:r>
              <a:rPr lang="en-US" altLang="en-US" sz="2800" dirty="0">
                <a:latin typeface="Times New Roman" panose="02020603050405020304" pitchFamily="18" charset="0"/>
                <a:cs typeface="Arial" panose="020B0604020202020204" pitchFamily="34" charset="0"/>
                <a:sym typeface="Math B" pitchFamily="2" charset="2"/>
              </a:rPr>
              <a:t>≤ </a:t>
            </a:r>
            <a:r>
              <a:rPr lang="en-US" altLang="en-US" sz="2800" dirty="0" err="1">
                <a:latin typeface="Times New Roman" panose="02020603050405020304" pitchFamily="18" charset="0"/>
                <a:cs typeface="Arial" panose="020B0604020202020204" pitchFamily="34" charset="0"/>
                <a:sym typeface="Math B" pitchFamily="2" charset="2"/>
              </a:rPr>
              <a:t>f</a:t>
            </a:r>
            <a:r>
              <a:rPr lang="en-US" altLang="en-US" sz="2800" baseline="-25000" dirty="0" err="1">
                <a:latin typeface="Times New Roman" panose="02020603050405020304" pitchFamily="18" charset="0"/>
                <a:cs typeface="Arial" panose="020B0604020202020204" pitchFamily="34" charset="0"/>
                <a:sym typeface="Math B" pitchFamily="2" charset="2"/>
              </a:rPr>
              <a:t>o</a:t>
            </a:r>
            <a:r>
              <a:rPr lang="en-US" altLang="en-US" sz="2800" dirty="0">
                <a:latin typeface="Times New Roman" panose="02020603050405020304" pitchFamily="18" charset="0"/>
                <a:cs typeface="Arial" panose="020B0604020202020204" pitchFamily="34" charset="0"/>
                <a:sym typeface="Math B" pitchFamily="2" charset="2"/>
              </a:rPr>
              <a:t>(</a:t>
            </a:r>
            <a:r>
              <a:rPr lang="en-US" altLang="en-US" sz="2800" dirty="0" err="1">
                <a:latin typeface="Times New Roman" panose="02020603050405020304" pitchFamily="18" charset="0"/>
                <a:cs typeface="Arial" panose="020B0604020202020204" pitchFamily="34" charset="0"/>
                <a:sym typeface="Math B" pitchFamily="2" charset="2"/>
              </a:rPr>
              <a:t>O</a:t>
            </a:r>
            <a:r>
              <a:rPr lang="en-US" altLang="en-US" sz="2800" baseline="-25000" dirty="0" err="1">
                <a:latin typeface="Times New Roman" panose="02020603050405020304" pitchFamily="18" charset="0"/>
                <a:cs typeface="Arial" panose="020B0604020202020204" pitchFamily="34" charset="0"/>
                <a:sym typeface="Math B" pitchFamily="2" charset="2"/>
              </a:rPr>
              <a:t>j</a:t>
            </a:r>
            <a:r>
              <a:rPr lang="en-US" altLang="en-US" sz="2800" dirty="0">
                <a:latin typeface="Times New Roman" panose="02020603050405020304" pitchFamily="18" charset="0"/>
                <a:cs typeface="Arial" panose="020B0604020202020204" pitchFamily="34" charset="0"/>
                <a:sym typeface="Math B" pitchFamily="2" charset="2"/>
              </a:rPr>
              <a:t>).</a:t>
            </a:r>
          </a:p>
          <a:p>
            <a:pPr>
              <a:lnSpc>
                <a:spcPct val="115000"/>
              </a:lnSpc>
              <a:buFont typeface="Monotype Sorts" pitchFamily="36" charset="2"/>
              <a:buNone/>
            </a:pPr>
            <a:r>
              <a:rPr lang="en-US" altLang="en-US" sz="2800" dirty="0">
                <a:cs typeface="Arial" panose="020B0604020202020204" pitchFamily="34" charset="0"/>
                <a:sym typeface="Math B" pitchFamily="2" charset="2"/>
              </a:rPr>
              <a:t>	 (</a:t>
            </a:r>
            <a:r>
              <a:rPr lang="en-US" altLang="en-US" sz="2800" dirty="0" err="1">
                <a:cs typeface="Arial" panose="020B0604020202020204" pitchFamily="34" charset="0"/>
                <a:sym typeface="Math B" pitchFamily="2" charset="2"/>
              </a:rPr>
              <a:t>S</a:t>
            </a:r>
            <a:r>
              <a:rPr lang="en-US" altLang="en-US" sz="2800" baseline="-25000" dirty="0" err="1">
                <a:cs typeface="Arial" panose="020B0604020202020204" pitchFamily="34" charset="0"/>
                <a:sym typeface="Math B" pitchFamily="2" charset="2"/>
              </a:rPr>
              <a:t>i</a:t>
            </a:r>
            <a:r>
              <a:rPr lang="en-US" altLang="en-US" sz="2800" dirty="0" err="1">
                <a:cs typeface="Arial" panose="020B0604020202020204" pitchFamily="34" charset="0"/>
                <a:sym typeface="Math B" pitchFamily="2" charset="2"/>
              </a:rPr>
              <a:t>,O</a:t>
            </a:r>
            <a:r>
              <a:rPr lang="en-US" altLang="en-US" sz="2800" baseline="-25000" dirty="0" err="1">
                <a:cs typeface="Arial" panose="020B0604020202020204" pitchFamily="34" charset="0"/>
                <a:sym typeface="Math B" pitchFamily="2" charset="2"/>
              </a:rPr>
              <a:t>j</a:t>
            </a:r>
            <a:r>
              <a:rPr lang="en-US" altLang="en-US" sz="2800" dirty="0" err="1">
                <a:cs typeface="Arial" panose="020B0604020202020204" pitchFamily="34" charset="0"/>
                <a:sym typeface="Math B" pitchFamily="2" charset="2"/>
              </a:rPr>
              <a:t>,read</a:t>
            </a:r>
            <a:r>
              <a:rPr lang="en-US" altLang="en-US" sz="2800" dirty="0">
                <a:cs typeface="Arial" panose="020B0604020202020204" pitchFamily="34" charset="0"/>
                <a:sym typeface="Math B" pitchFamily="2" charset="2"/>
              </a:rPr>
              <a:t>/write)</a:t>
            </a:r>
            <a:r>
              <a:rPr lang="en-US" altLang="en-US" sz="2800" dirty="0">
                <a:sym typeface="Math B" pitchFamily="2" charset="2"/>
              </a:rPr>
              <a:t> can be in b </a:t>
            </a:r>
            <a:r>
              <a:rPr lang="en-US" altLang="en-US" sz="2800" dirty="0" err="1">
                <a:sym typeface="Math B" pitchFamily="2" charset="2"/>
              </a:rPr>
              <a:t>iff</a:t>
            </a:r>
            <a:r>
              <a:rPr lang="en-US" altLang="en-US" sz="2800" dirty="0">
                <a:sym typeface="Math B" pitchFamily="2" charset="2"/>
              </a:rPr>
              <a:t> f</a:t>
            </a:r>
            <a:r>
              <a:rPr lang="en-US" altLang="en-US" sz="2800" baseline="-25000" dirty="0">
                <a:sym typeface="Math B" pitchFamily="2" charset="2"/>
              </a:rPr>
              <a:t>c</a:t>
            </a:r>
            <a:r>
              <a:rPr lang="en-US" altLang="en-US" sz="2800" dirty="0">
                <a:sym typeface="Math B" pitchFamily="2" charset="2"/>
              </a:rPr>
              <a:t>(S</a:t>
            </a:r>
            <a:r>
              <a:rPr lang="en-US" altLang="en-US" sz="2800" baseline="-25000" dirty="0">
                <a:sym typeface="Math B" pitchFamily="2" charset="2"/>
              </a:rPr>
              <a:t>i</a:t>
            </a:r>
            <a:r>
              <a:rPr lang="en-US" altLang="en-US" sz="2800" dirty="0">
                <a:sym typeface="Math B" pitchFamily="2" charset="2"/>
              </a:rPr>
              <a:t>)=</a:t>
            </a:r>
            <a:r>
              <a:rPr lang="en-US" altLang="en-US" sz="2800" dirty="0" err="1">
                <a:sym typeface="Math B" pitchFamily="2" charset="2"/>
              </a:rPr>
              <a:t>f</a:t>
            </a:r>
            <a:r>
              <a:rPr lang="en-US" altLang="en-US" sz="2800" baseline="-25000" dirty="0" err="1">
                <a:sym typeface="Math B" pitchFamily="2" charset="2"/>
              </a:rPr>
              <a:t>o</a:t>
            </a:r>
            <a:r>
              <a:rPr lang="en-US" altLang="en-US" sz="2800" dirty="0">
                <a:sym typeface="Math B" pitchFamily="2" charset="2"/>
              </a:rPr>
              <a:t>(</a:t>
            </a:r>
            <a:r>
              <a:rPr lang="en-US" altLang="en-US" sz="2800" dirty="0" err="1">
                <a:sym typeface="Math B" pitchFamily="2" charset="2"/>
              </a:rPr>
              <a:t>O</a:t>
            </a:r>
            <a:r>
              <a:rPr lang="en-US" altLang="en-US" sz="2800" baseline="-25000" dirty="0" err="1">
                <a:sym typeface="Math B" pitchFamily="2" charset="2"/>
              </a:rPr>
              <a:t>j</a:t>
            </a:r>
            <a:r>
              <a:rPr lang="en-US" altLang="en-US" sz="2800" dirty="0">
                <a:sym typeface="Math B" pitchFamily="2" charset="2"/>
              </a:rPr>
              <a:t>).</a:t>
            </a:r>
          </a:p>
          <a:p>
            <a:pPr>
              <a:lnSpc>
                <a:spcPct val="115000"/>
              </a:lnSpc>
            </a:pPr>
            <a:r>
              <a:rPr lang="en-US" altLang="en-US" sz="3200" dirty="0">
                <a:sym typeface="Math B" pitchFamily="2" charset="2"/>
              </a:rPr>
              <a:t>Notice that we have used = in the last line.</a:t>
            </a:r>
          </a:p>
          <a:p>
            <a:pPr lvl="1">
              <a:lnSpc>
                <a:spcPct val="115000"/>
              </a:lnSpc>
              <a:buFontTx/>
              <a:buNone/>
            </a:pPr>
            <a:r>
              <a:rPr lang="en-US" altLang="en-US" sz="2800" dirty="0">
                <a:sym typeface="Math B" pitchFamily="2" charset="2"/>
              </a:rPr>
              <a:t>We effectively define = by</a:t>
            </a:r>
          </a:p>
          <a:p>
            <a:pPr lvl="1">
              <a:lnSpc>
                <a:spcPct val="115000"/>
              </a:lnSpc>
              <a:buFontTx/>
              <a:buNone/>
            </a:pPr>
            <a:r>
              <a:rPr lang="en-US" altLang="en-US" sz="3200" dirty="0">
                <a:sym typeface="Math B" pitchFamily="2" charset="2"/>
              </a:rPr>
              <a:t>A = B </a:t>
            </a:r>
            <a:r>
              <a:rPr lang="en-US" altLang="en-US" sz="3200" dirty="0" err="1">
                <a:sym typeface="Math B" pitchFamily="2" charset="2"/>
              </a:rPr>
              <a:t>iff</a:t>
            </a:r>
            <a:r>
              <a:rPr lang="en-US" altLang="en-US" sz="3200" dirty="0">
                <a:sym typeface="Math B" pitchFamily="2" charset="2"/>
              </a:rPr>
              <a:t> (A </a:t>
            </a:r>
            <a:r>
              <a:rPr lang="en-US" altLang="en-US" sz="3200" dirty="0">
                <a:cs typeface="Arial" panose="020B0604020202020204" pitchFamily="34" charset="0"/>
                <a:sym typeface="Math B" pitchFamily="2" charset="2"/>
              </a:rPr>
              <a:t>≤</a:t>
            </a:r>
            <a:r>
              <a:rPr lang="en-US" altLang="en-US" sz="3200" dirty="0">
                <a:sym typeface="Math B" pitchFamily="2" charset="2"/>
              </a:rPr>
              <a:t> B AND  B </a:t>
            </a:r>
            <a:r>
              <a:rPr lang="en-US" altLang="en-US" sz="3200" dirty="0">
                <a:cs typeface="Arial" panose="020B0604020202020204" pitchFamily="34" charset="0"/>
                <a:sym typeface="Math B" pitchFamily="2" charset="2"/>
              </a:rPr>
              <a:t>≤</a:t>
            </a:r>
            <a:r>
              <a:rPr lang="en-US" altLang="en-US" sz="3200" dirty="0">
                <a:sym typeface="Math B" pitchFamily="2" charset="2"/>
              </a:rPr>
              <a:t> A)</a:t>
            </a:r>
            <a:endParaRPr lang="en-US" altLang="en-US" dirty="0">
              <a:sym typeface="Math B" pitchFamily="2" charset="2"/>
            </a:endParaRPr>
          </a:p>
          <a:p>
            <a:pPr>
              <a:lnSpc>
                <a:spcPct val="115000"/>
              </a:lnSpc>
            </a:pPr>
            <a:r>
              <a:rPr lang="en-US" altLang="en-US" sz="2800" dirty="0">
                <a:sym typeface="Math B" pitchFamily="2" charset="2"/>
              </a:rPr>
              <a:t>Again we can turn this around to determine if the current state (</a:t>
            </a:r>
            <a:r>
              <a:rPr lang="en-US" altLang="en-US" sz="2800" dirty="0" err="1">
                <a:sym typeface="Math B" pitchFamily="2" charset="2"/>
              </a:rPr>
              <a:t>b,M,f,H</a:t>
            </a:r>
            <a:r>
              <a:rPr lang="en-US" altLang="en-US" sz="2800" dirty="0">
                <a:sym typeface="Math B" pitchFamily="2" charset="2"/>
              </a:rPr>
              <a:t>) has the * </a:t>
            </a:r>
            <a:r>
              <a:rPr lang="en-US" altLang="en-US" sz="2800" dirty="0"/>
              <a:t>–</a:t>
            </a:r>
            <a:r>
              <a:rPr lang="en-US" altLang="en-US" sz="2800" dirty="0">
                <a:sym typeface="Math B" pitchFamily="2" charset="2"/>
              </a:rPr>
              <a:t> property.</a:t>
            </a:r>
            <a:endParaRPr lang="en-AU" altLang="en-US" sz="2800" dirty="0">
              <a:sym typeface="Math B" pitchFamily="2" charset="2"/>
            </a:endParaRPr>
          </a:p>
        </p:txBody>
      </p:sp>
    </p:spTree>
    <p:extLst>
      <p:ext uri="{BB962C8B-B14F-4D97-AF65-F5344CB8AC3E}">
        <p14:creationId xmlns:p14="http://schemas.microsoft.com/office/powerpoint/2010/main" val="65009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21219">
                                            <p:txEl>
                                              <p:pRg st="0" end="0"/>
                                            </p:txEl>
                                          </p:spTgt>
                                        </p:tgtEl>
                                        <p:attrNameLst>
                                          <p:attrName>style.visibility</p:attrName>
                                        </p:attrNameLst>
                                      </p:cBhvr>
                                      <p:to>
                                        <p:strVal val="visible"/>
                                      </p:to>
                                    </p:set>
                                    <p:animEffect transition="in" filter="blinds(horizontal)">
                                      <p:cBhvr>
                                        <p:cTn id="7" dur="500"/>
                                        <p:tgtEl>
                                          <p:spTgt spid="521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1219">
                                            <p:txEl>
                                              <p:pRg st="1" end="1"/>
                                            </p:txEl>
                                          </p:spTgt>
                                        </p:tgtEl>
                                        <p:attrNameLst>
                                          <p:attrName>style.visibility</p:attrName>
                                        </p:attrNameLst>
                                      </p:cBhvr>
                                      <p:to>
                                        <p:strVal val="visible"/>
                                      </p:to>
                                    </p:set>
                                    <p:animEffect transition="in" filter="blinds(horizontal)">
                                      <p:cBhvr>
                                        <p:cTn id="12" dur="500"/>
                                        <p:tgtEl>
                                          <p:spTgt spid="521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1219">
                                            <p:txEl>
                                              <p:pRg st="2" end="2"/>
                                            </p:txEl>
                                          </p:spTgt>
                                        </p:tgtEl>
                                        <p:attrNameLst>
                                          <p:attrName>style.visibility</p:attrName>
                                        </p:attrNameLst>
                                      </p:cBhvr>
                                      <p:to>
                                        <p:strVal val="visible"/>
                                      </p:to>
                                    </p:set>
                                    <p:animEffect transition="in" filter="blinds(horizontal)">
                                      <p:cBhvr>
                                        <p:cTn id="17" dur="500"/>
                                        <p:tgtEl>
                                          <p:spTgt spid="521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21219">
                                            <p:txEl>
                                              <p:pRg st="3" end="3"/>
                                            </p:txEl>
                                          </p:spTgt>
                                        </p:tgtEl>
                                        <p:attrNameLst>
                                          <p:attrName>style.visibility</p:attrName>
                                        </p:attrNameLst>
                                      </p:cBhvr>
                                      <p:to>
                                        <p:strVal val="visible"/>
                                      </p:to>
                                    </p:set>
                                    <p:animEffect transition="in" filter="blinds(horizontal)">
                                      <p:cBhvr>
                                        <p:cTn id="22" dur="500"/>
                                        <p:tgtEl>
                                          <p:spTgt spid="521219">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21219">
                                            <p:txEl>
                                              <p:pRg st="4" end="4"/>
                                            </p:txEl>
                                          </p:spTgt>
                                        </p:tgtEl>
                                        <p:attrNameLst>
                                          <p:attrName>style.visibility</p:attrName>
                                        </p:attrNameLst>
                                      </p:cBhvr>
                                      <p:to>
                                        <p:strVal val="visible"/>
                                      </p:to>
                                    </p:set>
                                    <p:animEffect transition="in" filter="blinds(horizontal)">
                                      <p:cBhvr>
                                        <p:cTn id="25" dur="500"/>
                                        <p:tgtEl>
                                          <p:spTgt spid="521219">
                                            <p:txEl>
                                              <p:pRg st="4" end="4"/>
                                            </p:txEl>
                                          </p:spTgt>
                                        </p:tgtEl>
                                      </p:cBhvr>
                                    </p:animEffect>
                                  </p:childTnLst>
                                </p:cTn>
                              </p:par>
                            </p:childTnLst>
                          </p:cTn>
                        </p:par>
                        <p:par>
                          <p:cTn id="26" fill="hold" nodeType="afterGroup">
                            <p:stCondLst>
                              <p:cond delay="500"/>
                            </p:stCondLst>
                            <p:childTnLst>
                              <p:par>
                                <p:cTn id="27" presetID="3" presetClass="entr" presetSubtype="10" fill="hold" nodeType="afterEffect">
                                  <p:stCondLst>
                                    <p:cond delay="0"/>
                                  </p:stCondLst>
                                  <p:childTnLst>
                                    <p:set>
                                      <p:cBhvr>
                                        <p:cTn id="28" dur="1" fill="hold">
                                          <p:stCondLst>
                                            <p:cond delay="0"/>
                                          </p:stCondLst>
                                        </p:cTn>
                                        <p:tgtEl>
                                          <p:spTgt spid="521219">
                                            <p:txEl>
                                              <p:pRg st="5" end="5"/>
                                            </p:txEl>
                                          </p:spTgt>
                                        </p:tgtEl>
                                        <p:attrNameLst>
                                          <p:attrName>style.visibility</p:attrName>
                                        </p:attrNameLst>
                                      </p:cBhvr>
                                      <p:to>
                                        <p:strVal val="visible"/>
                                      </p:to>
                                    </p:set>
                                    <p:animEffect transition="in" filter="blinds(horizontal)">
                                      <p:cBhvr>
                                        <p:cTn id="29" dur="500"/>
                                        <p:tgtEl>
                                          <p:spTgt spid="521219">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521219">
                                            <p:txEl>
                                              <p:pRg st="6" end="6"/>
                                            </p:txEl>
                                          </p:spTgt>
                                        </p:tgtEl>
                                        <p:attrNameLst>
                                          <p:attrName>style.visibility</p:attrName>
                                        </p:attrNameLst>
                                      </p:cBhvr>
                                      <p:to>
                                        <p:strVal val="visible"/>
                                      </p:to>
                                    </p:set>
                                    <p:animEffect transition="in" filter="blinds(horizontal)">
                                      <p:cBhvr>
                                        <p:cTn id="34" dur="500"/>
                                        <p:tgtEl>
                                          <p:spTgt spid="521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4056FA60-D4F7-483F-B28E-D3A2F5483AD7}" type="slidenum">
              <a:rPr kumimoji="0" lang="en-US" altLang="en-US" sz="1400"/>
              <a:pPr>
                <a:spcBef>
                  <a:spcPct val="50000"/>
                </a:spcBef>
                <a:buClrTx/>
                <a:buSzTx/>
                <a:buFontTx/>
                <a:buNone/>
              </a:pPr>
              <a:t>21</a:t>
            </a:fld>
            <a:endParaRPr kumimoji="0" lang="en-US" altLang="en-US" sz="1400"/>
          </a:p>
        </p:txBody>
      </p:sp>
      <p:sp>
        <p:nvSpPr>
          <p:cNvPr id="19459" name="Rectangle 2"/>
          <p:cNvSpPr>
            <a:spLocks noGrp="1" noChangeArrowheads="1"/>
          </p:cNvSpPr>
          <p:nvPr>
            <p:ph type="title"/>
          </p:nvPr>
        </p:nvSpPr>
        <p:spPr>
          <a:xfrm>
            <a:off x="1000072" y="236483"/>
            <a:ext cx="10560557" cy="1143000"/>
          </a:xfrm>
        </p:spPr>
        <p:txBody>
          <a:bodyPr>
            <a:noAutofit/>
          </a:bodyPr>
          <a:lstStyle/>
          <a:p>
            <a:r>
              <a:rPr lang="en-AU" altLang="en-US" dirty="0"/>
              <a:t>BLP properties:  1 discretionary</a:t>
            </a:r>
          </a:p>
        </p:txBody>
      </p:sp>
      <p:sp>
        <p:nvSpPr>
          <p:cNvPr id="519171" name="Rectangle 3"/>
          <p:cNvSpPr>
            <a:spLocks noGrp="1" noChangeArrowheads="1"/>
          </p:cNvSpPr>
          <p:nvPr>
            <p:ph type="body" idx="1"/>
          </p:nvPr>
        </p:nvSpPr>
        <p:spPr>
          <a:xfrm>
            <a:off x="1000072" y="1752600"/>
            <a:ext cx="9941197" cy="4968875"/>
          </a:xfrm>
        </p:spPr>
        <p:txBody>
          <a:bodyPr>
            <a:normAutofit/>
          </a:bodyPr>
          <a:lstStyle/>
          <a:p>
            <a:pPr>
              <a:lnSpc>
                <a:spcPct val="90000"/>
              </a:lnSpc>
            </a:pPr>
            <a:r>
              <a:rPr lang="en-AU" altLang="en-US" sz="3200" b="1" dirty="0"/>
              <a:t>ds </a:t>
            </a:r>
            <a:r>
              <a:rPr lang="en-US" altLang="en-US" sz="3200" b="1" dirty="0"/>
              <a:t>–</a:t>
            </a:r>
            <a:r>
              <a:rPr lang="en-AU" altLang="en-US" sz="3200" b="1" dirty="0"/>
              <a:t> property.</a:t>
            </a:r>
          </a:p>
          <a:p>
            <a:pPr>
              <a:lnSpc>
                <a:spcPct val="90000"/>
              </a:lnSpc>
            </a:pPr>
            <a:r>
              <a:rPr lang="en-AU" altLang="en-US" sz="3200" dirty="0"/>
              <a:t>This is designed to capture the idea that permission may be passed from an authorised subject to another, level authorised, subject.</a:t>
            </a:r>
          </a:p>
          <a:p>
            <a:pPr>
              <a:lnSpc>
                <a:spcPct val="90000"/>
              </a:lnSpc>
            </a:pPr>
            <a:r>
              <a:rPr lang="en-AU" altLang="en-US" sz="3200" dirty="0"/>
              <a:t>(</a:t>
            </a:r>
            <a:r>
              <a:rPr lang="en-AU" altLang="en-US" sz="3200" dirty="0" err="1"/>
              <a:t>S</a:t>
            </a:r>
            <a:r>
              <a:rPr lang="en-AU" altLang="en-US" sz="3200" baseline="-25000" dirty="0" err="1"/>
              <a:t>i</a:t>
            </a:r>
            <a:r>
              <a:rPr lang="en-AU" altLang="en-US" sz="3200" dirty="0" err="1"/>
              <a:t>,O</a:t>
            </a:r>
            <a:r>
              <a:rPr lang="en-AU" altLang="en-US" sz="3200" baseline="-25000" dirty="0" err="1"/>
              <a:t>j</a:t>
            </a:r>
            <a:r>
              <a:rPr lang="en-AU" altLang="en-US" sz="3200" dirty="0" err="1"/>
              <a:t>,a</a:t>
            </a:r>
            <a:r>
              <a:rPr lang="en-AU" altLang="en-US" sz="3200" dirty="0"/>
              <a:t>) can be in b only if a </a:t>
            </a:r>
            <a:r>
              <a:rPr kumimoji="0" lang="en-US" altLang="en-US" sz="3200" dirty="0">
                <a:sym typeface="Symbol" panose="05050102010706020507" pitchFamily="18" charset="2"/>
              </a:rPr>
              <a:t> M[</a:t>
            </a:r>
            <a:r>
              <a:rPr kumimoji="0" lang="en-US" altLang="en-US" sz="3200" dirty="0" err="1">
                <a:sym typeface="Symbol" panose="05050102010706020507" pitchFamily="18" charset="2"/>
              </a:rPr>
              <a:t>S</a:t>
            </a:r>
            <a:r>
              <a:rPr kumimoji="0" lang="en-US" altLang="en-US" sz="3200" baseline="-25000" dirty="0" err="1">
                <a:sym typeface="Symbol" panose="05050102010706020507" pitchFamily="18" charset="2"/>
              </a:rPr>
              <a:t>i</a:t>
            </a:r>
            <a:r>
              <a:rPr kumimoji="0" lang="en-US" altLang="en-US" sz="3200" dirty="0" err="1">
                <a:sym typeface="Symbol" panose="05050102010706020507" pitchFamily="18" charset="2"/>
              </a:rPr>
              <a:t>,O</a:t>
            </a:r>
            <a:r>
              <a:rPr kumimoji="0" lang="en-US" altLang="en-US" sz="3200" baseline="-25000" dirty="0" err="1">
                <a:sym typeface="Symbol" panose="05050102010706020507" pitchFamily="18" charset="2"/>
              </a:rPr>
              <a:t>j</a:t>
            </a:r>
            <a:r>
              <a:rPr kumimoji="0" lang="en-US" altLang="en-US" sz="3200" dirty="0">
                <a:sym typeface="Symbol" panose="05050102010706020507" pitchFamily="18" charset="2"/>
              </a:rPr>
              <a:t>].</a:t>
            </a:r>
          </a:p>
          <a:p>
            <a:pPr>
              <a:lnSpc>
                <a:spcPct val="90000"/>
              </a:lnSpc>
            </a:pPr>
            <a:r>
              <a:rPr kumimoji="0" lang="en-US" altLang="en-US" sz="3200" dirty="0">
                <a:sym typeface="Symbol" panose="05050102010706020507" pitchFamily="18" charset="2"/>
              </a:rPr>
              <a:t>This can also be turned around to determine if </a:t>
            </a:r>
            <a:r>
              <a:rPr lang="en-US" altLang="en-US" sz="3200" dirty="0">
                <a:sym typeface="Math B" pitchFamily="2" charset="2"/>
              </a:rPr>
              <a:t>the current state (</a:t>
            </a:r>
            <a:r>
              <a:rPr lang="en-US" altLang="en-US" sz="3200" dirty="0" err="1">
                <a:sym typeface="Math B" pitchFamily="2" charset="2"/>
              </a:rPr>
              <a:t>b,M,f,H</a:t>
            </a:r>
            <a:r>
              <a:rPr lang="en-US" altLang="en-US" sz="3200" dirty="0">
                <a:sym typeface="Math B" pitchFamily="2" charset="2"/>
              </a:rPr>
              <a:t>) has the ds </a:t>
            </a:r>
            <a:r>
              <a:rPr lang="en-US" altLang="en-US" sz="3200" dirty="0"/>
              <a:t>–</a:t>
            </a:r>
            <a:r>
              <a:rPr lang="en-US" altLang="en-US" sz="3200" dirty="0">
                <a:sym typeface="Math B" pitchFamily="2" charset="2"/>
              </a:rPr>
              <a:t> property.</a:t>
            </a:r>
            <a:endParaRPr kumimoji="0" lang="en-AU" altLang="en-US" sz="3200" dirty="0">
              <a:sym typeface="Symbol" panose="05050102010706020507" pitchFamily="18" charset="2"/>
            </a:endParaRPr>
          </a:p>
        </p:txBody>
      </p:sp>
    </p:spTree>
    <p:extLst>
      <p:ext uri="{BB962C8B-B14F-4D97-AF65-F5344CB8AC3E}">
        <p14:creationId xmlns:p14="http://schemas.microsoft.com/office/powerpoint/2010/main" val="1648386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animEffect transition="in" filter="blinds(horizontal)">
                                      <p:cBhvr>
                                        <p:cTn id="7" dur="500"/>
                                        <p:tgtEl>
                                          <p:spTgt spid="519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9171">
                                            <p:txEl>
                                              <p:pRg st="1" end="1"/>
                                            </p:txEl>
                                          </p:spTgt>
                                        </p:tgtEl>
                                        <p:attrNameLst>
                                          <p:attrName>style.visibility</p:attrName>
                                        </p:attrNameLst>
                                      </p:cBhvr>
                                      <p:to>
                                        <p:strVal val="visible"/>
                                      </p:to>
                                    </p:set>
                                    <p:animEffect transition="in" filter="blinds(horizontal)">
                                      <p:cBhvr>
                                        <p:cTn id="12" dur="500"/>
                                        <p:tgtEl>
                                          <p:spTgt spid="519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19171">
                                            <p:txEl>
                                              <p:pRg st="2" end="2"/>
                                            </p:txEl>
                                          </p:spTgt>
                                        </p:tgtEl>
                                        <p:attrNameLst>
                                          <p:attrName>style.visibility</p:attrName>
                                        </p:attrNameLst>
                                      </p:cBhvr>
                                      <p:to>
                                        <p:strVal val="visible"/>
                                      </p:to>
                                    </p:set>
                                    <p:animEffect transition="in" filter="blinds(horizontal)">
                                      <p:cBhvr>
                                        <p:cTn id="17" dur="500"/>
                                        <p:tgtEl>
                                          <p:spTgt spid="519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19171">
                                            <p:txEl>
                                              <p:pRg st="3" end="3"/>
                                            </p:txEl>
                                          </p:spTgt>
                                        </p:tgtEl>
                                        <p:attrNameLst>
                                          <p:attrName>style.visibility</p:attrName>
                                        </p:attrNameLst>
                                      </p:cBhvr>
                                      <p:to>
                                        <p:strVal val="visible"/>
                                      </p:to>
                                    </p:set>
                                    <p:animEffect transition="in" filter="blinds(horizontal)">
                                      <p:cBhvr>
                                        <p:cTn id="22" dur="500"/>
                                        <p:tgtEl>
                                          <p:spTgt spid="519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81828B4D-C2BF-4E10-AECC-CA5C8EA0B2C0}" type="slidenum">
              <a:rPr kumimoji="0" lang="en-US" altLang="en-US" sz="1400"/>
              <a:pPr>
                <a:spcBef>
                  <a:spcPct val="50000"/>
                </a:spcBef>
                <a:buClrTx/>
                <a:buSzTx/>
                <a:buFontTx/>
                <a:buNone/>
              </a:pPr>
              <a:t>22</a:t>
            </a:fld>
            <a:endParaRPr kumimoji="0" lang="en-US" altLang="en-US" sz="1400"/>
          </a:p>
        </p:txBody>
      </p:sp>
      <p:sp>
        <p:nvSpPr>
          <p:cNvPr id="20483" name="Rectangle 2"/>
          <p:cNvSpPr>
            <a:spLocks noGrp="1" noChangeArrowheads="1"/>
          </p:cNvSpPr>
          <p:nvPr>
            <p:ph type="title"/>
          </p:nvPr>
        </p:nvSpPr>
        <p:spPr>
          <a:xfrm>
            <a:off x="872359" y="126123"/>
            <a:ext cx="7772400" cy="638503"/>
          </a:xfrm>
        </p:spPr>
        <p:txBody>
          <a:bodyPr>
            <a:normAutofit fontScale="90000"/>
          </a:bodyPr>
          <a:lstStyle/>
          <a:p>
            <a:r>
              <a:rPr lang="en-AU" altLang="en-US" dirty="0"/>
              <a:t>An example</a:t>
            </a:r>
          </a:p>
        </p:txBody>
      </p:sp>
      <p:sp>
        <p:nvSpPr>
          <p:cNvPr id="572419" name="Rectangle 3"/>
          <p:cNvSpPr>
            <a:spLocks noGrp="1" noChangeArrowheads="1"/>
          </p:cNvSpPr>
          <p:nvPr>
            <p:ph type="body" sz="half" idx="1"/>
          </p:nvPr>
        </p:nvSpPr>
        <p:spPr>
          <a:xfrm>
            <a:off x="872359" y="3825766"/>
            <a:ext cx="10836165" cy="2771884"/>
          </a:xfrm>
        </p:spPr>
        <p:txBody>
          <a:bodyPr>
            <a:noAutofit/>
          </a:bodyPr>
          <a:lstStyle/>
          <a:p>
            <a:pPr>
              <a:lnSpc>
                <a:spcPct val="80000"/>
              </a:lnSpc>
            </a:pPr>
            <a:r>
              <a:rPr lang="en-AU" altLang="en-US" sz="2800" dirty="0"/>
              <a:t>Cam and Cal cannot read personnel files, that would be reading up.</a:t>
            </a:r>
          </a:p>
          <a:p>
            <a:pPr>
              <a:lnSpc>
                <a:spcPct val="80000"/>
              </a:lnSpc>
            </a:pPr>
            <a:r>
              <a:rPr lang="en-AU" altLang="en-US" sz="2800" dirty="0"/>
              <a:t>Tam, Sam and Cam can all read the activity log files, if the access control matrices allow them to.</a:t>
            </a:r>
          </a:p>
          <a:p>
            <a:pPr>
              <a:lnSpc>
                <a:spcPct val="80000"/>
              </a:lnSpc>
            </a:pPr>
            <a:r>
              <a:rPr lang="en-AU" altLang="en-US" sz="2800" dirty="0"/>
              <a:t>Tam and Tom cannot write to the activity log files, that would be writing down.</a:t>
            </a:r>
          </a:p>
          <a:p>
            <a:pPr>
              <a:lnSpc>
                <a:spcPct val="80000"/>
              </a:lnSpc>
            </a:pPr>
            <a:r>
              <a:rPr lang="en-AU" altLang="en-US" sz="2800" dirty="0"/>
              <a:t>Uma and </a:t>
            </a:r>
            <a:r>
              <a:rPr lang="en-AU" altLang="en-US" sz="2800" dirty="0" err="1"/>
              <a:t>Una</a:t>
            </a:r>
            <a:r>
              <a:rPr lang="en-AU" altLang="en-US" sz="2800" dirty="0"/>
              <a:t> can write to the activity log files, if the access control matrices allow them to.</a:t>
            </a:r>
          </a:p>
        </p:txBody>
      </p:sp>
      <p:graphicFrame>
        <p:nvGraphicFramePr>
          <p:cNvPr id="572420" name="Group 4"/>
          <p:cNvGraphicFramePr>
            <a:graphicFrameLocks noGrp="1"/>
          </p:cNvGraphicFramePr>
          <p:nvPr>
            <p:ph sz="half" idx="2"/>
          </p:nvPr>
        </p:nvGraphicFramePr>
        <p:xfrm>
          <a:off x="1847851" y="1052514"/>
          <a:ext cx="7618413" cy="2592388"/>
        </p:xfrm>
        <a:graphic>
          <a:graphicData uri="http://schemas.openxmlformats.org/drawingml/2006/table">
            <a:tbl>
              <a:tblPr/>
              <a:tblGrid>
                <a:gridCol w="2955925">
                  <a:extLst>
                    <a:ext uri="{9D8B030D-6E8A-4147-A177-3AD203B41FA5}">
                      <a16:colId xmlns:a16="http://schemas.microsoft.com/office/drawing/2014/main" val="20000"/>
                    </a:ext>
                  </a:extLst>
                </a:gridCol>
                <a:gridCol w="1806575">
                  <a:extLst>
                    <a:ext uri="{9D8B030D-6E8A-4147-A177-3AD203B41FA5}">
                      <a16:colId xmlns:a16="http://schemas.microsoft.com/office/drawing/2014/main" val="20001"/>
                    </a:ext>
                  </a:extLst>
                </a:gridCol>
                <a:gridCol w="2855913">
                  <a:extLst>
                    <a:ext uri="{9D8B030D-6E8A-4147-A177-3AD203B41FA5}">
                      <a16:colId xmlns:a16="http://schemas.microsoft.com/office/drawing/2014/main" val="20002"/>
                    </a:ext>
                  </a:extLst>
                </a:gridCol>
              </a:tblGrid>
              <a:tr h="647700">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dirty="0">
                          <a:ln>
                            <a:noFill/>
                          </a:ln>
                          <a:solidFill>
                            <a:schemeClr val="tx1"/>
                          </a:solidFill>
                          <a:effectLst/>
                          <a:latin typeface="Arial" charset="0"/>
                        </a:rPr>
                        <a:t>Top secret (TS)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Tam, Tom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Personnel files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9288">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Secret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dirty="0">
                          <a:ln>
                            <a:noFill/>
                          </a:ln>
                          <a:solidFill>
                            <a:schemeClr val="tx1"/>
                          </a:solidFill>
                          <a:effectLst/>
                          <a:latin typeface="Arial" charset="0"/>
                        </a:rPr>
                        <a:t>Sal, Sam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Email files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dirty="0">
                          <a:ln>
                            <a:noFill/>
                          </a:ln>
                          <a:solidFill>
                            <a:schemeClr val="tx1"/>
                          </a:solidFill>
                          <a:effectLst/>
                          <a:latin typeface="Arial" charset="0"/>
                        </a:rPr>
                        <a:t>Confidential (C)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Cam, Cal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Activity log files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Unclassified (UC)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a:ln>
                            <a:noFill/>
                          </a:ln>
                          <a:solidFill>
                            <a:schemeClr val="tx1"/>
                          </a:solidFill>
                          <a:effectLst/>
                          <a:latin typeface="Arial" charset="0"/>
                        </a:rPr>
                        <a:t>Uma, Una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800" b="0" i="0" u="none" strike="noStrike" cap="none" normalizeH="0" baseline="0" dirty="0">
                          <a:ln>
                            <a:noFill/>
                          </a:ln>
                          <a:solidFill>
                            <a:schemeClr val="tx1"/>
                          </a:solidFill>
                          <a:effectLst/>
                          <a:latin typeface="Arial" charset="0"/>
                        </a:rPr>
                        <a:t>Phone lists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75679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72420"/>
                                        </p:tgtEl>
                                        <p:attrNameLst>
                                          <p:attrName>style.visibility</p:attrName>
                                        </p:attrNameLst>
                                      </p:cBhvr>
                                      <p:to>
                                        <p:strVal val="visible"/>
                                      </p:to>
                                    </p:set>
                                    <p:animEffect transition="in" filter="dissolve">
                                      <p:cBhvr>
                                        <p:cTn id="7" dur="500"/>
                                        <p:tgtEl>
                                          <p:spTgt spid="5724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2419">
                                            <p:txEl>
                                              <p:pRg st="0" end="0"/>
                                            </p:txEl>
                                          </p:spTgt>
                                        </p:tgtEl>
                                        <p:attrNameLst>
                                          <p:attrName>style.visibility</p:attrName>
                                        </p:attrNameLst>
                                      </p:cBhvr>
                                      <p:to>
                                        <p:strVal val="visible"/>
                                      </p:to>
                                    </p:set>
                                    <p:animEffect transition="in" filter="blinds(horizontal)">
                                      <p:cBhvr>
                                        <p:cTn id="12" dur="500"/>
                                        <p:tgtEl>
                                          <p:spTgt spid="5724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2419">
                                            <p:txEl>
                                              <p:pRg st="1" end="1"/>
                                            </p:txEl>
                                          </p:spTgt>
                                        </p:tgtEl>
                                        <p:attrNameLst>
                                          <p:attrName>style.visibility</p:attrName>
                                        </p:attrNameLst>
                                      </p:cBhvr>
                                      <p:to>
                                        <p:strVal val="visible"/>
                                      </p:to>
                                    </p:set>
                                    <p:animEffect transition="in" filter="blinds(horizontal)">
                                      <p:cBhvr>
                                        <p:cTn id="17" dur="500"/>
                                        <p:tgtEl>
                                          <p:spTgt spid="5724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72419">
                                            <p:txEl>
                                              <p:pRg st="2" end="2"/>
                                            </p:txEl>
                                          </p:spTgt>
                                        </p:tgtEl>
                                        <p:attrNameLst>
                                          <p:attrName>style.visibility</p:attrName>
                                        </p:attrNameLst>
                                      </p:cBhvr>
                                      <p:to>
                                        <p:strVal val="visible"/>
                                      </p:to>
                                    </p:set>
                                    <p:animEffect transition="in" filter="blinds(horizontal)">
                                      <p:cBhvr>
                                        <p:cTn id="22" dur="500"/>
                                        <p:tgtEl>
                                          <p:spTgt spid="5724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72419">
                                            <p:txEl>
                                              <p:pRg st="3" end="3"/>
                                            </p:txEl>
                                          </p:spTgt>
                                        </p:tgtEl>
                                        <p:attrNameLst>
                                          <p:attrName>style.visibility</p:attrName>
                                        </p:attrNameLst>
                                      </p:cBhvr>
                                      <p:to>
                                        <p:strVal val="visible"/>
                                      </p:to>
                                    </p:set>
                                    <p:animEffect transition="in" filter="blinds(horizontal)">
                                      <p:cBhvr>
                                        <p:cTn id="27" dur="500"/>
                                        <p:tgtEl>
                                          <p:spTgt spid="572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030288" y="188914"/>
            <a:ext cx="7772400" cy="792162"/>
          </a:xfrm>
        </p:spPr>
        <p:txBody>
          <a:bodyPr>
            <a:normAutofit/>
          </a:bodyPr>
          <a:lstStyle/>
          <a:p>
            <a:r>
              <a:rPr lang="en-AU" altLang="en-US"/>
              <a:t>Discretionary example …</a:t>
            </a:r>
          </a:p>
        </p:txBody>
      </p:sp>
      <p:sp>
        <p:nvSpPr>
          <p:cNvPr id="2150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0408A760-185B-4AC2-BFFF-EE1798D3B2AE}" type="slidenum">
              <a:rPr kumimoji="0" lang="en-US" altLang="en-US" sz="1400"/>
              <a:pPr>
                <a:spcBef>
                  <a:spcPct val="50000"/>
                </a:spcBef>
                <a:buClrTx/>
                <a:buSzTx/>
                <a:buFontTx/>
                <a:buNone/>
              </a:pPr>
              <a:t>23</a:t>
            </a:fld>
            <a:endParaRPr kumimoji="0" lang="en-US" altLang="en-US" sz="1400"/>
          </a:p>
        </p:txBody>
      </p:sp>
      <p:graphicFrame>
        <p:nvGraphicFramePr>
          <p:cNvPr id="5" name="Group 4"/>
          <p:cNvGraphicFramePr>
            <a:graphicFrameLocks/>
          </p:cNvGraphicFramePr>
          <p:nvPr/>
        </p:nvGraphicFramePr>
        <p:xfrm>
          <a:off x="3143251" y="981076"/>
          <a:ext cx="5616575" cy="1655764"/>
        </p:xfrm>
        <a:graphic>
          <a:graphicData uri="http://schemas.openxmlformats.org/drawingml/2006/table">
            <a:tbl>
              <a:tblPr/>
              <a:tblGrid>
                <a:gridCol w="2231007">
                  <a:extLst>
                    <a:ext uri="{9D8B030D-6E8A-4147-A177-3AD203B41FA5}">
                      <a16:colId xmlns:a16="http://schemas.microsoft.com/office/drawing/2014/main" val="20000"/>
                    </a:ext>
                  </a:extLst>
                </a:gridCol>
                <a:gridCol w="1395888">
                  <a:extLst>
                    <a:ext uri="{9D8B030D-6E8A-4147-A177-3AD203B41FA5}">
                      <a16:colId xmlns:a16="http://schemas.microsoft.com/office/drawing/2014/main" val="20001"/>
                    </a:ext>
                  </a:extLst>
                </a:gridCol>
                <a:gridCol w="1989680">
                  <a:extLst>
                    <a:ext uri="{9D8B030D-6E8A-4147-A177-3AD203B41FA5}">
                      <a16:colId xmlns:a16="http://schemas.microsoft.com/office/drawing/2014/main" val="20002"/>
                    </a:ext>
                  </a:extLst>
                </a:gridCol>
              </a:tblGrid>
              <a:tr h="396202">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Top secret (TS)</a:t>
                      </a:r>
                    </a:p>
                  </a:txBody>
                  <a:tcPr marL="91450" marR="91450"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Tam</a:t>
                      </a:r>
                    </a:p>
                  </a:txBody>
                  <a:tcPr marL="91450" marR="91450"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Personnel file</a:t>
                      </a:r>
                    </a:p>
                  </a:txBody>
                  <a:tcPr marL="91450" marR="91450"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02">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a:ln>
                            <a:noFill/>
                          </a:ln>
                          <a:solidFill>
                            <a:schemeClr val="tx1"/>
                          </a:solidFill>
                          <a:effectLst/>
                          <a:latin typeface="Arial" charset="0"/>
                        </a:rPr>
                        <a:t>Secret (S)</a:t>
                      </a:r>
                    </a:p>
                  </a:txBody>
                  <a:tcPr marL="91450" marR="91450"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Sam</a:t>
                      </a:r>
                    </a:p>
                  </a:txBody>
                  <a:tcPr marL="91450" marR="91450"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Email file</a:t>
                      </a:r>
                    </a:p>
                  </a:txBody>
                  <a:tcPr marL="91450" marR="91450"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484">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a:ln>
                            <a:noFill/>
                          </a:ln>
                          <a:solidFill>
                            <a:schemeClr val="tx1"/>
                          </a:solidFill>
                          <a:effectLst/>
                          <a:latin typeface="Arial" charset="0"/>
                        </a:rPr>
                        <a:t>Confidential (C)</a:t>
                      </a:r>
                    </a:p>
                  </a:txBody>
                  <a:tcPr marL="91450" marR="91450"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Cam</a:t>
                      </a:r>
                    </a:p>
                  </a:txBody>
                  <a:tcPr marL="91450" marR="91450"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Activity log</a:t>
                      </a:r>
                    </a:p>
                  </a:txBody>
                  <a:tcPr marL="91450" marR="91450"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76">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Unclassified (UC)</a:t>
                      </a:r>
                    </a:p>
                  </a:txBody>
                  <a:tcPr marL="91450" marR="91450"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err="1">
                          <a:ln>
                            <a:noFill/>
                          </a:ln>
                          <a:solidFill>
                            <a:schemeClr val="tx1"/>
                          </a:solidFill>
                          <a:effectLst/>
                          <a:latin typeface="Arial" charset="0"/>
                        </a:rPr>
                        <a:t>Uma</a:t>
                      </a:r>
                      <a:endParaRPr kumimoji="1" lang="en-AU" sz="2000" b="0" i="0" u="none" strike="noStrike" cap="none" normalizeH="0" baseline="0" dirty="0">
                        <a:ln>
                          <a:noFill/>
                        </a:ln>
                        <a:solidFill>
                          <a:schemeClr val="tx1"/>
                        </a:solidFill>
                        <a:effectLst/>
                        <a:latin typeface="Arial" charset="0"/>
                      </a:endParaRPr>
                    </a:p>
                  </a:txBody>
                  <a:tcPr marL="91450" marR="91450"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sz="2000" b="0" i="0" u="none" strike="noStrike" cap="none" normalizeH="0" baseline="0" dirty="0">
                          <a:ln>
                            <a:noFill/>
                          </a:ln>
                          <a:solidFill>
                            <a:schemeClr val="tx1"/>
                          </a:solidFill>
                          <a:effectLst/>
                          <a:latin typeface="Arial" charset="0"/>
                        </a:rPr>
                        <a:t>Phone list</a:t>
                      </a:r>
                    </a:p>
                  </a:txBody>
                  <a:tcPr marL="91450" marR="91450"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4"/>
          <p:cNvGraphicFramePr>
            <a:graphicFrameLocks noGrp="1"/>
          </p:cNvGraphicFramePr>
          <p:nvPr/>
        </p:nvGraphicFramePr>
        <p:xfrm>
          <a:off x="2135188" y="2781301"/>
          <a:ext cx="7218362" cy="2054225"/>
        </p:xfrm>
        <a:graphic>
          <a:graphicData uri="http://schemas.openxmlformats.org/drawingml/2006/table">
            <a:tbl>
              <a:tblPr/>
              <a:tblGrid>
                <a:gridCol w="1304925">
                  <a:extLst>
                    <a:ext uri="{9D8B030D-6E8A-4147-A177-3AD203B41FA5}">
                      <a16:colId xmlns:a16="http://schemas.microsoft.com/office/drawing/2014/main" val="20000"/>
                    </a:ext>
                  </a:extLst>
                </a:gridCol>
                <a:gridCol w="1793875">
                  <a:extLst>
                    <a:ext uri="{9D8B030D-6E8A-4147-A177-3AD203B41FA5}">
                      <a16:colId xmlns:a16="http://schemas.microsoft.com/office/drawing/2014/main" val="20001"/>
                    </a:ext>
                  </a:extLst>
                </a:gridCol>
                <a:gridCol w="1284287">
                  <a:extLst>
                    <a:ext uri="{9D8B030D-6E8A-4147-A177-3AD203B41FA5}">
                      <a16:colId xmlns:a16="http://schemas.microsoft.com/office/drawing/2014/main" val="20002"/>
                    </a:ext>
                  </a:extLst>
                </a:gridCol>
                <a:gridCol w="1466850">
                  <a:extLst>
                    <a:ext uri="{9D8B030D-6E8A-4147-A177-3AD203B41FA5}">
                      <a16:colId xmlns:a16="http://schemas.microsoft.com/office/drawing/2014/main" val="20003"/>
                    </a:ext>
                  </a:extLst>
                </a:gridCol>
                <a:gridCol w="1368425">
                  <a:extLst>
                    <a:ext uri="{9D8B030D-6E8A-4147-A177-3AD203B41FA5}">
                      <a16:colId xmlns:a16="http://schemas.microsoft.com/office/drawing/2014/main" val="20004"/>
                    </a:ext>
                  </a:extLst>
                </a:gridCol>
              </a:tblGrid>
              <a:tr h="396875">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Personnel file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Email file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Activity log</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Phone list</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Tam</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Read, Write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Sam</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Read</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Cam</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Uma</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r>
                        <a:rPr kumimoji="1" lang="en-AU" altLang="en-US" sz="2000" b="0" i="0" u="none" strike="noStrike" cap="none" normalizeH="0" baseline="0">
                          <a:ln>
                            <a:noFill/>
                          </a:ln>
                          <a:solidFill>
                            <a:schemeClr val="tx1"/>
                          </a:solidFill>
                          <a:effectLst/>
                          <a:latin typeface="Arial" charset="0"/>
                        </a:rPr>
                        <a:t>Write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2000" b="0" i="0" u="none" strike="noStrike" cap="none" normalizeH="0" baseline="0">
                        <a:ln>
                          <a:noFill/>
                        </a:ln>
                        <a:solidFill>
                          <a:schemeClr val="tx1"/>
                        </a:solidFill>
                        <a:effectLst/>
                        <a:latin typeface="Arial"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Box 7"/>
          <p:cNvSpPr txBox="1">
            <a:spLocks noChangeArrowheads="1"/>
          </p:cNvSpPr>
          <p:nvPr/>
        </p:nvSpPr>
        <p:spPr bwMode="auto">
          <a:xfrm>
            <a:off x="2566988" y="5013325"/>
            <a:ext cx="6703136"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AU" altLang="en-US" sz="2800" dirty="0">
                <a:latin typeface="Times New Roman" panose="02020603050405020304" pitchFamily="18" charset="0"/>
              </a:rPr>
              <a:t>Tam can read and write the Personnel file.</a:t>
            </a:r>
          </a:p>
          <a:p>
            <a:pPr>
              <a:spcBef>
                <a:spcPct val="0"/>
              </a:spcBef>
              <a:buClrTx/>
              <a:buSzTx/>
              <a:buFontTx/>
              <a:buNone/>
            </a:pPr>
            <a:r>
              <a:rPr kumimoji="0" lang="en-AU" altLang="en-US" sz="2800" dirty="0">
                <a:latin typeface="Times New Roman" panose="02020603050405020304" pitchFamily="18" charset="0"/>
              </a:rPr>
              <a:t>Sam cannot currently write the Email file.</a:t>
            </a:r>
          </a:p>
          <a:p>
            <a:pPr>
              <a:spcBef>
                <a:spcPct val="0"/>
              </a:spcBef>
              <a:buClrTx/>
              <a:buSzTx/>
              <a:buFontTx/>
              <a:buNone/>
            </a:pPr>
            <a:r>
              <a:rPr kumimoji="0" lang="en-AU" altLang="en-US" sz="2800" dirty="0">
                <a:latin typeface="Times New Roman" panose="02020603050405020304" pitchFamily="18" charset="0"/>
              </a:rPr>
              <a:t>Cam cannot do anything.</a:t>
            </a:r>
          </a:p>
          <a:p>
            <a:pPr>
              <a:spcBef>
                <a:spcPct val="0"/>
              </a:spcBef>
              <a:buClrTx/>
              <a:buSzTx/>
              <a:buFontTx/>
              <a:buNone/>
            </a:pPr>
            <a:r>
              <a:rPr kumimoji="0" lang="en-AU" altLang="en-US" sz="2800" dirty="0">
                <a:latin typeface="Times New Roman" panose="02020603050405020304" pitchFamily="18" charset="0"/>
              </a:rPr>
              <a:t>Uma cannot read the Phone list.</a:t>
            </a:r>
          </a:p>
        </p:txBody>
      </p:sp>
    </p:spTree>
    <p:extLst>
      <p:ext uri="{BB962C8B-B14F-4D97-AF65-F5344CB8AC3E}">
        <p14:creationId xmlns:p14="http://schemas.microsoft.com/office/powerpoint/2010/main" val="3185917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blinds(horizontal)">
                                      <p:cBhvr>
                                        <p:cTn id="17" dur="500"/>
                                        <p:tgtEl>
                                          <p:spTgt spid="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blinds(horizontal)">
                                      <p:cBhvr>
                                        <p:cTn id="22" dur="500"/>
                                        <p:tgtEl>
                                          <p:spTgt spid="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blinds(horizontal)">
                                      <p:cBhvr>
                                        <p:cTn id="27" dur="500"/>
                                        <p:tgtEl>
                                          <p:spTgt spid="8">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animEffect transition="in" filter="blinds(horizontal)">
                                      <p:cBhvr>
                                        <p:cTn id="3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038632" y="216417"/>
            <a:ext cx="7772400" cy="1143000"/>
          </a:xfrm>
        </p:spPr>
        <p:txBody>
          <a:bodyPr/>
          <a:lstStyle/>
          <a:p>
            <a:r>
              <a:rPr lang="en-AU" altLang="en-US" dirty="0"/>
              <a:t>Criticism of McLean</a:t>
            </a:r>
          </a:p>
        </p:txBody>
      </p:sp>
      <p:sp>
        <p:nvSpPr>
          <p:cNvPr id="23555" name="Content Placeholder 2"/>
          <p:cNvSpPr>
            <a:spLocks noGrp="1"/>
          </p:cNvSpPr>
          <p:nvPr>
            <p:ph idx="1"/>
          </p:nvPr>
        </p:nvSpPr>
        <p:spPr>
          <a:xfrm>
            <a:off x="1038632" y="1437390"/>
            <a:ext cx="8218487" cy="3313113"/>
          </a:xfrm>
        </p:spPr>
        <p:txBody>
          <a:bodyPr>
            <a:normAutofit/>
          </a:bodyPr>
          <a:lstStyle/>
          <a:p>
            <a:r>
              <a:rPr lang="en-AU" altLang="en-US" sz="3200" dirty="0"/>
              <a:t>What happens if we</a:t>
            </a:r>
          </a:p>
          <a:p>
            <a:pPr lvl="1"/>
            <a:r>
              <a:rPr lang="en-AU" altLang="en-US" sz="2800" dirty="0"/>
              <a:t>downgrade all subjects to lowest security level</a:t>
            </a:r>
          </a:p>
          <a:p>
            <a:pPr lvl="1"/>
            <a:r>
              <a:rPr lang="en-AU" altLang="en-US" sz="2800" dirty="0"/>
              <a:t>downgrade all objects to lowest security level</a:t>
            </a:r>
          </a:p>
          <a:p>
            <a:pPr lvl="1"/>
            <a:r>
              <a:rPr lang="en-AU" altLang="en-US" sz="2800" dirty="0"/>
              <a:t>enter all access rights in the ACM M</a:t>
            </a:r>
          </a:p>
          <a:p>
            <a:r>
              <a:rPr lang="en-AU" altLang="en-US" sz="3200" dirty="0"/>
              <a:t>Is the system secure?</a:t>
            </a:r>
          </a:p>
        </p:txBody>
      </p:sp>
      <p:sp>
        <p:nvSpPr>
          <p:cNvPr id="2355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26999848-5129-4539-AC14-9CA2B784024B}" type="slidenum">
              <a:rPr kumimoji="0" lang="en-US" altLang="en-US" sz="1400"/>
              <a:pPr>
                <a:spcBef>
                  <a:spcPct val="50000"/>
                </a:spcBef>
                <a:buClrTx/>
                <a:buSzTx/>
                <a:buFontTx/>
                <a:buNone/>
              </a:pPr>
              <a:t>24</a:t>
            </a:fld>
            <a:endParaRPr kumimoji="0" lang="en-US" altLang="en-US" sz="1400"/>
          </a:p>
        </p:txBody>
      </p:sp>
    </p:spTree>
    <p:extLst>
      <p:ext uri="{BB962C8B-B14F-4D97-AF65-F5344CB8AC3E}">
        <p14:creationId xmlns:p14="http://schemas.microsoft.com/office/powerpoint/2010/main" val="1567664284"/>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131333" y="179867"/>
            <a:ext cx="7772400" cy="1143000"/>
          </a:xfrm>
        </p:spPr>
        <p:txBody>
          <a:bodyPr/>
          <a:lstStyle/>
          <a:p>
            <a:r>
              <a:rPr lang="en-AU" altLang="en-US" dirty="0" err="1"/>
              <a:t>Tranquility</a:t>
            </a:r>
            <a:endParaRPr lang="en-AU" altLang="en-US" dirty="0"/>
          </a:p>
        </p:txBody>
      </p:sp>
      <p:sp>
        <p:nvSpPr>
          <p:cNvPr id="25603" name="Content Placeholder 2"/>
          <p:cNvSpPr>
            <a:spLocks noGrp="1"/>
          </p:cNvSpPr>
          <p:nvPr>
            <p:ph idx="1"/>
          </p:nvPr>
        </p:nvSpPr>
        <p:spPr>
          <a:xfrm>
            <a:off x="1131333" y="1430891"/>
            <a:ext cx="9820202" cy="5207020"/>
          </a:xfrm>
        </p:spPr>
        <p:txBody>
          <a:bodyPr>
            <a:normAutofit/>
          </a:bodyPr>
          <a:lstStyle/>
          <a:p>
            <a:r>
              <a:rPr lang="en-AU" altLang="en-US" dirty="0"/>
              <a:t>Consider a system with s</a:t>
            </a:r>
            <a:r>
              <a:rPr lang="en-AU" altLang="en-US" baseline="-25000" dirty="0"/>
              <a:t>1</a:t>
            </a:r>
            <a:r>
              <a:rPr lang="en-AU" altLang="en-US" dirty="0"/>
              <a:t>,s</a:t>
            </a:r>
            <a:r>
              <a:rPr lang="en-AU" altLang="en-US" baseline="-25000" dirty="0"/>
              <a:t>2</a:t>
            </a:r>
            <a:r>
              <a:rPr lang="en-AU" altLang="en-US" dirty="0"/>
              <a:t>,o</a:t>
            </a:r>
            <a:r>
              <a:rPr lang="en-AU" altLang="en-US" baseline="-25000" dirty="0"/>
              <a:t>1</a:t>
            </a:r>
            <a:r>
              <a:rPr lang="en-AU" altLang="en-US" dirty="0"/>
              <a:t>,o</a:t>
            </a:r>
            <a:r>
              <a:rPr lang="en-AU" altLang="en-US" baseline="-25000" dirty="0"/>
              <a:t>2</a:t>
            </a:r>
            <a:r>
              <a:rPr lang="en-AU" altLang="en-US" dirty="0"/>
              <a:t> </a:t>
            </a:r>
          </a:p>
          <a:p>
            <a:pPr lvl="1"/>
            <a:r>
              <a:rPr lang="en-US" altLang="en-US" sz="2800" dirty="0"/>
              <a:t>f</a:t>
            </a:r>
            <a:r>
              <a:rPr lang="en-US" altLang="en-US" sz="2800" baseline="-25000" dirty="0"/>
              <a:t>s</a:t>
            </a:r>
            <a:r>
              <a:rPr lang="en-AU" altLang="en-US" sz="2800" dirty="0"/>
              <a:t>(s</a:t>
            </a:r>
            <a:r>
              <a:rPr lang="en-AU" altLang="en-US" sz="2800" baseline="-25000" dirty="0"/>
              <a:t>1</a:t>
            </a:r>
            <a:r>
              <a:rPr lang="en-AU" altLang="en-US" sz="2800" dirty="0"/>
              <a:t>)=</a:t>
            </a:r>
            <a:r>
              <a:rPr lang="en-US" altLang="en-US" sz="2800" dirty="0"/>
              <a:t>f</a:t>
            </a:r>
            <a:r>
              <a:rPr lang="en-US" altLang="en-US" sz="2800" baseline="-25000" dirty="0"/>
              <a:t>c</a:t>
            </a:r>
            <a:r>
              <a:rPr lang="en-AU" altLang="en-US" sz="2800" dirty="0"/>
              <a:t>(s</a:t>
            </a:r>
            <a:r>
              <a:rPr lang="en-AU" altLang="en-US" sz="2800" baseline="-25000" dirty="0"/>
              <a:t>1</a:t>
            </a:r>
            <a:r>
              <a:rPr lang="en-AU" altLang="en-US" sz="2800" dirty="0"/>
              <a:t>)=</a:t>
            </a:r>
            <a:r>
              <a:rPr lang="en-US" altLang="en-US" sz="2800" dirty="0" err="1"/>
              <a:t>f</a:t>
            </a:r>
            <a:r>
              <a:rPr lang="en-US" altLang="en-US" sz="2800" baseline="-25000" dirty="0" err="1"/>
              <a:t>o</a:t>
            </a:r>
            <a:r>
              <a:rPr lang="en-AU" altLang="en-US" sz="2800" dirty="0"/>
              <a:t>(o</a:t>
            </a:r>
            <a:r>
              <a:rPr lang="en-AU" altLang="en-US" sz="2800" baseline="-25000" dirty="0"/>
              <a:t>1</a:t>
            </a:r>
            <a:r>
              <a:rPr lang="en-AU" altLang="en-US" sz="2800" dirty="0"/>
              <a:t>)=high </a:t>
            </a:r>
          </a:p>
          <a:p>
            <a:pPr lvl="1"/>
            <a:r>
              <a:rPr lang="en-US" altLang="en-US" sz="2800" dirty="0"/>
              <a:t>f</a:t>
            </a:r>
            <a:r>
              <a:rPr lang="en-US" altLang="en-US" sz="2800" baseline="-25000" dirty="0"/>
              <a:t>s</a:t>
            </a:r>
            <a:r>
              <a:rPr lang="en-AU" altLang="en-US" sz="2800" dirty="0"/>
              <a:t>(s</a:t>
            </a:r>
            <a:r>
              <a:rPr lang="en-AU" altLang="en-US" sz="2800" baseline="-25000" dirty="0"/>
              <a:t>2</a:t>
            </a:r>
            <a:r>
              <a:rPr lang="en-AU" altLang="en-US" sz="2800" dirty="0"/>
              <a:t>)=</a:t>
            </a:r>
            <a:r>
              <a:rPr lang="en-US" altLang="en-US" sz="2800" dirty="0"/>
              <a:t> f</a:t>
            </a:r>
            <a:r>
              <a:rPr lang="en-US" altLang="en-US" sz="2800" baseline="-25000" dirty="0"/>
              <a:t>c</a:t>
            </a:r>
            <a:r>
              <a:rPr lang="en-AU" altLang="en-US" sz="2800" dirty="0"/>
              <a:t>(s</a:t>
            </a:r>
            <a:r>
              <a:rPr lang="en-AU" altLang="en-US" sz="2800" baseline="-25000" dirty="0"/>
              <a:t>2</a:t>
            </a:r>
            <a:r>
              <a:rPr lang="en-AU" altLang="en-US" sz="2800" dirty="0"/>
              <a:t>)=</a:t>
            </a:r>
            <a:r>
              <a:rPr lang="en-US" altLang="en-US" sz="2800" dirty="0"/>
              <a:t> </a:t>
            </a:r>
            <a:r>
              <a:rPr lang="en-US" altLang="en-US" sz="2800" dirty="0" err="1"/>
              <a:t>f</a:t>
            </a:r>
            <a:r>
              <a:rPr lang="en-US" altLang="en-US" sz="2800" baseline="-25000" dirty="0" err="1"/>
              <a:t>o</a:t>
            </a:r>
            <a:r>
              <a:rPr lang="en-AU" altLang="en-US" sz="2800" dirty="0"/>
              <a:t>(o</a:t>
            </a:r>
            <a:r>
              <a:rPr lang="en-AU" altLang="en-US" sz="2800" baseline="-25000" dirty="0"/>
              <a:t>2</a:t>
            </a:r>
            <a:r>
              <a:rPr lang="en-AU" altLang="en-US" sz="2800" dirty="0"/>
              <a:t>) =low </a:t>
            </a:r>
          </a:p>
          <a:p>
            <a:r>
              <a:rPr lang="en-AU" altLang="en-US" dirty="0"/>
              <a:t>And the following execution: </a:t>
            </a:r>
          </a:p>
          <a:p>
            <a:pPr lvl="1"/>
            <a:r>
              <a:rPr lang="en-AU" altLang="en-US" sz="2800" dirty="0"/>
              <a:t>s</a:t>
            </a:r>
            <a:r>
              <a:rPr lang="en-AU" altLang="en-US" sz="2800" baseline="-25000" dirty="0"/>
              <a:t>1</a:t>
            </a:r>
            <a:r>
              <a:rPr lang="en-AU" altLang="en-US" sz="2800" dirty="0"/>
              <a:t> gets access to o</a:t>
            </a:r>
            <a:r>
              <a:rPr lang="en-AU" altLang="en-US" sz="2800" baseline="-25000" dirty="0"/>
              <a:t>1</a:t>
            </a:r>
            <a:r>
              <a:rPr lang="en-AU" altLang="en-US" sz="2800" dirty="0"/>
              <a:t>, read something, release access, then change current level to low, get write access to o</a:t>
            </a:r>
            <a:r>
              <a:rPr lang="en-AU" altLang="en-US" sz="2800" baseline="-25000" dirty="0"/>
              <a:t>2</a:t>
            </a:r>
            <a:r>
              <a:rPr lang="en-AU" altLang="en-US" sz="2800" dirty="0"/>
              <a:t>, write to o</a:t>
            </a:r>
            <a:r>
              <a:rPr lang="en-AU" altLang="en-US" sz="2800" baseline="-25000" dirty="0"/>
              <a:t>2</a:t>
            </a:r>
          </a:p>
          <a:p>
            <a:r>
              <a:rPr lang="en-AU" altLang="en-US" dirty="0"/>
              <a:t>Every state is secure</a:t>
            </a:r>
          </a:p>
          <a:p>
            <a:r>
              <a:rPr lang="en-AU" altLang="en-US" b="1" dirty="0"/>
              <a:t>Solution: tranquillity principle</a:t>
            </a:r>
            <a:r>
              <a:rPr lang="en-AU" altLang="en-US" dirty="0"/>
              <a:t>: subject cannot change current levels, or cannot drop to below the highest level read so far</a:t>
            </a:r>
          </a:p>
          <a:p>
            <a:endParaRPr lang="en-AU" altLang="en-US" dirty="0"/>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0979A1A2-E8C4-4844-9FAD-78916729A221}" type="slidenum">
              <a:rPr kumimoji="0" lang="en-US" altLang="en-US" sz="1400"/>
              <a:pPr>
                <a:spcBef>
                  <a:spcPct val="50000"/>
                </a:spcBef>
                <a:buClrTx/>
                <a:buSzTx/>
                <a:buFontTx/>
                <a:buNone/>
              </a:pPr>
              <a:t>25</a:t>
            </a:fld>
            <a:endParaRPr kumimoji="0" lang="en-US" altLang="en-US" sz="1400"/>
          </a:p>
        </p:txBody>
      </p:sp>
    </p:spTree>
    <p:extLst>
      <p:ext uri="{BB962C8B-B14F-4D97-AF65-F5344CB8AC3E}">
        <p14:creationId xmlns:p14="http://schemas.microsoft.com/office/powerpoint/2010/main" val="2570438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088804" y="234692"/>
            <a:ext cx="7772400" cy="1143000"/>
          </a:xfrm>
        </p:spPr>
        <p:txBody>
          <a:bodyPr/>
          <a:lstStyle/>
          <a:p>
            <a:r>
              <a:rPr lang="en-AU" altLang="en-US" dirty="0"/>
              <a:t>Covert channels</a:t>
            </a:r>
          </a:p>
        </p:txBody>
      </p:sp>
      <p:sp>
        <p:nvSpPr>
          <p:cNvPr id="27651" name="Content Placeholder 2"/>
          <p:cNvSpPr>
            <a:spLocks noGrp="1"/>
          </p:cNvSpPr>
          <p:nvPr>
            <p:ph idx="1"/>
          </p:nvPr>
        </p:nvSpPr>
        <p:spPr>
          <a:xfrm>
            <a:off x="1088804" y="1377691"/>
            <a:ext cx="9309838" cy="4321359"/>
          </a:xfrm>
        </p:spPr>
        <p:txBody>
          <a:bodyPr/>
          <a:lstStyle/>
          <a:p>
            <a:r>
              <a:rPr lang="en-US" altLang="en-US" sz="3200" dirty="0"/>
              <a:t>is a type of attack that creates a capability to transfer information objects between processes that are not supposed to be allowed to communicate by the computer security policy.</a:t>
            </a:r>
          </a:p>
          <a:p>
            <a:r>
              <a:rPr lang="en-US" altLang="en-US" sz="3200" dirty="0"/>
              <a:t>Require two active agents, one at a low level and the other at a high level and an encoding scheme to pass on information about the high level to the low level</a:t>
            </a:r>
            <a:endParaRPr lang="en-AU" altLang="en-US" sz="3200" dirty="0"/>
          </a:p>
          <a:p>
            <a:endParaRPr lang="en-AU" altLang="en-US" dirty="0"/>
          </a:p>
        </p:txBody>
      </p:sp>
      <p:sp>
        <p:nvSpPr>
          <p:cNvPr id="276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1B5783EF-7EFE-4F4F-B0FF-3F678BE4D7D8}" type="slidenum">
              <a:rPr kumimoji="0" lang="en-US" altLang="en-US" sz="1400"/>
              <a:pPr>
                <a:spcBef>
                  <a:spcPct val="50000"/>
                </a:spcBef>
                <a:buClrTx/>
                <a:buSzTx/>
                <a:buFontTx/>
                <a:buNone/>
              </a:pPr>
              <a:t>26</a:t>
            </a:fld>
            <a:endParaRPr kumimoji="0" lang="en-US" altLang="en-US" sz="1400"/>
          </a:p>
        </p:txBody>
      </p:sp>
    </p:spTree>
    <p:extLst>
      <p:ext uri="{BB962C8B-B14F-4D97-AF65-F5344CB8AC3E}">
        <p14:creationId xmlns:p14="http://schemas.microsoft.com/office/powerpoint/2010/main" val="2124864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1176519" y="662993"/>
            <a:ext cx="9888878" cy="4895850"/>
          </a:xfrm>
        </p:spPr>
        <p:txBody>
          <a:bodyPr>
            <a:normAutofit/>
          </a:bodyPr>
          <a:lstStyle/>
          <a:p>
            <a:r>
              <a:rPr lang="en-US" altLang="en-US" sz="3200" dirty="0"/>
              <a:t>Low-level subject s</a:t>
            </a:r>
            <a:r>
              <a:rPr lang="en-US" altLang="en-US" sz="3200" baseline="-25000" dirty="0"/>
              <a:t>1</a:t>
            </a:r>
            <a:r>
              <a:rPr lang="en-US" altLang="en-US" sz="3200" dirty="0"/>
              <a:t> creates object o</a:t>
            </a:r>
          </a:p>
          <a:p>
            <a:r>
              <a:rPr lang="en-US" altLang="en-US" sz="3200" dirty="0"/>
              <a:t>High-level accomplice s</a:t>
            </a:r>
            <a:r>
              <a:rPr lang="en-US" altLang="en-US" sz="3200" baseline="-25000" dirty="0"/>
              <a:t>2</a:t>
            </a:r>
            <a:r>
              <a:rPr lang="en-US" altLang="en-US" sz="3200" dirty="0"/>
              <a:t> either</a:t>
            </a:r>
          </a:p>
          <a:p>
            <a:pPr lvl="1"/>
            <a:r>
              <a:rPr lang="en-US" altLang="en-US" sz="2800" dirty="0"/>
              <a:t>reclassifies o to its own level (Message 1) </a:t>
            </a:r>
          </a:p>
          <a:p>
            <a:pPr lvl="1"/>
            <a:r>
              <a:rPr lang="en-US" altLang="en-US" sz="2800" dirty="0"/>
              <a:t>leaves o unchanged (Message 0)</a:t>
            </a:r>
          </a:p>
          <a:p>
            <a:r>
              <a:rPr lang="en-US" altLang="en-US" sz="3200" dirty="0"/>
              <a:t>s</a:t>
            </a:r>
            <a:r>
              <a:rPr lang="en-US" altLang="en-US" sz="3200" baseline="-25000" dirty="0"/>
              <a:t>1</a:t>
            </a:r>
            <a:r>
              <a:rPr lang="en-US" altLang="en-US" sz="3200" dirty="0"/>
              <a:t> tries to access o, which is either </a:t>
            </a:r>
          </a:p>
          <a:p>
            <a:pPr lvl="1"/>
            <a:r>
              <a:rPr lang="en-US" altLang="en-US" sz="2800" dirty="0"/>
              <a:t>success (Message 0) </a:t>
            </a:r>
          </a:p>
          <a:p>
            <a:pPr lvl="1"/>
            <a:r>
              <a:rPr lang="en-US" altLang="en-US" sz="2800" dirty="0"/>
              <a:t>access denied (Message 1) </a:t>
            </a:r>
          </a:p>
          <a:p>
            <a:r>
              <a:rPr lang="en-US" altLang="en-US" sz="3200" dirty="0"/>
              <a:t>One bit of information is transmitted s</a:t>
            </a:r>
            <a:r>
              <a:rPr lang="en-US" altLang="en-US" sz="3200" baseline="-25000" dirty="0"/>
              <a:t>2</a:t>
            </a:r>
            <a:r>
              <a:rPr lang="en-US" altLang="en-US" sz="3200" dirty="0"/>
              <a:t> → s</a:t>
            </a:r>
            <a:r>
              <a:rPr lang="en-US" altLang="en-US" sz="3200" baseline="-25000" dirty="0"/>
              <a:t>1</a:t>
            </a:r>
            <a:endParaRPr lang="en-AU" altLang="en-US" sz="3200" baseline="-25000" dirty="0"/>
          </a:p>
        </p:txBody>
      </p:sp>
      <p:sp>
        <p:nvSpPr>
          <p:cNvPr id="2969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F53B3DC5-087C-42FA-B19F-A4E234B3A1D3}" type="slidenum">
              <a:rPr kumimoji="0" lang="en-US" altLang="en-US" sz="1400"/>
              <a:pPr>
                <a:spcBef>
                  <a:spcPct val="50000"/>
                </a:spcBef>
                <a:buClrTx/>
                <a:buSzTx/>
                <a:buFontTx/>
                <a:buNone/>
              </a:pPr>
              <a:t>27</a:t>
            </a:fld>
            <a:endParaRPr kumimoji="0" lang="en-US" altLang="en-US" sz="1400"/>
          </a:p>
        </p:txBody>
      </p:sp>
    </p:spTree>
    <p:extLst>
      <p:ext uri="{BB962C8B-B14F-4D97-AF65-F5344CB8AC3E}">
        <p14:creationId xmlns:p14="http://schemas.microsoft.com/office/powerpoint/2010/main" val="267953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1116173" y="738448"/>
            <a:ext cx="9764030" cy="4620629"/>
          </a:xfrm>
        </p:spPr>
        <p:txBody>
          <a:bodyPr>
            <a:normAutofit/>
          </a:bodyPr>
          <a:lstStyle/>
          <a:p>
            <a:r>
              <a:rPr lang="en-US" altLang="en-US" dirty="0"/>
              <a:t>The concern is with subjects not users</a:t>
            </a:r>
          </a:p>
          <a:p>
            <a:pPr lvl="1"/>
            <a:r>
              <a:rPr lang="en-US" altLang="en-US" sz="2800" dirty="0"/>
              <a:t>Users are trusted (must be trusted) not to disclose secret information outside of the computer system</a:t>
            </a:r>
          </a:p>
          <a:p>
            <a:pPr lvl="1"/>
            <a:r>
              <a:rPr lang="en-US" altLang="en-US" sz="2800" dirty="0"/>
              <a:t>Subjects are not trusted because they may have Trojan Horses embedded in the code they execute</a:t>
            </a:r>
          </a:p>
          <a:p>
            <a:r>
              <a:rPr lang="en-US" altLang="en-US" dirty="0"/>
              <a:t>Covert channels are typically noisy but information theory techniques can be used to achieve error-free communication</a:t>
            </a:r>
          </a:p>
        </p:txBody>
      </p:sp>
      <p:sp>
        <p:nvSpPr>
          <p:cNvPr id="3174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24A1938-B4E3-43ED-BFB3-3D25935F9049}" type="slidenum">
              <a:rPr kumimoji="0" lang="en-US" altLang="en-US" sz="1400"/>
              <a:pPr>
                <a:spcBef>
                  <a:spcPct val="50000"/>
                </a:spcBef>
                <a:buClrTx/>
                <a:buSzTx/>
                <a:buFontTx/>
                <a:buNone/>
              </a:pPr>
              <a:t>28</a:t>
            </a:fld>
            <a:endParaRPr kumimoji="0" lang="en-US" altLang="en-US" sz="1400"/>
          </a:p>
        </p:txBody>
      </p:sp>
    </p:spTree>
    <p:extLst>
      <p:ext uri="{BB962C8B-B14F-4D97-AF65-F5344CB8AC3E}">
        <p14:creationId xmlns:p14="http://schemas.microsoft.com/office/powerpoint/2010/main" val="1917117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220285" y="198246"/>
            <a:ext cx="7772400" cy="957455"/>
          </a:xfrm>
        </p:spPr>
        <p:txBody>
          <a:bodyPr/>
          <a:lstStyle/>
          <a:p>
            <a:r>
              <a:rPr lang="en-AU" altLang="en-US" dirty="0"/>
              <a:t>Limitations of BLP</a:t>
            </a:r>
          </a:p>
        </p:txBody>
      </p:sp>
      <p:sp>
        <p:nvSpPr>
          <p:cNvPr id="33795" name="Content Placeholder 2"/>
          <p:cNvSpPr>
            <a:spLocks noGrp="1"/>
          </p:cNvSpPr>
          <p:nvPr>
            <p:ph idx="1"/>
          </p:nvPr>
        </p:nvSpPr>
        <p:spPr>
          <a:xfrm>
            <a:off x="1220284" y="1342786"/>
            <a:ext cx="10176261" cy="4937125"/>
          </a:xfrm>
        </p:spPr>
        <p:txBody>
          <a:bodyPr>
            <a:normAutofit/>
          </a:bodyPr>
          <a:lstStyle/>
          <a:p>
            <a:r>
              <a:rPr lang="en-AU" altLang="en-US" dirty="0"/>
              <a:t>only deals with confidentiality, not integrity</a:t>
            </a:r>
          </a:p>
          <a:p>
            <a:pPr lvl="1"/>
            <a:r>
              <a:rPr lang="en-AU" altLang="en-US" sz="2800" dirty="0"/>
              <a:t>Confidentiality is not important as integrity in many situations</a:t>
            </a:r>
          </a:p>
          <a:p>
            <a:pPr lvl="1"/>
            <a:r>
              <a:rPr lang="en-AU" altLang="en-US" sz="2800" dirty="0"/>
              <a:t>Limits the access and sharing of information</a:t>
            </a:r>
          </a:p>
          <a:p>
            <a:r>
              <a:rPr lang="en-AU" altLang="en-US" dirty="0"/>
              <a:t>assumes a fixed rights</a:t>
            </a:r>
          </a:p>
          <a:p>
            <a:pPr lvl="1"/>
            <a:r>
              <a:rPr lang="en-AU" altLang="en-US" sz="2800" dirty="0"/>
              <a:t>assumes tranquillity</a:t>
            </a:r>
          </a:p>
          <a:p>
            <a:pPr lvl="1"/>
            <a:r>
              <a:rPr lang="en-AU" altLang="en-US" sz="2800" dirty="0"/>
              <a:t>no model for access management</a:t>
            </a:r>
          </a:p>
          <a:p>
            <a:pPr lvl="1"/>
            <a:r>
              <a:rPr lang="en-AU" altLang="en-US" sz="2800" dirty="0"/>
              <a:t>no model for policy making</a:t>
            </a:r>
          </a:p>
        </p:txBody>
      </p:sp>
      <p:sp>
        <p:nvSpPr>
          <p:cNvPr id="337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39F4EE6D-8369-4D07-879F-5E2230CDBE09}" type="slidenum">
              <a:rPr kumimoji="0" lang="en-US" altLang="en-US" sz="1400"/>
              <a:pPr>
                <a:spcBef>
                  <a:spcPct val="50000"/>
                </a:spcBef>
                <a:buClrTx/>
                <a:buSzTx/>
                <a:buFontTx/>
                <a:buNone/>
              </a:pPr>
              <a:t>29</a:t>
            </a:fld>
            <a:endParaRPr kumimoji="0" lang="en-US" altLang="en-US" sz="1400"/>
          </a:p>
        </p:txBody>
      </p:sp>
    </p:spTree>
    <p:extLst>
      <p:ext uri="{BB962C8B-B14F-4D97-AF65-F5344CB8AC3E}">
        <p14:creationId xmlns:p14="http://schemas.microsoft.com/office/powerpoint/2010/main" val="3174858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862BFE6-621F-4E35-A97B-1680DF98B00B}" type="slidenum">
              <a:rPr kumimoji="0" lang="en-US" altLang="en-US" sz="1400"/>
              <a:pPr>
                <a:spcBef>
                  <a:spcPct val="50000"/>
                </a:spcBef>
                <a:buClrTx/>
                <a:buSzTx/>
                <a:buFontTx/>
                <a:buNone/>
              </a:pPr>
              <a:t>30</a:t>
            </a:fld>
            <a:endParaRPr kumimoji="0" lang="en-US" altLang="en-US" sz="1400"/>
          </a:p>
        </p:txBody>
      </p:sp>
      <p:sp>
        <p:nvSpPr>
          <p:cNvPr id="38915" name="Rectangle 2"/>
          <p:cNvSpPr>
            <a:spLocks noGrp="1" noChangeArrowheads="1"/>
          </p:cNvSpPr>
          <p:nvPr>
            <p:ph type="title"/>
          </p:nvPr>
        </p:nvSpPr>
        <p:spPr>
          <a:xfrm>
            <a:off x="1292772" y="260350"/>
            <a:ext cx="8903741" cy="1143000"/>
          </a:xfrm>
        </p:spPr>
        <p:txBody>
          <a:bodyPr>
            <a:normAutofit/>
          </a:bodyPr>
          <a:lstStyle/>
          <a:p>
            <a:r>
              <a:rPr lang="en-AU" altLang="en-US" dirty="0"/>
              <a:t>Integrity based access control</a:t>
            </a:r>
            <a:endParaRPr lang="en-US" altLang="en-US" dirty="0"/>
          </a:p>
        </p:txBody>
      </p:sp>
      <p:sp>
        <p:nvSpPr>
          <p:cNvPr id="573443" name="Rectangle 3"/>
          <p:cNvSpPr>
            <a:spLocks noGrp="1" noChangeArrowheads="1"/>
          </p:cNvSpPr>
          <p:nvPr>
            <p:ph type="body" idx="1"/>
          </p:nvPr>
        </p:nvSpPr>
        <p:spPr>
          <a:xfrm>
            <a:off x="1292772" y="1525807"/>
            <a:ext cx="10658436" cy="2993641"/>
          </a:xfrm>
        </p:spPr>
        <p:txBody>
          <a:bodyPr>
            <a:normAutofit/>
          </a:bodyPr>
          <a:lstStyle/>
          <a:p>
            <a:r>
              <a:rPr lang="en-AU" altLang="en-US" dirty="0"/>
              <a:t>A different type of protection is integrity based access control.</a:t>
            </a:r>
          </a:p>
          <a:p>
            <a:pPr lvl="1"/>
            <a:r>
              <a:rPr lang="en-AU" altLang="en-US" dirty="0"/>
              <a:t>In such models we protect against unauthorised modification of information.</a:t>
            </a:r>
          </a:p>
          <a:p>
            <a:r>
              <a:rPr lang="en-AU" altLang="en-US" dirty="0"/>
              <a:t>Notice how, for both models, the definitions hinge on the presence of the word </a:t>
            </a:r>
            <a:r>
              <a:rPr lang="en-AU" altLang="en-US" i="1" dirty="0"/>
              <a:t>unauthorised</a:t>
            </a:r>
            <a:r>
              <a:rPr lang="en-AU" altLang="en-US" dirty="0"/>
              <a:t>.</a:t>
            </a:r>
          </a:p>
        </p:txBody>
      </p:sp>
    </p:spTree>
    <p:extLst>
      <p:ext uri="{BB962C8B-B14F-4D97-AF65-F5344CB8AC3E}">
        <p14:creationId xmlns:p14="http://schemas.microsoft.com/office/powerpoint/2010/main" val="3211791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73443">
                                            <p:txEl>
                                              <p:pRg st="0" end="0"/>
                                            </p:txEl>
                                          </p:spTgt>
                                        </p:tgtEl>
                                        <p:attrNameLst>
                                          <p:attrName>style.visibility</p:attrName>
                                        </p:attrNameLst>
                                      </p:cBhvr>
                                      <p:to>
                                        <p:strVal val="visible"/>
                                      </p:to>
                                    </p:set>
                                    <p:animEffect transition="in" filter="blinds(horizontal)">
                                      <p:cBhvr>
                                        <p:cTn id="7" dur="500"/>
                                        <p:tgtEl>
                                          <p:spTgt spid="573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443">
                                            <p:txEl>
                                              <p:pRg st="1" end="1"/>
                                            </p:txEl>
                                          </p:spTgt>
                                        </p:tgtEl>
                                        <p:attrNameLst>
                                          <p:attrName>style.visibility</p:attrName>
                                        </p:attrNameLst>
                                      </p:cBhvr>
                                      <p:to>
                                        <p:strVal val="visible"/>
                                      </p:to>
                                    </p:set>
                                    <p:animEffect transition="in" filter="blinds(horizontal)">
                                      <p:cBhvr>
                                        <p:cTn id="12" dur="500"/>
                                        <p:tgtEl>
                                          <p:spTgt spid="573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443">
                                            <p:txEl>
                                              <p:pRg st="2" end="2"/>
                                            </p:txEl>
                                          </p:spTgt>
                                        </p:tgtEl>
                                        <p:attrNameLst>
                                          <p:attrName>style.visibility</p:attrName>
                                        </p:attrNameLst>
                                      </p:cBhvr>
                                      <p:to>
                                        <p:strVal val="visible"/>
                                      </p:to>
                                    </p:set>
                                    <p:animEffect transition="in" filter="blinds(horizontal)">
                                      <p:cBhvr>
                                        <p:cTn id="17" dur="500"/>
                                        <p:tgtEl>
                                          <p:spTgt spid="573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1AA7CCD2-85F5-4277-9C4D-056436F08049}" type="slidenum">
              <a:rPr kumimoji="0" lang="en-US" altLang="en-US" sz="1400"/>
              <a:pPr>
                <a:spcBef>
                  <a:spcPct val="50000"/>
                </a:spcBef>
                <a:buClrTx/>
                <a:buSzTx/>
                <a:buFontTx/>
                <a:buNone/>
              </a:pPr>
              <a:t>31</a:t>
            </a:fld>
            <a:endParaRPr kumimoji="0" lang="en-US" altLang="en-US" sz="1400"/>
          </a:p>
        </p:txBody>
      </p:sp>
      <p:sp>
        <p:nvSpPr>
          <p:cNvPr id="39939" name="Rectangle 2"/>
          <p:cNvSpPr>
            <a:spLocks noGrp="1" noChangeArrowheads="1"/>
          </p:cNvSpPr>
          <p:nvPr>
            <p:ph type="title"/>
          </p:nvPr>
        </p:nvSpPr>
        <p:spPr>
          <a:xfrm>
            <a:off x="1218105" y="94593"/>
            <a:ext cx="7772400" cy="1143000"/>
          </a:xfrm>
        </p:spPr>
        <p:txBody>
          <a:bodyPr/>
          <a:lstStyle/>
          <a:p>
            <a:r>
              <a:rPr lang="en-AU" altLang="en-US" dirty="0"/>
              <a:t>The </a:t>
            </a:r>
            <a:r>
              <a:rPr lang="en-AU" altLang="en-US" dirty="0" err="1"/>
              <a:t>Biba</a:t>
            </a:r>
            <a:r>
              <a:rPr lang="en-AU" altLang="en-US" dirty="0"/>
              <a:t> model</a:t>
            </a:r>
          </a:p>
        </p:txBody>
      </p:sp>
      <p:sp>
        <p:nvSpPr>
          <p:cNvPr id="523267" name="Rectangle 3"/>
          <p:cNvSpPr>
            <a:spLocks noGrp="1" noChangeArrowheads="1"/>
          </p:cNvSpPr>
          <p:nvPr>
            <p:ph type="body" idx="1"/>
          </p:nvPr>
        </p:nvSpPr>
        <p:spPr>
          <a:xfrm>
            <a:off x="1218105" y="1156561"/>
            <a:ext cx="10093023" cy="5543550"/>
          </a:xfrm>
        </p:spPr>
        <p:txBody>
          <a:bodyPr>
            <a:normAutofit/>
          </a:bodyPr>
          <a:lstStyle/>
          <a:p>
            <a:pPr>
              <a:lnSpc>
                <a:spcPct val="90000"/>
              </a:lnSpc>
            </a:pPr>
            <a:r>
              <a:rPr lang="en-AU" altLang="en-US" sz="2800" dirty="0"/>
              <a:t>The classical integrity based access control model is the Biba model (1977). </a:t>
            </a:r>
          </a:p>
          <a:p>
            <a:pPr>
              <a:lnSpc>
                <a:spcPct val="90000"/>
              </a:lnSpc>
            </a:pPr>
            <a:r>
              <a:rPr lang="en-AU" altLang="en-US" sz="2800" dirty="0"/>
              <a:t>Much of the basis for the model is the same as BLP.</a:t>
            </a:r>
          </a:p>
          <a:p>
            <a:pPr>
              <a:lnSpc>
                <a:spcPct val="90000"/>
              </a:lnSpc>
            </a:pPr>
            <a:r>
              <a:rPr lang="en-AU" altLang="en-US" sz="2800" dirty="0"/>
              <a:t>The access modes can be extended to include an </a:t>
            </a:r>
            <a:r>
              <a:rPr lang="en-AU" altLang="en-US" sz="2800" b="1" dirty="0"/>
              <a:t>Invoke </a:t>
            </a:r>
            <a:r>
              <a:rPr lang="en-AU" altLang="en-US" sz="2800" dirty="0"/>
              <a:t>instruction:</a:t>
            </a:r>
          </a:p>
          <a:p>
            <a:pPr lvl="1">
              <a:lnSpc>
                <a:spcPct val="90000"/>
              </a:lnSpc>
              <a:buFontTx/>
              <a:buNone/>
            </a:pPr>
            <a:r>
              <a:rPr lang="en-AU" altLang="en-US" sz="2400" dirty="0"/>
              <a:t>{</a:t>
            </a:r>
            <a:r>
              <a:rPr lang="en-AU" altLang="en-US" sz="2400" b="1" dirty="0"/>
              <a:t>Modify</a:t>
            </a:r>
            <a:r>
              <a:rPr lang="en-AU" altLang="en-US" sz="2400" dirty="0"/>
              <a:t> (Write), </a:t>
            </a:r>
            <a:r>
              <a:rPr lang="en-AU" altLang="en-US" sz="2400" b="1" dirty="0"/>
              <a:t>Observe </a:t>
            </a:r>
            <a:r>
              <a:rPr lang="en-AU" altLang="en-US" sz="2400" dirty="0"/>
              <a:t>(Read), </a:t>
            </a:r>
            <a:r>
              <a:rPr lang="en-AU" altLang="en-US" sz="2400" b="1" dirty="0"/>
              <a:t>Execute</a:t>
            </a:r>
            <a:r>
              <a:rPr lang="en-AU" altLang="en-US" sz="2400" dirty="0"/>
              <a:t>, </a:t>
            </a:r>
            <a:r>
              <a:rPr lang="en-AU" altLang="en-US" sz="2400" b="1" dirty="0"/>
              <a:t>Invoke </a:t>
            </a:r>
            <a:r>
              <a:rPr lang="en-AU" altLang="en-US" sz="2400" dirty="0"/>
              <a:t>(subject to subject communication/use)}</a:t>
            </a:r>
          </a:p>
          <a:p>
            <a:pPr>
              <a:lnSpc>
                <a:spcPct val="90000"/>
              </a:lnSpc>
            </a:pPr>
            <a:r>
              <a:rPr lang="en-AU" altLang="en-US" sz="2800" dirty="0"/>
              <a:t>The rules to provide the appropriate policies are, in some sense, the reverse (or dual) of those for BLP.</a:t>
            </a:r>
          </a:p>
          <a:p>
            <a:pPr>
              <a:lnSpc>
                <a:spcPct val="90000"/>
              </a:lnSpc>
              <a:buFont typeface="Monotype Sorts" pitchFamily="36" charset="2"/>
              <a:buNone/>
            </a:pPr>
            <a:r>
              <a:rPr lang="en-AU" altLang="en-US" sz="2800" b="1" dirty="0"/>
              <a:t>		“No write up, no read down!”</a:t>
            </a:r>
          </a:p>
        </p:txBody>
      </p:sp>
    </p:spTree>
    <p:extLst>
      <p:ext uri="{BB962C8B-B14F-4D97-AF65-F5344CB8AC3E}">
        <p14:creationId xmlns:p14="http://schemas.microsoft.com/office/powerpoint/2010/main" val="1821625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animEffect transition="in" filter="blinds(horizontal)">
                                      <p:cBhvr>
                                        <p:cTn id="7" dur="500"/>
                                        <p:tgtEl>
                                          <p:spTgt spid="523267">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23267">
                                            <p:txEl>
                                              <p:pRg st="1" end="1"/>
                                            </p:txEl>
                                          </p:spTgt>
                                        </p:tgtEl>
                                        <p:attrNameLst>
                                          <p:attrName>style.visibility</p:attrName>
                                        </p:attrNameLst>
                                      </p:cBhvr>
                                      <p:to>
                                        <p:strVal val="visible"/>
                                      </p:to>
                                    </p:set>
                                    <p:animEffect transition="in" filter="blinds(horizontal)">
                                      <p:cBhvr>
                                        <p:cTn id="11" dur="500"/>
                                        <p:tgtEl>
                                          <p:spTgt spid="52326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523267">
                                            <p:txEl>
                                              <p:pRg st="2" end="2"/>
                                            </p:txEl>
                                          </p:spTgt>
                                        </p:tgtEl>
                                        <p:attrNameLst>
                                          <p:attrName>style.visibility</p:attrName>
                                        </p:attrNameLst>
                                      </p:cBhvr>
                                      <p:to>
                                        <p:strVal val="visible"/>
                                      </p:to>
                                    </p:set>
                                    <p:animEffect transition="in" filter="blinds(horizontal)">
                                      <p:cBhvr>
                                        <p:cTn id="16" dur="500"/>
                                        <p:tgtEl>
                                          <p:spTgt spid="523267">
                                            <p:txEl>
                                              <p:pRg st="2" end="2"/>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3267">
                                            <p:txEl>
                                              <p:pRg st="3" end="3"/>
                                            </p:txEl>
                                          </p:spTgt>
                                        </p:tgtEl>
                                        <p:attrNameLst>
                                          <p:attrName>style.visibility</p:attrName>
                                        </p:attrNameLst>
                                      </p:cBhvr>
                                      <p:to>
                                        <p:strVal val="visible"/>
                                      </p:to>
                                    </p:set>
                                    <p:animEffect transition="in" filter="blinds(horizontal)">
                                      <p:cBhvr>
                                        <p:cTn id="19" dur="500"/>
                                        <p:tgtEl>
                                          <p:spTgt spid="523267">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523267">
                                            <p:txEl>
                                              <p:pRg st="4" end="4"/>
                                            </p:txEl>
                                          </p:spTgt>
                                        </p:tgtEl>
                                        <p:attrNameLst>
                                          <p:attrName>style.visibility</p:attrName>
                                        </p:attrNameLst>
                                      </p:cBhvr>
                                      <p:to>
                                        <p:strVal val="visible"/>
                                      </p:to>
                                    </p:set>
                                    <p:animEffect transition="in" filter="blinds(horizontal)">
                                      <p:cBhvr>
                                        <p:cTn id="24" dur="500"/>
                                        <p:tgtEl>
                                          <p:spTgt spid="523267">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23267">
                                            <p:txEl>
                                              <p:pRg st="5" end="5"/>
                                            </p:txEl>
                                          </p:spTgt>
                                        </p:tgtEl>
                                        <p:attrNameLst>
                                          <p:attrName>style.visibility</p:attrName>
                                        </p:attrNameLst>
                                      </p:cBhvr>
                                      <p:to>
                                        <p:strVal val="visible"/>
                                      </p:to>
                                    </p:set>
                                    <p:animEffect transition="in" filter="blinds(horizontal)">
                                      <p:cBhvr>
                                        <p:cTn id="27" dur="500"/>
                                        <p:tgtEl>
                                          <p:spTgt spid="523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833D0DD0-B755-4564-9C8F-7F5532B15733}" type="slidenum">
              <a:rPr kumimoji="0" lang="en-US" altLang="en-US" sz="1400"/>
              <a:pPr>
                <a:spcBef>
                  <a:spcPct val="50000"/>
                </a:spcBef>
                <a:buClrTx/>
                <a:buSzTx/>
                <a:buFontTx/>
                <a:buNone/>
              </a:pPr>
              <a:t>32</a:t>
            </a:fld>
            <a:endParaRPr kumimoji="0" lang="en-US" altLang="en-US" sz="1400"/>
          </a:p>
        </p:txBody>
      </p:sp>
      <p:sp>
        <p:nvSpPr>
          <p:cNvPr id="572418" name="Rectangle 2"/>
          <p:cNvSpPr>
            <a:spLocks noGrp="1" noChangeArrowheads="1"/>
          </p:cNvSpPr>
          <p:nvPr>
            <p:ph type="body" idx="1"/>
          </p:nvPr>
        </p:nvSpPr>
        <p:spPr>
          <a:xfrm>
            <a:off x="945932" y="648687"/>
            <a:ext cx="10552386" cy="5258127"/>
          </a:xfrm>
        </p:spPr>
        <p:txBody>
          <a:bodyPr/>
          <a:lstStyle/>
          <a:p>
            <a:r>
              <a:rPr lang="en-AU" altLang="en-US" sz="2800" dirty="0" err="1"/>
              <a:t>Biba</a:t>
            </a:r>
            <a:r>
              <a:rPr lang="en-AU" altLang="en-US" sz="2800" dirty="0"/>
              <a:t> is important now because a modified version of it is used in Vista and Windows 7.</a:t>
            </a:r>
          </a:p>
          <a:p>
            <a:pPr lvl="1"/>
            <a:r>
              <a:rPr lang="en-AU" altLang="en-US" sz="2400" dirty="0"/>
              <a:t>Vista was probably the first commercial use of </a:t>
            </a:r>
            <a:r>
              <a:rPr lang="en-AU" altLang="en-US" sz="2400" dirty="0" err="1"/>
              <a:t>Biba</a:t>
            </a:r>
            <a:r>
              <a:rPr lang="en-AU" altLang="en-US" sz="2400" dirty="0"/>
              <a:t>.</a:t>
            </a:r>
          </a:p>
          <a:p>
            <a:r>
              <a:rPr lang="en-AU" altLang="en-US" sz="2800" dirty="0"/>
              <a:t>Microsoft has something called MIC: Mandatory Integrity Control.</a:t>
            </a:r>
          </a:p>
          <a:p>
            <a:pPr>
              <a:buFont typeface="Monotype Sorts" pitchFamily="36" charset="2"/>
              <a:buNone/>
            </a:pPr>
            <a:r>
              <a:rPr lang="en-AU" altLang="en-US" dirty="0"/>
              <a:t>Read </a:t>
            </a:r>
            <a:r>
              <a:rPr lang="en-AU" altLang="en-US" dirty="0">
                <a:hlinkClick r:id="rId3"/>
              </a:rPr>
              <a:t>http://www.symantec.com/connect/articles/introduction-windows-integrity-control</a:t>
            </a:r>
            <a:r>
              <a:rPr lang="en-AU" altLang="en-US" dirty="0"/>
              <a:t> </a:t>
            </a:r>
          </a:p>
          <a:p>
            <a:r>
              <a:rPr lang="en-AU" altLang="en-US" sz="2800" dirty="0"/>
              <a:t>Each object is assigned one of six integrity levels: Untrusted, Low, Medium, High, System and Installer.</a:t>
            </a:r>
          </a:p>
          <a:p>
            <a:pPr lvl="1"/>
            <a:r>
              <a:rPr lang="en-AU" altLang="en-US" sz="2400" dirty="0"/>
              <a:t>Documentation at msdn.</a:t>
            </a:r>
            <a:r>
              <a:rPr lang="en-AU" altLang="en-US" sz="2400" b="1" dirty="0"/>
              <a:t>microsoft</a:t>
            </a:r>
            <a:r>
              <a:rPr lang="en-AU" altLang="en-US" sz="2400" dirty="0"/>
              <a:t>.com notes that in the absence of an integrity label, a medium label is assigned. </a:t>
            </a:r>
          </a:p>
          <a:p>
            <a:r>
              <a:rPr lang="en-AU" altLang="en-US" sz="2800" dirty="0"/>
              <a:t>Vista has some sort of token-based system for executing privileges and maintaining integrity.</a:t>
            </a:r>
          </a:p>
        </p:txBody>
      </p:sp>
    </p:spTree>
    <p:extLst>
      <p:ext uri="{BB962C8B-B14F-4D97-AF65-F5344CB8AC3E}">
        <p14:creationId xmlns:p14="http://schemas.microsoft.com/office/powerpoint/2010/main" val="12402824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72418">
                                            <p:txEl>
                                              <p:pRg st="0" end="0"/>
                                            </p:txEl>
                                          </p:spTgt>
                                        </p:tgtEl>
                                        <p:attrNameLst>
                                          <p:attrName>style.visibility</p:attrName>
                                        </p:attrNameLst>
                                      </p:cBhvr>
                                      <p:to>
                                        <p:strVal val="visible"/>
                                      </p:to>
                                    </p:set>
                                    <p:animEffect transition="in" filter="blinds(horizontal)">
                                      <p:cBhvr>
                                        <p:cTn id="7" dur="500"/>
                                        <p:tgtEl>
                                          <p:spTgt spid="5724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2418">
                                            <p:txEl>
                                              <p:pRg st="1" end="1"/>
                                            </p:txEl>
                                          </p:spTgt>
                                        </p:tgtEl>
                                        <p:attrNameLst>
                                          <p:attrName>style.visibility</p:attrName>
                                        </p:attrNameLst>
                                      </p:cBhvr>
                                      <p:to>
                                        <p:strVal val="visible"/>
                                      </p:to>
                                    </p:set>
                                    <p:animEffect transition="in" filter="blinds(horizontal)">
                                      <p:cBhvr>
                                        <p:cTn id="12" dur="500"/>
                                        <p:tgtEl>
                                          <p:spTgt spid="57241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2418">
                                            <p:txEl>
                                              <p:pRg st="2" end="2"/>
                                            </p:txEl>
                                          </p:spTgt>
                                        </p:tgtEl>
                                        <p:attrNameLst>
                                          <p:attrName>style.visibility</p:attrName>
                                        </p:attrNameLst>
                                      </p:cBhvr>
                                      <p:to>
                                        <p:strVal val="visible"/>
                                      </p:to>
                                    </p:set>
                                    <p:animEffect transition="in" filter="blinds(horizontal)">
                                      <p:cBhvr>
                                        <p:cTn id="17" dur="500"/>
                                        <p:tgtEl>
                                          <p:spTgt spid="572418">
                                            <p:txEl>
                                              <p:pRg st="2" end="2"/>
                                            </p:txEl>
                                          </p:spTgt>
                                        </p:tgtEl>
                                      </p:cBhvr>
                                    </p:animEffect>
                                  </p:childTnLst>
                                </p:cTn>
                              </p:par>
                            </p:childTnLst>
                          </p:cTn>
                        </p:par>
                        <p:par>
                          <p:cTn id="18" fill="hold" nodeType="afterGroup">
                            <p:stCondLst>
                              <p:cond delay="500"/>
                            </p:stCondLst>
                            <p:childTnLst>
                              <p:par>
                                <p:cTn id="19" presetID="3" presetClass="entr" presetSubtype="10" fill="hold" nodeType="afterEffect">
                                  <p:stCondLst>
                                    <p:cond delay="0"/>
                                  </p:stCondLst>
                                  <p:childTnLst>
                                    <p:set>
                                      <p:cBhvr>
                                        <p:cTn id="20" dur="1" fill="hold">
                                          <p:stCondLst>
                                            <p:cond delay="0"/>
                                          </p:stCondLst>
                                        </p:cTn>
                                        <p:tgtEl>
                                          <p:spTgt spid="572418">
                                            <p:txEl>
                                              <p:pRg st="3" end="3"/>
                                            </p:txEl>
                                          </p:spTgt>
                                        </p:tgtEl>
                                        <p:attrNameLst>
                                          <p:attrName>style.visibility</p:attrName>
                                        </p:attrNameLst>
                                      </p:cBhvr>
                                      <p:to>
                                        <p:strVal val="visible"/>
                                      </p:to>
                                    </p:set>
                                    <p:animEffect transition="in" filter="blinds(horizontal)">
                                      <p:cBhvr>
                                        <p:cTn id="21" dur="500"/>
                                        <p:tgtEl>
                                          <p:spTgt spid="572418">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572418">
                                            <p:txEl>
                                              <p:pRg st="4" end="4"/>
                                            </p:txEl>
                                          </p:spTgt>
                                        </p:tgtEl>
                                        <p:attrNameLst>
                                          <p:attrName>style.visibility</p:attrName>
                                        </p:attrNameLst>
                                      </p:cBhvr>
                                      <p:to>
                                        <p:strVal val="visible"/>
                                      </p:to>
                                    </p:set>
                                    <p:animEffect transition="in" filter="blinds(horizontal)">
                                      <p:cBhvr>
                                        <p:cTn id="26" dur="500"/>
                                        <p:tgtEl>
                                          <p:spTgt spid="572418">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572418">
                                            <p:txEl>
                                              <p:pRg st="5" end="5"/>
                                            </p:txEl>
                                          </p:spTgt>
                                        </p:tgtEl>
                                        <p:attrNameLst>
                                          <p:attrName>style.visibility</p:attrName>
                                        </p:attrNameLst>
                                      </p:cBhvr>
                                      <p:to>
                                        <p:strVal val="visible"/>
                                      </p:to>
                                    </p:set>
                                    <p:animEffect transition="in" filter="blinds(horizontal)">
                                      <p:cBhvr>
                                        <p:cTn id="31" dur="500"/>
                                        <p:tgtEl>
                                          <p:spTgt spid="572418">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572418">
                                            <p:txEl>
                                              <p:pRg st="6" end="6"/>
                                            </p:txEl>
                                          </p:spTgt>
                                        </p:tgtEl>
                                        <p:attrNameLst>
                                          <p:attrName>style.visibility</p:attrName>
                                        </p:attrNameLst>
                                      </p:cBhvr>
                                      <p:to>
                                        <p:strVal val="visible"/>
                                      </p:to>
                                    </p:set>
                                    <p:animEffect transition="in" filter="blinds(horizontal)">
                                      <p:cBhvr>
                                        <p:cTn id="36" dur="500"/>
                                        <p:tgtEl>
                                          <p:spTgt spid="5724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0E358826-E8E1-4868-A485-54473DB353B7}" type="slidenum">
              <a:rPr kumimoji="0" lang="en-US" altLang="en-US" sz="1400"/>
              <a:pPr>
                <a:spcBef>
                  <a:spcPct val="50000"/>
                </a:spcBef>
                <a:buClrTx/>
                <a:buSzTx/>
                <a:buFontTx/>
                <a:buNone/>
              </a:pPr>
              <a:t>33</a:t>
            </a:fld>
            <a:endParaRPr kumimoji="0" lang="en-US" altLang="en-US" sz="1400"/>
          </a:p>
        </p:txBody>
      </p:sp>
      <p:sp>
        <p:nvSpPr>
          <p:cNvPr id="545795" name="Rectangle 3"/>
          <p:cNvSpPr>
            <a:spLocks noGrp="1" noChangeArrowheads="1"/>
          </p:cNvSpPr>
          <p:nvPr>
            <p:ph type="body" idx="1"/>
          </p:nvPr>
        </p:nvSpPr>
        <p:spPr>
          <a:xfrm>
            <a:off x="1073399" y="663621"/>
            <a:ext cx="10280401" cy="5345293"/>
          </a:xfrm>
        </p:spPr>
        <p:txBody>
          <a:bodyPr>
            <a:noAutofit/>
          </a:bodyPr>
          <a:lstStyle/>
          <a:p>
            <a:r>
              <a:rPr lang="en-AU" altLang="en-US" dirty="0"/>
              <a:t>Expanding on the phrase </a:t>
            </a:r>
            <a:r>
              <a:rPr lang="en-AU" altLang="en-US" b="1" dirty="0"/>
              <a:t>“No write up, no read down!” </a:t>
            </a:r>
            <a:r>
              <a:rPr lang="en-AU" altLang="en-US" dirty="0"/>
              <a:t>we have:</a:t>
            </a:r>
          </a:p>
          <a:p>
            <a:pPr lvl="1"/>
            <a:r>
              <a:rPr lang="en-AU" altLang="en-US" sz="2800" dirty="0"/>
              <a:t>Simple integrity.</a:t>
            </a:r>
          </a:p>
          <a:p>
            <a:pPr lvl="1"/>
            <a:r>
              <a:rPr lang="en-AU" altLang="en-US" sz="2800" dirty="0"/>
              <a:t>Integrity confinement.</a:t>
            </a:r>
          </a:p>
          <a:p>
            <a:pPr lvl="1"/>
            <a:r>
              <a:rPr lang="en-AU" altLang="en-US" sz="2800" dirty="0"/>
              <a:t>We also have the invocation property.</a:t>
            </a:r>
          </a:p>
          <a:p>
            <a:r>
              <a:rPr lang="en-AU" altLang="en-US" dirty="0"/>
              <a:t>Integrity confinement:</a:t>
            </a:r>
          </a:p>
          <a:p>
            <a:pPr lvl="1"/>
            <a:r>
              <a:rPr lang="en-AU" altLang="en-US" sz="2800" dirty="0"/>
              <a:t>A subject can modify an object if the integrity level of the subject dominates the integrity level of the object. This is the </a:t>
            </a:r>
            <a:r>
              <a:rPr lang="en-AU" altLang="en-US" sz="2800" b="1" dirty="0"/>
              <a:t>no write up</a:t>
            </a:r>
            <a:r>
              <a:rPr lang="en-AU" altLang="en-US" sz="2800" dirty="0"/>
              <a:t> policy.</a:t>
            </a:r>
          </a:p>
          <a:p>
            <a:pPr lvl="2"/>
            <a:r>
              <a:rPr lang="en-AU" altLang="en-US" sz="2800" dirty="0"/>
              <a:t>Integrity is to do with how much you can rely on something.</a:t>
            </a:r>
          </a:p>
          <a:p>
            <a:pPr lvl="2"/>
            <a:r>
              <a:rPr lang="en-AU" altLang="en-US" sz="2800" dirty="0"/>
              <a:t>If A, as a process say, is trusted less then B as a resource, then B should not be modified on the basis of A. We shouldn’t contaminate B.</a:t>
            </a:r>
          </a:p>
        </p:txBody>
      </p:sp>
    </p:spTree>
    <p:extLst>
      <p:ext uri="{BB962C8B-B14F-4D97-AF65-F5344CB8AC3E}">
        <p14:creationId xmlns:p14="http://schemas.microsoft.com/office/powerpoint/2010/main" val="1015086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45795">
                                            <p:txEl>
                                              <p:pRg st="0" end="0"/>
                                            </p:txEl>
                                          </p:spTgt>
                                        </p:tgtEl>
                                        <p:attrNameLst>
                                          <p:attrName>style.visibility</p:attrName>
                                        </p:attrNameLst>
                                      </p:cBhvr>
                                      <p:to>
                                        <p:strVal val="visible"/>
                                      </p:to>
                                    </p:set>
                                    <p:animEffect transition="in" filter="blinds(horizontal)">
                                      <p:cBhvr>
                                        <p:cTn id="7" dur="500"/>
                                        <p:tgtEl>
                                          <p:spTgt spid="54579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45795">
                                            <p:txEl>
                                              <p:pRg st="1" end="1"/>
                                            </p:txEl>
                                          </p:spTgt>
                                        </p:tgtEl>
                                        <p:attrNameLst>
                                          <p:attrName>style.visibility</p:attrName>
                                        </p:attrNameLst>
                                      </p:cBhvr>
                                      <p:to>
                                        <p:strVal val="visible"/>
                                      </p:to>
                                    </p:set>
                                    <p:animEffect transition="in" filter="blinds(horizontal)">
                                      <p:cBhvr>
                                        <p:cTn id="10" dur="500"/>
                                        <p:tgtEl>
                                          <p:spTgt spid="54579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45795">
                                            <p:txEl>
                                              <p:pRg st="2" end="2"/>
                                            </p:txEl>
                                          </p:spTgt>
                                        </p:tgtEl>
                                        <p:attrNameLst>
                                          <p:attrName>style.visibility</p:attrName>
                                        </p:attrNameLst>
                                      </p:cBhvr>
                                      <p:to>
                                        <p:strVal val="visible"/>
                                      </p:to>
                                    </p:set>
                                    <p:animEffect transition="in" filter="blinds(horizontal)">
                                      <p:cBhvr>
                                        <p:cTn id="13" dur="500"/>
                                        <p:tgtEl>
                                          <p:spTgt spid="54579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45795">
                                            <p:txEl>
                                              <p:pRg st="3" end="3"/>
                                            </p:txEl>
                                          </p:spTgt>
                                        </p:tgtEl>
                                        <p:attrNameLst>
                                          <p:attrName>style.visibility</p:attrName>
                                        </p:attrNameLst>
                                      </p:cBhvr>
                                      <p:to>
                                        <p:strVal val="visible"/>
                                      </p:to>
                                    </p:set>
                                    <p:animEffect transition="in" filter="blinds(horizontal)">
                                      <p:cBhvr>
                                        <p:cTn id="16" dur="500"/>
                                        <p:tgtEl>
                                          <p:spTgt spid="54579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45795">
                                            <p:txEl>
                                              <p:pRg st="4" end="4"/>
                                            </p:txEl>
                                          </p:spTgt>
                                        </p:tgtEl>
                                        <p:attrNameLst>
                                          <p:attrName>style.visibility</p:attrName>
                                        </p:attrNameLst>
                                      </p:cBhvr>
                                      <p:to>
                                        <p:strVal val="visible"/>
                                      </p:to>
                                    </p:set>
                                    <p:animEffect transition="in" filter="blinds(horizontal)">
                                      <p:cBhvr>
                                        <p:cTn id="21" dur="500"/>
                                        <p:tgtEl>
                                          <p:spTgt spid="545795">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45795">
                                            <p:txEl>
                                              <p:pRg st="5" end="5"/>
                                            </p:txEl>
                                          </p:spTgt>
                                        </p:tgtEl>
                                        <p:attrNameLst>
                                          <p:attrName>style.visibility</p:attrName>
                                        </p:attrNameLst>
                                      </p:cBhvr>
                                      <p:to>
                                        <p:strVal val="visible"/>
                                      </p:to>
                                    </p:set>
                                    <p:animEffect transition="in" filter="blinds(horizontal)">
                                      <p:cBhvr>
                                        <p:cTn id="24" dur="500"/>
                                        <p:tgtEl>
                                          <p:spTgt spid="545795">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45795">
                                            <p:txEl>
                                              <p:pRg st="6" end="6"/>
                                            </p:txEl>
                                          </p:spTgt>
                                        </p:tgtEl>
                                        <p:attrNameLst>
                                          <p:attrName>style.visibility</p:attrName>
                                        </p:attrNameLst>
                                      </p:cBhvr>
                                      <p:to>
                                        <p:strVal val="visible"/>
                                      </p:to>
                                    </p:set>
                                    <p:animEffect transition="in" filter="blinds(horizontal)">
                                      <p:cBhvr>
                                        <p:cTn id="27" dur="500"/>
                                        <p:tgtEl>
                                          <p:spTgt spid="545795">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45795">
                                            <p:txEl>
                                              <p:pRg st="7" end="7"/>
                                            </p:txEl>
                                          </p:spTgt>
                                        </p:tgtEl>
                                        <p:attrNameLst>
                                          <p:attrName>style.visibility</p:attrName>
                                        </p:attrNameLst>
                                      </p:cBhvr>
                                      <p:to>
                                        <p:strVal val="visible"/>
                                      </p:to>
                                    </p:set>
                                    <p:animEffect transition="in" filter="blinds(horizontal)">
                                      <p:cBhvr>
                                        <p:cTn id="30" dur="500"/>
                                        <p:tgtEl>
                                          <p:spTgt spid="545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8E39A66B-CC23-4998-BC04-FEF451383753}" type="slidenum">
              <a:rPr kumimoji="0" lang="en-US" altLang="en-US" sz="1400"/>
              <a:pPr>
                <a:spcBef>
                  <a:spcPct val="50000"/>
                </a:spcBef>
                <a:buClrTx/>
                <a:buSzTx/>
                <a:buFontTx/>
                <a:buNone/>
              </a:pPr>
              <a:t>34</a:t>
            </a:fld>
            <a:endParaRPr kumimoji="0" lang="en-US" altLang="en-US" sz="1400"/>
          </a:p>
        </p:txBody>
      </p:sp>
      <p:sp>
        <p:nvSpPr>
          <p:cNvPr id="546819" name="Rectangle 3"/>
          <p:cNvSpPr>
            <a:spLocks noGrp="1" noChangeArrowheads="1"/>
          </p:cNvSpPr>
          <p:nvPr>
            <p:ph type="body" idx="1"/>
          </p:nvPr>
        </p:nvSpPr>
        <p:spPr>
          <a:xfrm>
            <a:off x="899383" y="560501"/>
            <a:ext cx="10362977" cy="5513727"/>
          </a:xfrm>
        </p:spPr>
        <p:txBody>
          <a:bodyPr>
            <a:normAutofit/>
          </a:bodyPr>
          <a:lstStyle/>
          <a:p>
            <a:r>
              <a:rPr lang="en-AU" altLang="en-US" sz="3200" dirty="0"/>
              <a:t>Simple integrity:</a:t>
            </a:r>
          </a:p>
          <a:p>
            <a:pPr lvl="1"/>
            <a:r>
              <a:rPr lang="en-AU" altLang="en-US" sz="2800" dirty="0"/>
              <a:t>A subject can read an object only if the integrity level of the subject is dominated by the integrity level of the object. This is the </a:t>
            </a:r>
            <a:r>
              <a:rPr lang="en-AU" altLang="en-US" sz="2800" b="1" dirty="0"/>
              <a:t>no read down </a:t>
            </a:r>
            <a:r>
              <a:rPr lang="en-AU" altLang="en-US" sz="2800" dirty="0"/>
              <a:t>policy.</a:t>
            </a:r>
          </a:p>
          <a:p>
            <a:pPr lvl="2"/>
            <a:r>
              <a:rPr lang="en-AU" altLang="en-US" sz="2400" dirty="0"/>
              <a:t>Juries in court cases are sometimes told to disregard something that has been said, or to ignore some evidence.</a:t>
            </a:r>
          </a:p>
          <a:p>
            <a:pPr lvl="3"/>
            <a:r>
              <a:rPr lang="en-AU" altLang="en-US" sz="2400" dirty="0"/>
              <a:t>Humans tend to take information into account whether they have been told to disregard it or not, so the </a:t>
            </a:r>
            <a:r>
              <a:rPr lang="en-AU" altLang="en-US" sz="2400" b="1" dirty="0"/>
              <a:t>no read down</a:t>
            </a:r>
            <a:r>
              <a:rPr lang="en-AU" altLang="en-US" sz="2400" dirty="0"/>
              <a:t> policy would imply the jury would never see the untrustworthy evidence.</a:t>
            </a:r>
          </a:p>
          <a:p>
            <a:pPr lvl="1"/>
            <a:r>
              <a:rPr lang="en-AU" altLang="en-US" sz="2800" dirty="0"/>
              <a:t>Effectively this means a subject doesn’t trust information with a lower integrity level, so it shouldn’t even be influenced by it.</a:t>
            </a:r>
          </a:p>
        </p:txBody>
      </p:sp>
    </p:spTree>
    <p:extLst>
      <p:ext uri="{BB962C8B-B14F-4D97-AF65-F5344CB8AC3E}">
        <p14:creationId xmlns:p14="http://schemas.microsoft.com/office/powerpoint/2010/main" val="853937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46819">
                                            <p:txEl>
                                              <p:pRg st="0" end="0"/>
                                            </p:txEl>
                                          </p:spTgt>
                                        </p:tgtEl>
                                        <p:attrNameLst>
                                          <p:attrName>style.visibility</p:attrName>
                                        </p:attrNameLst>
                                      </p:cBhvr>
                                      <p:to>
                                        <p:strVal val="visible"/>
                                      </p:to>
                                    </p:set>
                                    <p:animEffect transition="in" filter="blinds(horizontal)">
                                      <p:cBhvr>
                                        <p:cTn id="7" dur="500"/>
                                        <p:tgtEl>
                                          <p:spTgt spid="5468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46819">
                                            <p:txEl>
                                              <p:pRg st="1" end="1"/>
                                            </p:txEl>
                                          </p:spTgt>
                                        </p:tgtEl>
                                        <p:attrNameLst>
                                          <p:attrName>style.visibility</p:attrName>
                                        </p:attrNameLst>
                                      </p:cBhvr>
                                      <p:to>
                                        <p:strVal val="visible"/>
                                      </p:to>
                                    </p:set>
                                    <p:animEffect transition="in" filter="blinds(horizontal)">
                                      <p:cBhvr>
                                        <p:cTn id="10" dur="500"/>
                                        <p:tgtEl>
                                          <p:spTgt spid="5468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46819">
                                            <p:txEl>
                                              <p:pRg st="2" end="2"/>
                                            </p:txEl>
                                          </p:spTgt>
                                        </p:tgtEl>
                                        <p:attrNameLst>
                                          <p:attrName>style.visibility</p:attrName>
                                        </p:attrNameLst>
                                      </p:cBhvr>
                                      <p:to>
                                        <p:strVal val="visible"/>
                                      </p:to>
                                    </p:set>
                                    <p:animEffect transition="in" filter="blinds(horizontal)">
                                      <p:cBhvr>
                                        <p:cTn id="13" dur="500"/>
                                        <p:tgtEl>
                                          <p:spTgt spid="5468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46819">
                                            <p:txEl>
                                              <p:pRg st="3" end="3"/>
                                            </p:txEl>
                                          </p:spTgt>
                                        </p:tgtEl>
                                        <p:attrNameLst>
                                          <p:attrName>style.visibility</p:attrName>
                                        </p:attrNameLst>
                                      </p:cBhvr>
                                      <p:to>
                                        <p:strVal val="visible"/>
                                      </p:to>
                                    </p:set>
                                    <p:animEffect transition="in" filter="blinds(horizontal)">
                                      <p:cBhvr>
                                        <p:cTn id="16" dur="500"/>
                                        <p:tgtEl>
                                          <p:spTgt spid="54681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46819">
                                            <p:txEl>
                                              <p:pRg st="4" end="4"/>
                                            </p:txEl>
                                          </p:spTgt>
                                        </p:tgtEl>
                                        <p:attrNameLst>
                                          <p:attrName>style.visibility</p:attrName>
                                        </p:attrNameLst>
                                      </p:cBhvr>
                                      <p:to>
                                        <p:strVal val="visible"/>
                                      </p:to>
                                    </p:set>
                                    <p:animEffect transition="in" filter="blinds(horizontal)">
                                      <p:cBhvr>
                                        <p:cTn id="21" dur="500"/>
                                        <p:tgtEl>
                                          <p:spTgt spid="546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AED8838F-F997-4BAC-A5AB-55F0FF60ABC3}" type="slidenum">
              <a:rPr kumimoji="0" lang="en-US" altLang="en-US" sz="1400"/>
              <a:pPr>
                <a:spcBef>
                  <a:spcPct val="50000"/>
                </a:spcBef>
                <a:buClrTx/>
                <a:buSzTx/>
                <a:buFontTx/>
                <a:buNone/>
              </a:pPr>
              <a:t>35</a:t>
            </a:fld>
            <a:endParaRPr kumimoji="0" lang="en-US" altLang="en-US" sz="1400"/>
          </a:p>
        </p:txBody>
      </p:sp>
      <p:sp>
        <p:nvSpPr>
          <p:cNvPr id="547843" name="Rectangle 3"/>
          <p:cNvSpPr>
            <a:spLocks noGrp="1" noChangeArrowheads="1"/>
          </p:cNvSpPr>
          <p:nvPr>
            <p:ph type="body" idx="1"/>
          </p:nvPr>
        </p:nvSpPr>
        <p:spPr>
          <a:xfrm>
            <a:off x="1375761" y="694310"/>
            <a:ext cx="9935367" cy="4382187"/>
          </a:xfrm>
        </p:spPr>
        <p:txBody>
          <a:bodyPr>
            <a:normAutofit/>
          </a:bodyPr>
          <a:lstStyle/>
          <a:p>
            <a:pPr>
              <a:lnSpc>
                <a:spcPct val="90000"/>
              </a:lnSpc>
            </a:pPr>
            <a:r>
              <a:rPr lang="en-AU" altLang="en-US" dirty="0"/>
              <a:t>The Invocation property:</a:t>
            </a:r>
          </a:p>
          <a:p>
            <a:pPr lvl="1">
              <a:lnSpc>
                <a:spcPct val="90000"/>
              </a:lnSpc>
            </a:pPr>
            <a:r>
              <a:rPr lang="en-AU" altLang="en-US" sz="2800" dirty="0"/>
              <a:t>A subject S</a:t>
            </a:r>
            <a:r>
              <a:rPr lang="en-AU" altLang="en-US" sz="2800" baseline="-25000" dirty="0"/>
              <a:t>1 </a:t>
            </a:r>
            <a:r>
              <a:rPr lang="en-AU" altLang="en-US" sz="2800" dirty="0"/>
              <a:t>can invoke/execute/use another subject S</a:t>
            </a:r>
            <a:r>
              <a:rPr lang="en-AU" altLang="en-US" sz="2800" baseline="-25000" dirty="0"/>
              <a:t>2</a:t>
            </a:r>
            <a:r>
              <a:rPr lang="en-AU" altLang="en-US" sz="2800" dirty="0"/>
              <a:t> only if the integrity level of S</a:t>
            </a:r>
            <a:r>
              <a:rPr lang="en-AU" altLang="en-US" sz="2800" baseline="-25000" dirty="0"/>
              <a:t>1</a:t>
            </a:r>
            <a:r>
              <a:rPr lang="en-AU" altLang="en-US" sz="2800" dirty="0"/>
              <a:t> dominates the integrity level of S</a:t>
            </a:r>
            <a:r>
              <a:rPr lang="en-AU" altLang="en-US" sz="2800" baseline="-25000" dirty="0"/>
              <a:t>2</a:t>
            </a:r>
            <a:r>
              <a:rPr lang="en-AU" altLang="en-US" sz="2800" dirty="0"/>
              <a:t>.</a:t>
            </a:r>
          </a:p>
          <a:p>
            <a:pPr lvl="1">
              <a:lnSpc>
                <a:spcPct val="90000"/>
              </a:lnSpc>
            </a:pPr>
            <a:r>
              <a:rPr lang="en-AU" altLang="en-US" sz="2800" dirty="0"/>
              <a:t>In other words, a process cannot use a process or entity that has higher integrity than it does.</a:t>
            </a:r>
          </a:p>
        </p:txBody>
      </p:sp>
    </p:spTree>
    <p:extLst>
      <p:ext uri="{BB962C8B-B14F-4D97-AF65-F5344CB8AC3E}">
        <p14:creationId xmlns:p14="http://schemas.microsoft.com/office/powerpoint/2010/main" val="1066654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47843">
                                            <p:txEl>
                                              <p:pRg st="0" end="0"/>
                                            </p:txEl>
                                          </p:spTgt>
                                        </p:tgtEl>
                                        <p:attrNameLst>
                                          <p:attrName>style.visibility</p:attrName>
                                        </p:attrNameLst>
                                      </p:cBhvr>
                                      <p:to>
                                        <p:strVal val="visible"/>
                                      </p:to>
                                    </p:set>
                                    <p:animEffect transition="in" filter="blinds(horizontal)">
                                      <p:cBhvr>
                                        <p:cTn id="7" dur="500"/>
                                        <p:tgtEl>
                                          <p:spTgt spid="547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7843">
                                            <p:txEl>
                                              <p:pRg st="1" end="1"/>
                                            </p:txEl>
                                          </p:spTgt>
                                        </p:tgtEl>
                                        <p:attrNameLst>
                                          <p:attrName>style.visibility</p:attrName>
                                        </p:attrNameLst>
                                      </p:cBhvr>
                                      <p:to>
                                        <p:strVal val="visible"/>
                                      </p:to>
                                    </p:set>
                                    <p:animEffect transition="in" filter="blinds(horizontal)">
                                      <p:cBhvr>
                                        <p:cTn id="12" dur="500"/>
                                        <p:tgtEl>
                                          <p:spTgt spid="54784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47843">
                                            <p:txEl>
                                              <p:pRg st="2" end="2"/>
                                            </p:txEl>
                                          </p:spTgt>
                                        </p:tgtEl>
                                        <p:attrNameLst>
                                          <p:attrName>style.visibility</p:attrName>
                                        </p:attrNameLst>
                                      </p:cBhvr>
                                      <p:to>
                                        <p:strVal val="visible"/>
                                      </p:to>
                                    </p:set>
                                    <p:animEffect transition="in" filter="blinds(horizontal)">
                                      <p:cBhvr>
                                        <p:cTn id="15" dur="500"/>
                                        <p:tgtEl>
                                          <p:spTgt spid="547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4667C30D-5D8D-4F4D-8F6C-999505FB4031}" type="slidenum">
              <a:rPr kumimoji="0" lang="en-US" altLang="en-US" sz="1400"/>
              <a:pPr>
                <a:spcBef>
                  <a:spcPct val="50000"/>
                </a:spcBef>
                <a:buClrTx/>
                <a:buSzTx/>
                <a:buFontTx/>
                <a:buNone/>
              </a:pPr>
              <a:t>36</a:t>
            </a:fld>
            <a:endParaRPr kumimoji="0" lang="en-US" altLang="en-US" sz="1400"/>
          </a:p>
        </p:txBody>
      </p:sp>
      <p:sp>
        <p:nvSpPr>
          <p:cNvPr id="45059" name="Rectangle 2"/>
          <p:cNvSpPr>
            <a:spLocks noGrp="1" noChangeArrowheads="1"/>
          </p:cNvSpPr>
          <p:nvPr>
            <p:ph type="title"/>
          </p:nvPr>
        </p:nvSpPr>
        <p:spPr>
          <a:xfrm>
            <a:off x="1192267" y="249839"/>
            <a:ext cx="7772400" cy="1143000"/>
          </a:xfrm>
        </p:spPr>
        <p:txBody>
          <a:bodyPr/>
          <a:lstStyle/>
          <a:p>
            <a:r>
              <a:rPr lang="en-AU" altLang="en-US" dirty="0"/>
              <a:t>Clark-Wilson</a:t>
            </a:r>
          </a:p>
        </p:txBody>
      </p:sp>
      <p:sp>
        <p:nvSpPr>
          <p:cNvPr id="524291" name="Rectangle 3"/>
          <p:cNvSpPr>
            <a:spLocks noGrp="1" noChangeArrowheads="1"/>
          </p:cNvSpPr>
          <p:nvPr>
            <p:ph type="body" idx="1"/>
          </p:nvPr>
        </p:nvSpPr>
        <p:spPr>
          <a:xfrm>
            <a:off x="1192266" y="1488061"/>
            <a:ext cx="10118861" cy="4967287"/>
          </a:xfrm>
        </p:spPr>
        <p:txBody>
          <a:bodyPr/>
          <a:lstStyle/>
          <a:p>
            <a:pPr>
              <a:lnSpc>
                <a:spcPct val="90000"/>
              </a:lnSpc>
            </a:pPr>
            <a:r>
              <a:rPr lang="en-AU" altLang="en-US" sz="2800" dirty="0"/>
              <a:t>Clark-Wilson is another integrity based access model.</a:t>
            </a:r>
          </a:p>
          <a:p>
            <a:pPr>
              <a:lnSpc>
                <a:spcPct val="90000"/>
              </a:lnSpc>
            </a:pPr>
            <a:r>
              <a:rPr lang="en-AU" altLang="en-US" sz="2800" dirty="0"/>
              <a:t> It’s also an accountability model providing a framework for addressing security requirements in primarily commercial applications.</a:t>
            </a:r>
          </a:p>
          <a:p>
            <a:pPr lvl="1">
              <a:lnSpc>
                <a:spcPct val="90000"/>
              </a:lnSpc>
            </a:pPr>
            <a:r>
              <a:rPr lang="en-AU" altLang="en-US" sz="2400" dirty="0"/>
              <a:t>Many early access control models were driven by the military, and even the title of Clark and Wilson’s work suggests a different direction: “</a:t>
            </a:r>
            <a:r>
              <a:rPr lang="en-AU" altLang="en-US" sz="2400" i="1" dirty="0"/>
              <a:t>A Comparison of Commercial and Military Computer Security Policies.</a:t>
            </a:r>
            <a:r>
              <a:rPr lang="en-AU" altLang="en-US" sz="2400" dirty="0"/>
              <a:t>”</a:t>
            </a:r>
          </a:p>
          <a:p>
            <a:pPr lvl="1">
              <a:lnSpc>
                <a:spcPct val="90000"/>
              </a:lnSpc>
            </a:pPr>
            <a:r>
              <a:rPr lang="en-AU" altLang="en-US" sz="2400" dirty="0"/>
              <a:t>[SB18, Figure 27.5]  reproduces a diagram from Clark-Wilson that summarises the integrity rules in Clark-Wilson.</a:t>
            </a:r>
            <a:endParaRPr lang="en-AU" altLang="en-US" sz="2000" dirty="0"/>
          </a:p>
        </p:txBody>
      </p:sp>
    </p:spTree>
    <p:extLst>
      <p:ext uri="{BB962C8B-B14F-4D97-AF65-F5344CB8AC3E}">
        <p14:creationId xmlns:p14="http://schemas.microsoft.com/office/powerpoint/2010/main" val="537924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24291">
                                            <p:txEl>
                                              <p:pRg st="0" end="0"/>
                                            </p:txEl>
                                          </p:spTgt>
                                        </p:tgtEl>
                                        <p:attrNameLst>
                                          <p:attrName>style.visibility</p:attrName>
                                        </p:attrNameLst>
                                      </p:cBhvr>
                                      <p:to>
                                        <p:strVal val="visible"/>
                                      </p:to>
                                    </p:set>
                                    <p:animEffect transition="in" filter="blinds(horizontal)">
                                      <p:cBhvr>
                                        <p:cTn id="7" dur="500"/>
                                        <p:tgtEl>
                                          <p:spTgt spid="52429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24291">
                                            <p:txEl>
                                              <p:pRg st="1" end="1"/>
                                            </p:txEl>
                                          </p:spTgt>
                                        </p:tgtEl>
                                        <p:attrNameLst>
                                          <p:attrName>style.visibility</p:attrName>
                                        </p:attrNameLst>
                                      </p:cBhvr>
                                      <p:to>
                                        <p:strVal val="visible"/>
                                      </p:to>
                                    </p:set>
                                    <p:animEffect transition="in" filter="blinds(horizontal)">
                                      <p:cBhvr>
                                        <p:cTn id="11" dur="500"/>
                                        <p:tgtEl>
                                          <p:spTgt spid="524291">
                                            <p:txEl>
                                              <p:pRg st="1" end="1"/>
                                            </p:txEl>
                                          </p:spTgt>
                                        </p:tgtEl>
                                      </p:cBhvr>
                                    </p:animEffect>
                                  </p:childTnLst>
                                </p:cTn>
                              </p:par>
                              <p:par>
                                <p:cTn id="12" presetID="3" presetClass="entr" presetSubtype="10" fill="hold" nodeType="withEffect">
                                  <p:stCondLst>
                                    <p:cond delay="0"/>
                                  </p:stCondLst>
                                  <p:childTnLst>
                                    <p:set>
                                      <p:cBhvr>
                                        <p:cTn id="13" dur="1" fill="hold">
                                          <p:stCondLst>
                                            <p:cond delay="0"/>
                                          </p:stCondLst>
                                        </p:cTn>
                                        <p:tgtEl>
                                          <p:spTgt spid="524291">
                                            <p:txEl>
                                              <p:pRg st="2" end="2"/>
                                            </p:txEl>
                                          </p:spTgt>
                                        </p:tgtEl>
                                        <p:attrNameLst>
                                          <p:attrName>style.visibility</p:attrName>
                                        </p:attrNameLst>
                                      </p:cBhvr>
                                      <p:to>
                                        <p:strVal val="visible"/>
                                      </p:to>
                                    </p:set>
                                    <p:animEffect transition="in" filter="blinds(horizontal)">
                                      <p:cBhvr>
                                        <p:cTn id="14" dur="500"/>
                                        <p:tgtEl>
                                          <p:spTgt spid="524291">
                                            <p:txEl>
                                              <p:pRg st="2" end="2"/>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524291">
                                            <p:txEl>
                                              <p:pRg st="3" end="3"/>
                                            </p:txEl>
                                          </p:spTgt>
                                        </p:tgtEl>
                                        <p:attrNameLst>
                                          <p:attrName>style.visibility</p:attrName>
                                        </p:attrNameLst>
                                      </p:cBhvr>
                                      <p:to>
                                        <p:strVal val="visible"/>
                                      </p:to>
                                    </p:set>
                                    <p:animEffect transition="in" filter="blinds(horizontal)">
                                      <p:cBhvr>
                                        <p:cTn id="17" dur="500"/>
                                        <p:tgtEl>
                                          <p:spTgt spid="524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6189D11-DACC-4DDA-BB51-04D1B16530B0}" type="slidenum">
              <a:rPr kumimoji="0" lang="en-US" altLang="en-US" sz="1400"/>
              <a:pPr>
                <a:spcBef>
                  <a:spcPct val="50000"/>
                </a:spcBef>
                <a:buClrTx/>
                <a:buSzTx/>
                <a:buFontTx/>
                <a:buNone/>
              </a:pPr>
              <a:t>37</a:t>
            </a:fld>
            <a:endParaRPr kumimoji="0" lang="en-US" altLang="en-US" sz="14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8083" y="151469"/>
            <a:ext cx="9249103" cy="6634174"/>
          </a:xfrm>
          <a:prstGeom prst="rect">
            <a:avLst/>
          </a:prstGeom>
        </p:spPr>
      </p:pic>
    </p:spTree>
    <p:extLst>
      <p:ext uri="{BB962C8B-B14F-4D97-AF65-F5344CB8AC3E}">
        <p14:creationId xmlns:p14="http://schemas.microsoft.com/office/powerpoint/2010/main" val="2769252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1509364" y="267978"/>
            <a:ext cx="7772400" cy="1143000"/>
          </a:xfrm>
        </p:spPr>
        <p:txBody>
          <a:bodyPr>
            <a:normAutofit/>
          </a:bodyPr>
          <a:lstStyle/>
          <a:p>
            <a:r>
              <a:rPr lang="en-AU" altLang="en-US" dirty="0"/>
              <a:t>Integrity and confidentiality</a:t>
            </a:r>
          </a:p>
        </p:txBody>
      </p:sp>
      <p:sp>
        <p:nvSpPr>
          <p:cNvPr id="3" name="Content Placeholder 2"/>
          <p:cNvSpPr>
            <a:spLocks noGrp="1"/>
          </p:cNvSpPr>
          <p:nvPr>
            <p:ph idx="1"/>
          </p:nvPr>
        </p:nvSpPr>
        <p:spPr>
          <a:xfrm>
            <a:off x="1509364" y="1410978"/>
            <a:ext cx="9801764" cy="4524375"/>
          </a:xfrm>
        </p:spPr>
        <p:txBody>
          <a:bodyPr>
            <a:normAutofit/>
          </a:bodyPr>
          <a:lstStyle/>
          <a:p>
            <a:r>
              <a:rPr lang="en-AU" altLang="en-US" sz="3200" dirty="0"/>
              <a:t>What happens if we combine </a:t>
            </a:r>
            <a:r>
              <a:rPr lang="en-AU" altLang="en-US" sz="3200" dirty="0" err="1"/>
              <a:t>Biba</a:t>
            </a:r>
            <a:r>
              <a:rPr lang="en-AU" altLang="en-US" sz="3200" dirty="0"/>
              <a:t> and BLP?</a:t>
            </a:r>
            <a:endParaRPr lang="en-US" altLang="en-US" sz="3200" dirty="0"/>
          </a:p>
          <a:p>
            <a:r>
              <a:rPr lang="en-AU" altLang="en-US" sz="3200" b="1" dirty="0"/>
              <a:t>“No read up, no write down!”</a:t>
            </a:r>
            <a:endParaRPr lang="en-US" altLang="en-US" sz="3200" dirty="0"/>
          </a:p>
          <a:p>
            <a:r>
              <a:rPr lang="en-AU" altLang="en-US" sz="3200" b="1" dirty="0"/>
              <a:t>“No write up, no read down!”</a:t>
            </a:r>
          </a:p>
          <a:p>
            <a:endParaRPr lang="en-AU" altLang="en-US" sz="3200" b="1" dirty="0"/>
          </a:p>
          <a:p>
            <a:r>
              <a:rPr lang="en-AU" altLang="en-US" sz="3200" b="1" dirty="0"/>
              <a:t>Hmm ...</a:t>
            </a:r>
          </a:p>
          <a:p>
            <a:pPr>
              <a:buFont typeface="Monotype Sorts" pitchFamily="36" charset="2"/>
              <a:buNone/>
            </a:pPr>
            <a:r>
              <a:rPr lang="en-AU" altLang="en-US" sz="3200" b="1" dirty="0"/>
              <a:t>		... “Read and Write across”?   </a:t>
            </a:r>
            <a:r>
              <a:rPr lang="en-AU" altLang="en-US" sz="3200" b="1" dirty="0">
                <a:sym typeface="Wingdings" panose="05000000000000000000" pitchFamily="2" charset="2"/>
              </a:rPr>
              <a:t></a:t>
            </a:r>
            <a:endParaRPr lang="en-US" altLang="en-US" sz="3200" dirty="0"/>
          </a:p>
        </p:txBody>
      </p:sp>
      <p:sp>
        <p:nvSpPr>
          <p:cNvPr id="6963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A28E4729-0BF8-4673-8E8C-0A5C9E57A4AB}" type="slidenum">
              <a:rPr kumimoji="0" lang="en-US" altLang="en-US" sz="1400"/>
              <a:pPr>
                <a:spcBef>
                  <a:spcPct val="50000"/>
                </a:spcBef>
                <a:buClrTx/>
                <a:buSzTx/>
                <a:buFontTx/>
                <a:buNone/>
              </a:pPr>
              <a:t>38</a:t>
            </a:fld>
            <a:endParaRPr kumimoji="0" lang="en-US" altLang="en-US" sz="1400"/>
          </a:p>
        </p:txBody>
      </p:sp>
    </p:spTree>
    <p:extLst>
      <p:ext uri="{BB962C8B-B14F-4D97-AF65-F5344CB8AC3E}">
        <p14:creationId xmlns:p14="http://schemas.microsoft.com/office/powerpoint/2010/main" val="41438998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linds(horizontal)">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1147995" y="169709"/>
            <a:ext cx="7772400" cy="857250"/>
          </a:xfrm>
        </p:spPr>
        <p:txBody>
          <a:bodyPr/>
          <a:lstStyle/>
          <a:p>
            <a:r>
              <a:rPr lang="en-AU" altLang="en-US" dirty="0" err="1"/>
              <a:t>Lipner’s</a:t>
            </a:r>
            <a:r>
              <a:rPr lang="en-AU" altLang="en-US" dirty="0"/>
              <a:t> model</a:t>
            </a:r>
          </a:p>
        </p:txBody>
      </p:sp>
      <p:sp>
        <p:nvSpPr>
          <p:cNvPr id="3" name="Content Placeholder 2"/>
          <p:cNvSpPr>
            <a:spLocks noGrp="1"/>
          </p:cNvSpPr>
          <p:nvPr>
            <p:ph idx="1"/>
          </p:nvPr>
        </p:nvSpPr>
        <p:spPr>
          <a:xfrm>
            <a:off x="1147994" y="1137223"/>
            <a:ext cx="10163133" cy="5500688"/>
          </a:xfrm>
        </p:spPr>
        <p:txBody>
          <a:bodyPr>
            <a:normAutofit/>
          </a:bodyPr>
          <a:lstStyle/>
          <a:p>
            <a:r>
              <a:rPr lang="en-AU" altLang="en-US" dirty="0"/>
              <a:t>The difference lies in the clearances and classifications.</a:t>
            </a:r>
          </a:p>
          <a:p>
            <a:r>
              <a:rPr lang="en-AU" altLang="en-US" dirty="0"/>
              <a:t>We have a lattice here rather than the simple levels, and we have a lattice associated with integrity and a lattice associated with confidentiality.</a:t>
            </a:r>
          </a:p>
          <a:p>
            <a:r>
              <a:rPr lang="en-AU" altLang="en-US" dirty="0"/>
              <a:t>This can be illustrated using an example pulled straight out of [B18, Chapter 6].</a:t>
            </a:r>
          </a:p>
          <a:p>
            <a:pPr lvl="1"/>
            <a:r>
              <a:rPr lang="en-AU" altLang="en-US" sz="2800" dirty="0"/>
              <a:t>Bishop demonstrates how some of the confidentiality categories can be eliminated by the introduction of integrity categories.</a:t>
            </a:r>
          </a:p>
          <a:p>
            <a:pPr lvl="1"/>
            <a:r>
              <a:rPr lang="en-AU" altLang="en-US" sz="2800" dirty="0"/>
              <a:t>There are a lot of possible levels, but not all of them are needed/used in practice.</a:t>
            </a:r>
          </a:p>
        </p:txBody>
      </p:sp>
      <p:sp>
        <p:nvSpPr>
          <p:cNvPr id="7168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644D7AAB-022E-402A-A5FA-2500D59C1127}" type="slidenum">
              <a:rPr kumimoji="0" lang="en-US" altLang="en-US" sz="1400"/>
              <a:pPr>
                <a:spcBef>
                  <a:spcPct val="50000"/>
                </a:spcBef>
                <a:buClrTx/>
                <a:buSzTx/>
                <a:buFontTx/>
                <a:buNone/>
              </a:pPr>
              <a:t>39</a:t>
            </a:fld>
            <a:endParaRPr kumimoji="0" lang="en-US" altLang="en-US" sz="1400"/>
          </a:p>
        </p:txBody>
      </p:sp>
    </p:spTree>
    <p:extLst>
      <p:ext uri="{BB962C8B-B14F-4D97-AF65-F5344CB8AC3E}">
        <p14:creationId xmlns:p14="http://schemas.microsoft.com/office/powerpoint/2010/main" val="176481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body" idx="1"/>
          </p:nvPr>
        </p:nvSpPr>
        <p:spPr>
          <a:xfrm>
            <a:off x="1192599" y="1268413"/>
            <a:ext cx="10594239" cy="5256212"/>
          </a:xfrm>
        </p:spPr>
        <p:txBody>
          <a:bodyPr>
            <a:normAutofit/>
          </a:bodyPr>
          <a:lstStyle/>
          <a:p>
            <a:pPr>
              <a:lnSpc>
                <a:spcPct val="90000"/>
              </a:lnSpc>
            </a:pPr>
            <a:r>
              <a:rPr lang="en-US" altLang="en-US" sz="2800" dirty="0"/>
              <a:t>The language used to describe the levels differs between a confidentiality setting and an integrity setting.</a:t>
            </a:r>
          </a:p>
          <a:p>
            <a:pPr>
              <a:lnSpc>
                <a:spcPct val="90000"/>
              </a:lnSpc>
            </a:pPr>
            <a:r>
              <a:rPr lang="en-US" altLang="en-US" sz="2800" dirty="0"/>
              <a:t>For example, the sensitivity levels may be:</a:t>
            </a:r>
          </a:p>
          <a:p>
            <a:pPr lvl="2">
              <a:lnSpc>
                <a:spcPct val="90000"/>
              </a:lnSpc>
              <a:buFontTx/>
              <a:buNone/>
            </a:pPr>
            <a:r>
              <a:rPr lang="en-US" altLang="en-US" sz="2800" dirty="0"/>
              <a:t>top secret		very reliable		totally trusted</a:t>
            </a:r>
          </a:p>
          <a:p>
            <a:pPr lvl="2">
              <a:lnSpc>
                <a:spcPct val="90000"/>
              </a:lnSpc>
              <a:buFontTx/>
              <a:buNone/>
            </a:pPr>
            <a:r>
              <a:rPr lang="en-US" altLang="en-US" sz="2800" dirty="0"/>
              <a:t>Secret			reliable		mostly trusted</a:t>
            </a:r>
          </a:p>
          <a:p>
            <a:pPr lvl="2">
              <a:lnSpc>
                <a:spcPct val="90000"/>
              </a:lnSpc>
              <a:buFontTx/>
              <a:buNone/>
            </a:pPr>
            <a:r>
              <a:rPr lang="en-US" altLang="en-US" sz="2800" dirty="0"/>
              <a:t>Confidential		a little bit reliable	somewhat trusted</a:t>
            </a:r>
          </a:p>
          <a:p>
            <a:pPr lvl="2">
              <a:lnSpc>
                <a:spcPct val="90000"/>
              </a:lnSpc>
              <a:buFontTx/>
              <a:buNone/>
            </a:pPr>
            <a:r>
              <a:rPr lang="en-US" altLang="en-US" sz="2800" dirty="0"/>
              <a:t>Unclassified		unreliable		untrusted</a:t>
            </a:r>
          </a:p>
          <a:p>
            <a:pPr>
              <a:lnSpc>
                <a:spcPct val="90000"/>
              </a:lnSpc>
            </a:pPr>
            <a:r>
              <a:rPr lang="en-AU" altLang="en-US" sz="2800" b="1" dirty="0"/>
              <a:t>BLP</a:t>
            </a:r>
            <a:r>
              <a:rPr lang="en-AU" altLang="en-US" sz="2800" dirty="0"/>
              <a:t>: Confidentiality based so would likely use the first column.</a:t>
            </a:r>
          </a:p>
          <a:p>
            <a:pPr>
              <a:lnSpc>
                <a:spcPct val="90000"/>
              </a:lnSpc>
            </a:pPr>
            <a:r>
              <a:rPr lang="en-AU" altLang="en-US" sz="2800" b="1" dirty="0" err="1"/>
              <a:t>Biba</a:t>
            </a:r>
            <a:r>
              <a:rPr lang="en-AU" altLang="en-US" sz="2800" dirty="0"/>
              <a:t>: Integrity based so would so likely use the second and third columns.</a:t>
            </a:r>
          </a:p>
        </p:txBody>
      </p:sp>
      <p:sp>
        <p:nvSpPr>
          <p:cNvPr id="73731" name="Title 1"/>
          <p:cNvSpPr>
            <a:spLocks noGrp="1"/>
          </p:cNvSpPr>
          <p:nvPr>
            <p:ph type="title"/>
          </p:nvPr>
        </p:nvSpPr>
        <p:spPr>
          <a:xfrm>
            <a:off x="1192600" y="247767"/>
            <a:ext cx="7772400" cy="857250"/>
          </a:xfrm>
        </p:spPr>
        <p:txBody>
          <a:bodyPr>
            <a:normAutofit fontScale="90000"/>
          </a:bodyPr>
          <a:lstStyle/>
          <a:p>
            <a:r>
              <a:rPr lang="en-AU" altLang="en-US" dirty="0"/>
              <a:t>Labels in a combined model …</a:t>
            </a:r>
          </a:p>
        </p:txBody>
      </p:sp>
    </p:spTree>
    <p:extLst>
      <p:ext uri="{BB962C8B-B14F-4D97-AF65-F5344CB8AC3E}">
        <p14:creationId xmlns:p14="http://schemas.microsoft.com/office/powerpoint/2010/main" val="2244159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19490">
                                            <p:txEl>
                                              <p:pRg st="0" end="0"/>
                                            </p:txEl>
                                          </p:spTgt>
                                        </p:tgtEl>
                                        <p:attrNameLst>
                                          <p:attrName>style.visibility</p:attrName>
                                        </p:attrNameLst>
                                      </p:cBhvr>
                                      <p:to>
                                        <p:strVal val="visible"/>
                                      </p:to>
                                    </p:set>
                                    <p:animEffect transition="in" filter="blinds(horizontal)">
                                      <p:cBhvr>
                                        <p:cTn id="7" dur="500"/>
                                        <p:tgtEl>
                                          <p:spTgt spid="3194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9490">
                                            <p:txEl>
                                              <p:pRg st="1" end="1"/>
                                            </p:txEl>
                                          </p:spTgt>
                                        </p:tgtEl>
                                        <p:attrNameLst>
                                          <p:attrName>style.visibility</p:attrName>
                                        </p:attrNameLst>
                                      </p:cBhvr>
                                      <p:to>
                                        <p:strVal val="visible"/>
                                      </p:to>
                                    </p:set>
                                    <p:animEffect transition="in" filter="blinds(horizontal)">
                                      <p:cBhvr>
                                        <p:cTn id="12" dur="500"/>
                                        <p:tgtEl>
                                          <p:spTgt spid="319490">
                                            <p:txEl>
                                              <p:pRg st="1" end="1"/>
                                            </p:txEl>
                                          </p:spTgt>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319490">
                                            <p:txEl>
                                              <p:pRg st="2" end="2"/>
                                            </p:txEl>
                                          </p:spTgt>
                                        </p:tgtEl>
                                        <p:attrNameLst>
                                          <p:attrName>style.visibility</p:attrName>
                                        </p:attrNameLst>
                                      </p:cBhvr>
                                      <p:to>
                                        <p:strVal val="visible"/>
                                      </p:to>
                                    </p:set>
                                    <p:animEffect transition="in" filter="blinds(horizontal)">
                                      <p:cBhvr>
                                        <p:cTn id="16" dur="500"/>
                                        <p:tgtEl>
                                          <p:spTgt spid="319490">
                                            <p:txEl>
                                              <p:pRg st="2" end="2"/>
                                            </p:txEl>
                                          </p:spTgt>
                                        </p:tgtEl>
                                      </p:cBhvr>
                                    </p:animEffect>
                                  </p:childTnLst>
                                </p:cTn>
                              </p:par>
                            </p:childTnLst>
                          </p:cTn>
                        </p:par>
                        <p:par>
                          <p:cTn id="17" fill="hold" nodeType="afterGroup">
                            <p:stCondLst>
                              <p:cond delay="1000"/>
                            </p:stCondLst>
                            <p:childTnLst>
                              <p:par>
                                <p:cTn id="18" presetID="3" presetClass="entr" presetSubtype="10" fill="hold" nodeType="afterEffect">
                                  <p:stCondLst>
                                    <p:cond delay="0"/>
                                  </p:stCondLst>
                                  <p:childTnLst>
                                    <p:set>
                                      <p:cBhvr>
                                        <p:cTn id="19" dur="1" fill="hold">
                                          <p:stCondLst>
                                            <p:cond delay="0"/>
                                          </p:stCondLst>
                                        </p:cTn>
                                        <p:tgtEl>
                                          <p:spTgt spid="319490">
                                            <p:txEl>
                                              <p:pRg st="3" end="3"/>
                                            </p:txEl>
                                          </p:spTgt>
                                        </p:tgtEl>
                                        <p:attrNameLst>
                                          <p:attrName>style.visibility</p:attrName>
                                        </p:attrNameLst>
                                      </p:cBhvr>
                                      <p:to>
                                        <p:strVal val="visible"/>
                                      </p:to>
                                    </p:set>
                                    <p:animEffect transition="in" filter="blinds(horizontal)">
                                      <p:cBhvr>
                                        <p:cTn id="20" dur="500"/>
                                        <p:tgtEl>
                                          <p:spTgt spid="319490">
                                            <p:txEl>
                                              <p:pRg st="3" end="3"/>
                                            </p:txEl>
                                          </p:spTgt>
                                        </p:tgtEl>
                                      </p:cBhvr>
                                    </p:animEffect>
                                  </p:childTnLst>
                                </p:cTn>
                              </p:par>
                            </p:childTnLst>
                          </p:cTn>
                        </p:par>
                        <p:par>
                          <p:cTn id="21" fill="hold" nodeType="afterGroup">
                            <p:stCondLst>
                              <p:cond delay="1500"/>
                            </p:stCondLst>
                            <p:childTnLst>
                              <p:par>
                                <p:cTn id="22" presetID="3" presetClass="entr" presetSubtype="10" fill="hold" nodeType="afterEffect">
                                  <p:stCondLst>
                                    <p:cond delay="0"/>
                                  </p:stCondLst>
                                  <p:childTnLst>
                                    <p:set>
                                      <p:cBhvr>
                                        <p:cTn id="23" dur="1" fill="hold">
                                          <p:stCondLst>
                                            <p:cond delay="0"/>
                                          </p:stCondLst>
                                        </p:cTn>
                                        <p:tgtEl>
                                          <p:spTgt spid="319490">
                                            <p:txEl>
                                              <p:pRg st="4" end="4"/>
                                            </p:txEl>
                                          </p:spTgt>
                                        </p:tgtEl>
                                        <p:attrNameLst>
                                          <p:attrName>style.visibility</p:attrName>
                                        </p:attrNameLst>
                                      </p:cBhvr>
                                      <p:to>
                                        <p:strVal val="visible"/>
                                      </p:to>
                                    </p:set>
                                    <p:animEffect transition="in" filter="blinds(horizontal)">
                                      <p:cBhvr>
                                        <p:cTn id="24" dur="500"/>
                                        <p:tgtEl>
                                          <p:spTgt spid="319490">
                                            <p:txEl>
                                              <p:pRg st="4" end="4"/>
                                            </p:txEl>
                                          </p:spTgt>
                                        </p:tgtEl>
                                      </p:cBhvr>
                                    </p:animEffect>
                                  </p:childTnLst>
                                </p:cTn>
                              </p:par>
                            </p:childTnLst>
                          </p:cTn>
                        </p:par>
                        <p:par>
                          <p:cTn id="25" fill="hold" nodeType="afterGroup">
                            <p:stCondLst>
                              <p:cond delay="2000"/>
                            </p:stCondLst>
                            <p:childTnLst>
                              <p:par>
                                <p:cTn id="26" presetID="3" presetClass="entr" presetSubtype="10" fill="hold" nodeType="afterEffect">
                                  <p:stCondLst>
                                    <p:cond delay="0"/>
                                  </p:stCondLst>
                                  <p:childTnLst>
                                    <p:set>
                                      <p:cBhvr>
                                        <p:cTn id="27" dur="1" fill="hold">
                                          <p:stCondLst>
                                            <p:cond delay="0"/>
                                          </p:stCondLst>
                                        </p:cTn>
                                        <p:tgtEl>
                                          <p:spTgt spid="319490">
                                            <p:txEl>
                                              <p:pRg st="5" end="5"/>
                                            </p:txEl>
                                          </p:spTgt>
                                        </p:tgtEl>
                                        <p:attrNameLst>
                                          <p:attrName>style.visibility</p:attrName>
                                        </p:attrNameLst>
                                      </p:cBhvr>
                                      <p:to>
                                        <p:strVal val="visible"/>
                                      </p:to>
                                    </p:set>
                                    <p:animEffect transition="in" filter="blinds(horizontal)">
                                      <p:cBhvr>
                                        <p:cTn id="28" dur="500"/>
                                        <p:tgtEl>
                                          <p:spTgt spid="319490">
                                            <p:txEl>
                                              <p:pRg st="5" end="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19490">
                                            <p:txEl>
                                              <p:pRg st="6" end="6"/>
                                            </p:txEl>
                                          </p:spTgt>
                                        </p:tgtEl>
                                        <p:attrNameLst>
                                          <p:attrName>style.visibility</p:attrName>
                                        </p:attrNameLst>
                                      </p:cBhvr>
                                      <p:to>
                                        <p:strVal val="visible"/>
                                      </p:to>
                                    </p:set>
                                    <p:animEffect transition="in" filter="blinds(horizontal)">
                                      <p:cBhvr>
                                        <p:cTn id="31" dur="500"/>
                                        <p:tgtEl>
                                          <p:spTgt spid="319490">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19490">
                                            <p:txEl>
                                              <p:pRg st="7" end="7"/>
                                            </p:txEl>
                                          </p:spTgt>
                                        </p:tgtEl>
                                        <p:attrNameLst>
                                          <p:attrName>style.visibility</p:attrName>
                                        </p:attrNameLst>
                                      </p:cBhvr>
                                      <p:to>
                                        <p:strVal val="visible"/>
                                      </p:to>
                                    </p:set>
                                    <p:animEffect transition="in" filter="blinds(horizontal)">
                                      <p:cBhvr>
                                        <p:cTn id="34" dur="500"/>
                                        <p:tgtEl>
                                          <p:spTgt spid="31949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1158799" y="114301"/>
            <a:ext cx="7000875" cy="885825"/>
          </a:xfrm>
        </p:spPr>
        <p:txBody>
          <a:bodyPr/>
          <a:lstStyle/>
          <a:p>
            <a:r>
              <a:rPr lang="en-AU" altLang="en-US" sz="3600" dirty="0"/>
              <a:t>Classifications for Confidentiality</a:t>
            </a:r>
          </a:p>
        </p:txBody>
      </p:sp>
      <p:sp>
        <p:nvSpPr>
          <p:cNvPr id="3" name="Content Placeholder 2"/>
          <p:cNvSpPr>
            <a:spLocks noGrp="1"/>
          </p:cNvSpPr>
          <p:nvPr>
            <p:ph idx="1"/>
          </p:nvPr>
        </p:nvSpPr>
        <p:spPr>
          <a:xfrm>
            <a:off x="1158799" y="1071564"/>
            <a:ext cx="9310764" cy="1528763"/>
          </a:xfrm>
        </p:spPr>
        <p:txBody>
          <a:bodyPr/>
          <a:lstStyle/>
          <a:p>
            <a:r>
              <a:rPr lang="en-AU" altLang="en-US" sz="2800" b="1" dirty="0"/>
              <a:t>CAM</a:t>
            </a:r>
            <a:r>
              <a:rPr lang="en-AU" altLang="en-US" sz="2800" dirty="0"/>
              <a:t>: Audit Manager: System auditing and management functions.</a:t>
            </a:r>
          </a:p>
          <a:p>
            <a:r>
              <a:rPr lang="en-AU" altLang="en-US" sz="2800" b="1" dirty="0"/>
              <a:t>CSL</a:t>
            </a:r>
            <a:r>
              <a:rPr lang="en-AU" altLang="en-US" sz="2800" dirty="0"/>
              <a:t>: System Low: The lowest.</a:t>
            </a:r>
          </a:p>
        </p:txBody>
      </p:sp>
      <p:sp>
        <p:nvSpPr>
          <p:cNvPr id="768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A5CC660D-DE96-44E4-A7C0-04448B5AC5D6}" type="slidenum">
              <a:rPr kumimoji="0" lang="en-US" altLang="en-US" sz="1400"/>
              <a:pPr>
                <a:spcBef>
                  <a:spcPct val="50000"/>
                </a:spcBef>
                <a:buClrTx/>
                <a:buSzTx/>
                <a:buFontTx/>
                <a:buNone/>
              </a:pPr>
              <a:t>41</a:t>
            </a:fld>
            <a:endParaRPr kumimoji="0" lang="en-US" altLang="en-US" sz="1400"/>
          </a:p>
        </p:txBody>
      </p:sp>
      <p:sp>
        <p:nvSpPr>
          <p:cNvPr id="5" name="Title 1"/>
          <p:cNvSpPr txBox="1">
            <a:spLocks/>
          </p:cNvSpPr>
          <p:nvPr/>
        </p:nvSpPr>
        <p:spPr bwMode="auto">
          <a:xfrm>
            <a:off x="1968307" y="2714626"/>
            <a:ext cx="6373812" cy="885825"/>
          </a:xfrm>
          <a:prstGeom prst="rect">
            <a:avLst/>
          </a:prstGeom>
          <a:noFill/>
          <a:ln w="9525">
            <a:noFill/>
            <a:miter lim="800000"/>
            <a:headEnd/>
            <a:tailEnd/>
          </a:ln>
        </p:spPr>
        <p:txBody>
          <a:bodyPr anchor="ctr"/>
          <a:lstStyle/>
          <a:p>
            <a:pPr>
              <a:defRPr/>
            </a:pPr>
            <a:r>
              <a:rPr kumimoji="1" lang="en-AU" sz="3600" kern="0" dirty="0">
                <a:solidFill>
                  <a:schemeClr val="tx2"/>
                </a:solidFill>
                <a:latin typeface="+mj-lt"/>
                <a:ea typeface="+mj-ea"/>
                <a:cs typeface="+mj-cs"/>
              </a:rPr>
              <a:t>Categories for Confidentiality</a:t>
            </a:r>
          </a:p>
        </p:txBody>
      </p:sp>
      <p:sp>
        <p:nvSpPr>
          <p:cNvPr id="6" name="Content Placeholder 2"/>
          <p:cNvSpPr txBox="1">
            <a:spLocks/>
          </p:cNvSpPr>
          <p:nvPr/>
        </p:nvSpPr>
        <p:spPr bwMode="auto">
          <a:xfrm>
            <a:off x="1158799" y="3600451"/>
            <a:ext cx="9509201" cy="3043237"/>
          </a:xfrm>
          <a:prstGeom prst="rect">
            <a:avLst/>
          </a:prstGeom>
          <a:noFill/>
          <a:ln w="9525">
            <a:noFill/>
            <a:miter lim="800000"/>
            <a:headEnd/>
            <a:tailEnd/>
          </a:ln>
        </p:spPr>
        <p:txBody>
          <a:bodyPr/>
          <a:lstStyle/>
          <a:p>
            <a:pPr marL="342900" indent="-342900">
              <a:spcBef>
                <a:spcPct val="20000"/>
              </a:spcBef>
              <a:buClr>
                <a:schemeClr val="accent1"/>
              </a:buClr>
              <a:buSzPct val="70000"/>
              <a:buFont typeface="Monotype Sorts" pitchFamily="36" charset="2"/>
              <a:buChar char="n"/>
              <a:defRPr/>
            </a:pPr>
            <a:r>
              <a:rPr kumimoji="1" lang="en-AU" sz="2400" b="1" kern="0" dirty="0">
                <a:latin typeface="Times New Roman" panose="02020603050405020304" pitchFamily="18" charset="0"/>
                <a:cs typeface="Times New Roman" panose="02020603050405020304" pitchFamily="18" charset="0"/>
              </a:rPr>
              <a:t>CP</a:t>
            </a:r>
            <a:r>
              <a:rPr kumimoji="1" lang="en-AU" sz="2400" kern="0" dirty="0">
                <a:latin typeface="Times New Roman" panose="02020603050405020304" pitchFamily="18" charset="0"/>
                <a:cs typeface="Times New Roman" panose="02020603050405020304" pitchFamily="18" charset="0"/>
              </a:rPr>
              <a:t>: Production: Production code and data.</a:t>
            </a:r>
          </a:p>
          <a:p>
            <a:pPr marL="342900" indent="-342900">
              <a:spcBef>
                <a:spcPct val="20000"/>
              </a:spcBef>
              <a:buClr>
                <a:schemeClr val="accent1"/>
              </a:buClr>
              <a:buSzPct val="70000"/>
              <a:buFont typeface="Monotype Sorts" pitchFamily="36" charset="2"/>
              <a:buChar char="n"/>
              <a:defRPr/>
            </a:pPr>
            <a:r>
              <a:rPr kumimoji="1" lang="en-AU" sz="2400" b="1" kern="0" dirty="0">
                <a:latin typeface="Times New Roman" panose="02020603050405020304" pitchFamily="18" charset="0"/>
                <a:cs typeface="Times New Roman" panose="02020603050405020304" pitchFamily="18" charset="0"/>
              </a:rPr>
              <a:t>CD</a:t>
            </a:r>
            <a:r>
              <a:rPr kumimoji="1" lang="en-AU" sz="2400" kern="0" dirty="0">
                <a:latin typeface="Times New Roman" panose="02020603050405020304" pitchFamily="18" charset="0"/>
                <a:cs typeface="Times New Roman" panose="02020603050405020304" pitchFamily="18" charset="0"/>
              </a:rPr>
              <a:t>: Development: Production programs under development and testing, but not yet in production use.</a:t>
            </a:r>
          </a:p>
          <a:p>
            <a:pPr marL="342900" indent="-342900">
              <a:spcBef>
                <a:spcPct val="20000"/>
              </a:spcBef>
              <a:buClr>
                <a:schemeClr val="accent1"/>
              </a:buClr>
              <a:buSzPct val="70000"/>
              <a:buFont typeface="Monotype Sorts" pitchFamily="36" charset="2"/>
              <a:buChar char="n"/>
              <a:defRPr/>
            </a:pPr>
            <a:r>
              <a:rPr kumimoji="1" lang="en-AU" sz="2400" b="1" kern="0" dirty="0">
                <a:latin typeface="Times New Roman" panose="02020603050405020304" pitchFamily="18" charset="0"/>
                <a:cs typeface="Times New Roman" panose="02020603050405020304" pitchFamily="18" charset="0"/>
              </a:rPr>
              <a:t>CSD</a:t>
            </a:r>
            <a:r>
              <a:rPr kumimoji="1" lang="en-AU" sz="2400" kern="0" dirty="0">
                <a:latin typeface="Times New Roman" panose="02020603050405020304" pitchFamily="18" charset="0"/>
                <a:cs typeface="Times New Roman" panose="02020603050405020304" pitchFamily="18" charset="0"/>
              </a:rPr>
              <a:t>: Systems Development: System programs under development, but not yet in production use.</a:t>
            </a:r>
          </a:p>
        </p:txBody>
      </p:sp>
    </p:spTree>
    <p:extLst>
      <p:ext uri="{BB962C8B-B14F-4D97-AF65-F5344CB8AC3E}">
        <p14:creationId xmlns:p14="http://schemas.microsoft.com/office/powerpoint/2010/main" val="389496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blinds(horizontal)">
                                      <p:cBhvr>
                                        <p:cTn id="22" dur="500"/>
                                        <p:tgtEl>
                                          <p:spTgt spid="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blinds(horizontal)">
                                      <p:cBhvr>
                                        <p:cTn id="2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2095501" y="214314"/>
            <a:ext cx="6373813" cy="885825"/>
          </a:xfrm>
        </p:spPr>
        <p:txBody>
          <a:bodyPr/>
          <a:lstStyle/>
          <a:p>
            <a:r>
              <a:rPr lang="en-AU" altLang="en-US" sz="3600"/>
              <a:t>Classifications for Integrity</a:t>
            </a:r>
          </a:p>
        </p:txBody>
      </p:sp>
      <p:sp>
        <p:nvSpPr>
          <p:cNvPr id="3" name="Content Placeholder 2"/>
          <p:cNvSpPr>
            <a:spLocks noGrp="1"/>
          </p:cNvSpPr>
          <p:nvPr>
            <p:ph idx="1"/>
          </p:nvPr>
        </p:nvSpPr>
        <p:spPr>
          <a:xfrm>
            <a:off x="1952625" y="1071564"/>
            <a:ext cx="8516938" cy="2357437"/>
          </a:xfrm>
        </p:spPr>
        <p:txBody>
          <a:bodyPr/>
          <a:lstStyle/>
          <a:p>
            <a:r>
              <a:rPr lang="en-AU" altLang="en-US" sz="2800" b="1"/>
              <a:t>ISP: </a:t>
            </a:r>
            <a:r>
              <a:rPr lang="en-AU" altLang="en-US" sz="2800"/>
              <a:t>System programs.</a:t>
            </a:r>
          </a:p>
          <a:p>
            <a:r>
              <a:rPr lang="en-AU" altLang="en-US" sz="2800" b="1"/>
              <a:t>IO</a:t>
            </a:r>
            <a:r>
              <a:rPr lang="en-AU" altLang="en-US" sz="2800"/>
              <a:t>: Production programs and development software.</a:t>
            </a:r>
          </a:p>
          <a:p>
            <a:r>
              <a:rPr lang="en-AU" altLang="en-US" sz="2800" b="1"/>
              <a:t>ISL</a:t>
            </a:r>
            <a:r>
              <a:rPr lang="en-AU" altLang="en-US" sz="2800"/>
              <a:t>: System Low: The lowest. </a:t>
            </a:r>
          </a:p>
        </p:txBody>
      </p:sp>
      <p:sp>
        <p:nvSpPr>
          <p:cNvPr id="7782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5C50E793-3861-4F7E-834F-5BC74EDD76A0}" type="slidenum">
              <a:rPr kumimoji="0" lang="en-US" altLang="en-US" sz="1400"/>
              <a:pPr>
                <a:spcBef>
                  <a:spcPct val="50000"/>
                </a:spcBef>
                <a:buClrTx/>
                <a:buSzTx/>
                <a:buFontTx/>
                <a:buNone/>
              </a:pPr>
              <a:t>42</a:t>
            </a:fld>
            <a:endParaRPr kumimoji="0" lang="en-US" altLang="en-US" sz="1400"/>
          </a:p>
        </p:txBody>
      </p:sp>
      <p:sp>
        <p:nvSpPr>
          <p:cNvPr id="5" name="Title 1"/>
          <p:cNvSpPr txBox="1">
            <a:spLocks/>
          </p:cNvSpPr>
          <p:nvPr/>
        </p:nvSpPr>
        <p:spPr bwMode="auto">
          <a:xfrm>
            <a:off x="2024063" y="3571876"/>
            <a:ext cx="6373812" cy="885825"/>
          </a:xfrm>
          <a:prstGeom prst="rect">
            <a:avLst/>
          </a:prstGeom>
          <a:noFill/>
          <a:ln w="9525">
            <a:noFill/>
            <a:miter lim="800000"/>
            <a:headEnd/>
            <a:tailEnd/>
          </a:ln>
        </p:spPr>
        <p:txBody>
          <a:bodyPr anchor="ctr"/>
          <a:lstStyle/>
          <a:p>
            <a:pPr>
              <a:defRPr/>
            </a:pPr>
            <a:r>
              <a:rPr kumimoji="1" lang="en-AU" sz="3600" kern="0" dirty="0">
                <a:solidFill>
                  <a:schemeClr val="tx2"/>
                </a:solidFill>
                <a:latin typeface="+mj-lt"/>
                <a:ea typeface="+mj-ea"/>
                <a:cs typeface="+mj-cs"/>
              </a:rPr>
              <a:t>Categories for Integrity</a:t>
            </a:r>
          </a:p>
        </p:txBody>
      </p:sp>
      <p:sp>
        <p:nvSpPr>
          <p:cNvPr id="6" name="Content Placeholder 2"/>
          <p:cNvSpPr txBox="1">
            <a:spLocks/>
          </p:cNvSpPr>
          <p:nvPr/>
        </p:nvSpPr>
        <p:spPr bwMode="auto">
          <a:xfrm>
            <a:off x="1809750" y="4786314"/>
            <a:ext cx="8858250" cy="1214437"/>
          </a:xfrm>
          <a:prstGeom prst="rect">
            <a:avLst/>
          </a:prstGeom>
          <a:noFill/>
          <a:ln w="9525">
            <a:noFill/>
            <a:miter lim="800000"/>
            <a:headEnd/>
            <a:tailEnd/>
          </a:ln>
        </p:spPr>
        <p:txBody>
          <a:bodyPr/>
          <a:lstStyle/>
          <a:p>
            <a:pPr marL="342900" indent="-342900">
              <a:spcBef>
                <a:spcPct val="20000"/>
              </a:spcBef>
              <a:buClr>
                <a:schemeClr val="accent1"/>
              </a:buClr>
              <a:buSzPct val="70000"/>
              <a:buFont typeface="Monotype Sorts" pitchFamily="36" charset="2"/>
              <a:buChar char="n"/>
              <a:defRPr/>
            </a:pPr>
            <a:r>
              <a:rPr kumimoji="1" lang="en-AU" sz="2800" b="1" kern="0" dirty="0"/>
              <a:t>ID</a:t>
            </a:r>
            <a:r>
              <a:rPr kumimoji="1" lang="en-AU" sz="2800" kern="0" dirty="0"/>
              <a:t>: Development: Development entities.</a:t>
            </a:r>
          </a:p>
          <a:p>
            <a:pPr marL="342900" indent="-342900">
              <a:spcBef>
                <a:spcPct val="20000"/>
              </a:spcBef>
              <a:buClr>
                <a:schemeClr val="accent1"/>
              </a:buClr>
              <a:buSzPct val="70000"/>
              <a:buFont typeface="Monotype Sorts" pitchFamily="36" charset="2"/>
              <a:buChar char="n"/>
              <a:defRPr/>
            </a:pPr>
            <a:r>
              <a:rPr kumimoji="1" lang="en-AU" sz="2800" b="1" kern="0" dirty="0"/>
              <a:t>IP</a:t>
            </a:r>
            <a:r>
              <a:rPr kumimoji="1" lang="en-AU" sz="2800" kern="0" dirty="0"/>
              <a:t>: Production: Production entities.</a:t>
            </a:r>
          </a:p>
        </p:txBody>
      </p:sp>
    </p:spTree>
    <p:extLst>
      <p:ext uri="{BB962C8B-B14F-4D97-AF65-F5344CB8AC3E}">
        <p14:creationId xmlns:p14="http://schemas.microsoft.com/office/powerpoint/2010/main" val="2937329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blinds(horizontal)">
                                      <p:cBhvr>
                                        <p:cTn id="22" dur="500"/>
                                        <p:tgtEl>
                                          <p:spTgt spid="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blinds(horizontal)">
                                      <p:cBhvr>
                                        <p:cTn id="2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2166939" y="0"/>
            <a:ext cx="8302625" cy="1385888"/>
          </a:xfrm>
        </p:spPr>
        <p:txBody>
          <a:bodyPr/>
          <a:lstStyle/>
          <a:p>
            <a:r>
              <a:rPr lang="en-AU" altLang="en-US"/>
              <a:t>Subjects </a:t>
            </a:r>
            <a:r>
              <a:rPr lang="en-AU" altLang="en-US">
                <a:sym typeface="Wingdings" panose="05000000000000000000" pitchFamily="2" charset="2"/>
              </a:rPr>
              <a:t> Users</a:t>
            </a:r>
            <a:endParaRPr lang="en-AU" altLang="en-US"/>
          </a:p>
        </p:txBody>
      </p:sp>
      <p:sp>
        <p:nvSpPr>
          <p:cNvPr id="7885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D5EB558D-4BA2-418B-BAB3-4BD01A306FBC}" type="slidenum">
              <a:rPr kumimoji="0" lang="en-US" altLang="en-US" sz="1400"/>
              <a:pPr>
                <a:spcBef>
                  <a:spcPct val="50000"/>
                </a:spcBef>
                <a:buClrTx/>
                <a:buSzTx/>
                <a:buFontTx/>
                <a:buNone/>
              </a:pPr>
              <a:t>43</a:t>
            </a:fld>
            <a:endParaRPr kumimoji="0" lang="en-US" altLang="en-US" sz="1400"/>
          </a:p>
        </p:txBody>
      </p:sp>
      <p:graphicFrame>
        <p:nvGraphicFramePr>
          <p:cNvPr id="5" name="Table 4"/>
          <p:cNvGraphicFramePr>
            <a:graphicFrameLocks noGrp="1"/>
          </p:cNvGraphicFramePr>
          <p:nvPr/>
        </p:nvGraphicFramePr>
        <p:xfrm>
          <a:off x="1081668" y="1385887"/>
          <a:ext cx="9372022" cy="4513107"/>
        </p:xfrm>
        <a:graphic>
          <a:graphicData uri="http://schemas.openxmlformats.org/drawingml/2006/table">
            <a:tbl>
              <a:tblPr/>
              <a:tblGrid>
                <a:gridCol w="2992746">
                  <a:extLst>
                    <a:ext uri="{9D8B030D-6E8A-4147-A177-3AD203B41FA5}">
                      <a16:colId xmlns:a16="http://schemas.microsoft.com/office/drawing/2014/main" val="20000"/>
                    </a:ext>
                  </a:extLst>
                </a:gridCol>
                <a:gridCol w="3386530">
                  <a:extLst>
                    <a:ext uri="{9D8B030D-6E8A-4147-A177-3AD203B41FA5}">
                      <a16:colId xmlns:a16="http://schemas.microsoft.com/office/drawing/2014/main" val="20001"/>
                    </a:ext>
                  </a:extLst>
                </a:gridCol>
                <a:gridCol w="2992746">
                  <a:extLst>
                    <a:ext uri="{9D8B030D-6E8A-4147-A177-3AD203B41FA5}">
                      <a16:colId xmlns:a16="http://schemas.microsoft.com/office/drawing/2014/main" val="20002"/>
                    </a:ext>
                  </a:extLst>
                </a:gridCol>
              </a:tblGrid>
              <a:tr h="87413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Users</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Confidentiality Clearance</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Integrity Clearance / Trust</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9696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Ordinary user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{IP})</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1"/>
                  </a:ext>
                </a:extLst>
              </a:tr>
              <a:tr h="52286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Application developer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(CSL, {CD})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2"/>
                  </a:ext>
                </a:extLst>
              </a:tr>
              <a:tr h="503435">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System programmer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{CSD})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3"/>
                  </a:ext>
                </a:extLst>
              </a:tr>
              <a:tr h="890319">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System controller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 CD,CSD}) and downgrade privilege</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(ISP, {IP, ID})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4"/>
                  </a:ext>
                </a:extLst>
              </a:tr>
              <a:tr h="728443">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System manager, Auditor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(CAM, {CP, CD,CSD})</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a:t>
                      </a:r>
                      <a:r>
                        <a:rPr kumimoji="0" lang="en-AU" altLang="en-US" sz="2000" b="0" i="0" u="none" strike="noStrike" cap="none" normalizeH="0" baseline="0">
                          <a:ln>
                            <a:noFill/>
                          </a:ln>
                          <a:solidFill>
                            <a:srgbClr val="000000"/>
                          </a:solidFill>
                          <a:effectLst/>
                          <a:latin typeface="Arial" charset="0"/>
                          <a:sym typeface="Symbol" pitchFamily="18" charset="2"/>
                        </a:rPr>
                        <a:t>)</a:t>
                      </a:r>
                      <a:endParaRPr kumimoji="0" lang="en-AU" altLang="en-US" sz="2000" b="0" i="0" u="none" strike="noStrike" cap="none" normalizeH="0" baseline="0">
                        <a:ln>
                          <a:noFill/>
                        </a:ln>
                        <a:solidFill>
                          <a:srgbClr val="000000"/>
                        </a:solidFill>
                        <a:effectLst/>
                        <a:latin typeface="Arial"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5"/>
                  </a:ext>
                </a:extLst>
              </a:tr>
              <a:tr h="496960">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Repair</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(ISL, {IP})</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62198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1952625" y="0"/>
            <a:ext cx="9265502" cy="1048215"/>
          </a:xfrm>
        </p:spPr>
        <p:txBody>
          <a:bodyPr>
            <a:normAutofit fontScale="90000"/>
          </a:bodyPr>
          <a:lstStyle/>
          <a:p>
            <a:r>
              <a:rPr lang="en-AU" altLang="en-US" dirty="0"/>
              <a:t>Objects </a:t>
            </a:r>
            <a:r>
              <a:rPr lang="en-AU" altLang="en-US" dirty="0">
                <a:sym typeface="Wingdings" panose="05000000000000000000" pitchFamily="2" charset="2"/>
              </a:rPr>
              <a:t> Code, data, program, logs</a:t>
            </a:r>
            <a:endParaRPr lang="en-AU" altLang="en-US" dirty="0"/>
          </a:p>
        </p:txBody>
      </p:sp>
      <p:sp>
        <p:nvSpPr>
          <p:cNvPr id="8089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F91F9C2F-7EEA-4B18-B394-8456F8B89188}" type="slidenum">
              <a:rPr kumimoji="0" lang="en-US" altLang="en-US" sz="1400"/>
              <a:pPr>
                <a:spcBef>
                  <a:spcPct val="50000"/>
                </a:spcBef>
                <a:buClrTx/>
                <a:buSzTx/>
                <a:buFontTx/>
                <a:buNone/>
              </a:pPr>
              <a:t>44</a:t>
            </a:fld>
            <a:endParaRPr kumimoji="0" lang="en-US" altLang="en-US" sz="1400"/>
          </a:p>
        </p:txBody>
      </p:sp>
      <p:graphicFrame>
        <p:nvGraphicFramePr>
          <p:cNvPr id="5" name="Table 4"/>
          <p:cNvGraphicFramePr>
            <a:graphicFrameLocks noGrp="1"/>
          </p:cNvGraphicFramePr>
          <p:nvPr/>
        </p:nvGraphicFramePr>
        <p:xfrm>
          <a:off x="1204332" y="1010619"/>
          <a:ext cx="10013795" cy="5444729"/>
        </p:xfrm>
        <a:graphic>
          <a:graphicData uri="http://schemas.openxmlformats.org/drawingml/2006/table">
            <a:tbl>
              <a:tblPr/>
              <a:tblGrid>
                <a:gridCol w="3198162">
                  <a:extLst>
                    <a:ext uri="{9D8B030D-6E8A-4147-A177-3AD203B41FA5}">
                      <a16:colId xmlns:a16="http://schemas.microsoft.com/office/drawing/2014/main" val="20000"/>
                    </a:ext>
                  </a:extLst>
                </a:gridCol>
                <a:gridCol w="3617471">
                  <a:extLst>
                    <a:ext uri="{9D8B030D-6E8A-4147-A177-3AD203B41FA5}">
                      <a16:colId xmlns:a16="http://schemas.microsoft.com/office/drawing/2014/main" val="20001"/>
                    </a:ext>
                  </a:extLst>
                </a:gridCol>
                <a:gridCol w="3198162">
                  <a:extLst>
                    <a:ext uri="{9D8B030D-6E8A-4147-A177-3AD203B41FA5}">
                      <a16:colId xmlns:a16="http://schemas.microsoft.com/office/drawing/2014/main" val="20002"/>
                    </a:ext>
                  </a:extLst>
                </a:gridCol>
              </a:tblGrid>
              <a:tr h="852674">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Objects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Confidentiality Clearance</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1" i="0" u="none" strike="noStrike" cap="none" normalizeH="0" baseline="0">
                          <a:ln>
                            <a:noFill/>
                          </a:ln>
                          <a:solidFill>
                            <a:srgbClr val="FFFFFF"/>
                          </a:solidFill>
                          <a:effectLst/>
                          <a:latin typeface="Arial" charset="0"/>
                        </a:rPr>
                        <a:t>Integrity Clearance / Trust</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0182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Development code/test data</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{CD})</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{ID})</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1"/>
                  </a:ext>
                </a:extLst>
              </a:tr>
              <a:tr h="509699">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Production code</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(IO, {IP})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2"/>
                  </a:ext>
                </a:extLst>
              </a:tr>
              <a:tr h="492233">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Production data</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3"/>
                  </a:ext>
                </a:extLst>
              </a:tr>
              <a:tr h="50334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Software Tools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a:t>
                      </a:r>
                      <a:r>
                        <a:rPr kumimoji="0" lang="en-AU" altLang="en-US" sz="2000" b="0" i="0" u="none" strike="noStrike" cap="none" normalizeH="0" baseline="0">
                          <a:ln>
                            <a:noFill/>
                          </a:ln>
                          <a:solidFill>
                            <a:srgbClr val="000000"/>
                          </a:solidFill>
                          <a:effectLst/>
                          <a:latin typeface="Arial" charset="0"/>
                          <a:sym typeface="Symbol" pitchFamily="18" charset="2"/>
                        </a:rPr>
                        <a:t></a:t>
                      </a:r>
                      <a:r>
                        <a:rPr kumimoji="0" lang="en-AU" altLang="en-US" sz="2000" b="0" i="0" u="none" strike="noStrike" cap="none" normalizeH="0" baseline="0">
                          <a:ln>
                            <a:noFill/>
                          </a:ln>
                          <a:solidFill>
                            <a:srgbClr val="000000"/>
                          </a:solidFill>
                          <a:effectLst/>
                          <a:latin typeface="Arial" charset="0"/>
                        </a:rPr>
                        <a:t>)</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(IO, {ID})</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4"/>
                  </a:ext>
                </a:extLst>
              </a:tr>
              <a:tr h="496997">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System programs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a:t>
                      </a:r>
                      <a:r>
                        <a:rPr kumimoji="0" lang="en-AU" altLang="en-US" sz="2000" b="0" i="0" u="none" strike="noStrike" cap="none" normalizeH="0" baseline="0">
                          <a:ln>
                            <a:noFill/>
                          </a:ln>
                          <a:solidFill>
                            <a:srgbClr val="000000"/>
                          </a:solidFill>
                          <a:effectLst/>
                          <a:latin typeface="Arial" charset="0"/>
                          <a:sym typeface="Symbol" pitchFamily="18" charset="2"/>
                        </a:rPr>
                        <a:t></a:t>
                      </a:r>
                      <a:r>
                        <a:rPr kumimoji="0" lang="en-AU" altLang="en-US" sz="2000" b="0" i="0" u="none" strike="noStrike" cap="none" normalizeH="0" baseline="0">
                          <a:ln>
                            <a:noFill/>
                          </a:ln>
                          <a:solidFill>
                            <a:srgbClr val="000000"/>
                          </a:solidFill>
                          <a:effectLst/>
                          <a:latin typeface="Arial" charset="0"/>
                        </a:rPr>
                        <a:t>)</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{IP, ID}</a:t>
                      </a:r>
                      <a:r>
                        <a:rPr kumimoji="0" lang="en-AU" altLang="en-US" sz="2000" b="0" i="0" u="none" strike="noStrike" cap="none" normalizeH="0" baseline="0">
                          <a:ln>
                            <a:noFill/>
                          </a:ln>
                          <a:solidFill>
                            <a:srgbClr val="000000"/>
                          </a:solidFill>
                          <a:effectLst/>
                          <a:latin typeface="Arial" charset="0"/>
                          <a:sym typeface="Symbol" pitchFamily="18" charset="2"/>
                        </a:rPr>
                        <a:t>)</a:t>
                      </a:r>
                      <a:endParaRPr kumimoji="0" lang="en-AU" altLang="en-US" sz="2000" b="0" i="0" u="none" strike="noStrike" cap="none" normalizeH="0" baseline="0">
                        <a:ln>
                          <a:noFill/>
                        </a:ln>
                        <a:solidFill>
                          <a:srgbClr val="000000"/>
                        </a:solidFill>
                        <a:effectLst/>
                        <a:latin typeface="Arial"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5"/>
                  </a:ext>
                </a:extLst>
              </a:tr>
              <a:tr h="70182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System programs in modification</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{CSD})</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{ID})</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6"/>
                  </a:ext>
                </a:extLst>
              </a:tr>
              <a:tr h="70182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System and application logs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(CAM, {appropriate categories})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(ISL, </a:t>
                      </a:r>
                      <a:r>
                        <a:rPr kumimoji="0" lang="en-AU" altLang="en-US" sz="2000" b="0" i="0" u="none" strike="noStrike" cap="none" normalizeH="0" baseline="0">
                          <a:ln>
                            <a:noFill/>
                          </a:ln>
                          <a:solidFill>
                            <a:srgbClr val="000000"/>
                          </a:solidFill>
                          <a:effectLst/>
                          <a:latin typeface="Arial" charset="0"/>
                          <a:sym typeface="Symbol" pitchFamily="18" charset="2"/>
                        </a:rPr>
                        <a:t>)</a:t>
                      </a:r>
                      <a:endParaRPr kumimoji="0" lang="en-AU" altLang="en-US" sz="2000" b="0" i="0" u="none" strike="noStrike" cap="none" normalizeH="0" baseline="0">
                        <a:ln>
                          <a:noFill/>
                        </a:ln>
                        <a:solidFill>
                          <a:srgbClr val="000000"/>
                        </a:solidFill>
                        <a:effectLst/>
                        <a:latin typeface="Arial"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extLst>
                  <a:ext uri="{0D108BD9-81ED-4DB2-BD59-A6C34878D82A}">
                    <a16:rowId xmlns:a16="http://schemas.microsoft.com/office/drawing/2014/main" val="10007"/>
                  </a:ext>
                </a:extLst>
              </a:tr>
              <a:tr h="484294">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Repair</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a:ln>
                            <a:noFill/>
                          </a:ln>
                          <a:solidFill>
                            <a:srgbClr val="000000"/>
                          </a:solidFill>
                          <a:effectLst/>
                          <a:latin typeface="Arial" charset="0"/>
                        </a:rPr>
                        <a:t>(CSL, {CP})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altLang="en-US" sz="2000" b="0" i="0" u="none" strike="noStrike" cap="none" normalizeH="0" baseline="0" dirty="0">
                          <a:ln>
                            <a:noFill/>
                          </a:ln>
                          <a:solidFill>
                            <a:srgbClr val="000000"/>
                          </a:solidFill>
                          <a:effectLst/>
                          <a:latin typeface="Arial" charset="0"/>
                        </a:rPr>
                        <a:t>(ISL, {IP})</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98876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1186328" y="308982"/>
            <a:ext cx="7772400" cy="1143000"/>
          </a:xfrm>
        </p:spPr>
        <p:txBody>
          <a:bodyPr/>
          <a:lstStyle/>
          <a:p>
            <a:r>
              <a:rPr lang="en-AU" altLang="en-US" dirty="0"/>
              <a:t>So ...</a:t>
            </a:r>
          </a:p>
        </p:txBody>
      </p:sp>
      <p:sp>
        <p:nvSpPr>
          <p:cNvPr id="23555" name="Content Placeholder 2"/>
          <p:cNvSpPr>
            <a:spLocks noGrp="1"/>
          </p:cNvSpPr>
          <p:nvPr>
            <p:ph idx="1"/>
          </p:nvPr>
        </p:nvSpPr>
        <p:spPr>
          <a:xfrm>
            <a:off x="1186327" y="1587307"/>
            <a:ext cx="9518844" cy="4114800"/>
          </a:xfrm>
        </p:spPr>
        <p:txBody>
          <a:bodyPr>
            <a:normAutofit/>
          </a:bodyPr>
          <a:lstStyle/>
          <a:p>
            <a:r>
              <a:rPr lang="en-AU" altLang="en-US" sz="3200" dirty="0"/>
              <a:t>The classifying and categorizing is carried out so typical behaviour is appropriately represented.</a:t>
            </a:r>
          </a:p>
          <a:p>
            <a:r>
              <a:rPr lang="en-AU" altLang="en-US" sz="3200" dirty="0"/>
              <a:t>For example, an ordinary user can alter production data, but cannot change production code.</a:t>
            </a:r>
          </a:p>
        </p:txBody>
      </p:sp>
      <p:sp>
        <p:nvSpPr>
          <p:cNvPr id="829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4C187B4E-B4B5-4588-BA03-6155A8A44EC9}" type="slidenum">
              <a:rPr kumimoji="0" lang="en-US" altLang="en-US" sz="1400"/>
              <a:pPr>
                <a:spcBef>
                  <a:spcPct val="50000"/>
                </a:spcBef>
                <a:buClrTx/>
                <a:buSzTx/>
                <a:buFontTx/>
                <a:buNone/>
              </a:pPr>
              <a:t>45</a:t>
            </a:fld>
            <a:endParaRPr kumimoji="0" lang="en-US" altLang="en-US" sz="1400"/>
          </a:p>
        </p:txBody>
      </p:sp>
    </p:spTree>
    <p:extLst>
      <p:ext uri="{BB962C8B-B14F-4D97-AF65-F5344CB8AC3E}">
        <p14:creationId xmlns:p14="http://schemas.microsoft.com/office/powerpoint/2010/main" val="982373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0" dur="500"/>
                                        <p:tgtEl>
                                          <p:spTgt spid="235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1091542" y="142875"/>
            <a:ext cx="7772400" cy="982664"/>
          </a:xfrm>
        </p:spPr>
        <p:txBody>
          <a:bodyPr/>
          <a:lstStyle/>
          <a:p>
            <a:r>
              <a:rPr lang="en-AU" altLang="en-US" dirty="0"/>
              <a:t>The Chinese-Wall model</a:t>
            </a:r>
          </a:p>
        </p:txBody>
      </p:sp>
      <p:sp>
        <p:nvSpPr>
          <p:cNvPr id="31747" name="Content Placeholder 2"/>
          <p:cNvSpPr>
            <a:spLocks noGrp="1"/>
          </p:cNvSpPr>
          <p:nvPr>
            <p:ph idx="1"/>
          </p:nvPr>
        </p:nvSpPr>
        <p:spPr>
          <a:xfrm>
            <a:off x="1222918" y="1221602"/>
            <a:ext cx="9961755" cy="3214687"/>
          </a:xfrm>
        </p:spPr>
        <p:txBody>
          <a:bodyPr>
            <a:normAutofit/>
          </a:bodyPr>
          <a:lstStyle/>
          <a:p>
            <a:r>
              <a:rPr lang="en-AU" altLang="en-US" sz="3200" dirty="0"/>
              <a:t>Brewer and Nash (1989) proposed this model to handle the conflicts of interest that occur in many commercial environments.</a:t>
            </a:r>
          </a:p>
          <a:p>
            <a:r>
              <a:rPr lang="en-AU" altLang="en-US" sz="3200" dirty="0"/>
              <a:t>In this case ...</a:t>
            </a:r>
          </a:p>
          <a:p>
            <a:pPr lvl="1"/>
            <a:r>
              <a:rPr lang="en-AU" altLang="en-US" sz="2800" dirty="0"/>
              <a:t>... the subjects are analysts or consultants.</a:t>
            </a:r>
          </a:p>
          <a:p>
            <a:pPr lvl="1"/>
            <a:r>
              <a:rPr lang="en-AU" altLang="en-US" sz="2800" dirty="0"/>
              <a:t>... the objects are information sets for companies.</a:t>
            </a:r>
          </a:p>
        </p:txBody>
      </p:sp>
      <p:sp>
        <p:nvSpPr>
          <p:cNvPr id="849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C326D8DA-5B6C-495E-94D6-8E0C834952E1}" type="slidenum">
              <a:rPr kumimoji="0" lang="en-US" altLang="en-US" sz="1400"/>
              <a:pPr>
                <a:spcBef>
                  <a:spcPct val="50000"/>
                </a:spcBef>
                <a:buClrTx/>
                <a:buSzTx/>
                <a:buFontTx/>
                <a:buNone/>
              </a:pPr>
              <a:t>46</a:t>
            </a:fld>
            <a:endParaRPr kumimoji="0" lang="en-US" altLang="en-US" sz="1400"/>
          </a:p>
        </p:txBody>
      </p:sp>
      <p:grpSp>
        <p:nvGrpSpPr>
          <p:cNvPr id="2" name="Group 4"/>
          <p:cNvGrpSpPr>
            <a:grpSpLocks/>
          </p:cNvGrpSpPr>
          <p:nvPr/>
        </p:nvGrpSpPr>
        <p:grpSpPr bwMode="auto">
          <a:xfrm>
            <a:off x="2927350" y="4292600"/>
            <a:ext cx="6311900" cy="2565400"/>
            <a:chOff x="3048000" y="0"/>
            <a:chExt cx="6096000" cy="2524115"/>
          </a:xfrm>
        </p:grpSpPr>
        <p:pic>
          <p:nvPicPr>
            <p:cNvPr id="84998" name="Picture 2" descr="G:\Dilbert\30-Jan-200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0"/>
              <a:ext cx="6096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9" name="TextBox 5"/>
            <p:cNvSpPr txBox="1">
              <a:spLocks noChangeArrowheads="1"/>
            </p:cNvSpPr>
            <p:nvPr/>
          </p:nvSpPr>
          <p:spPr bwMode="auto">
            <a:xfrm>
              <a:off x="4714876" y="2000240"/>
              <a:ext cx="3186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AU" altLang="en-US" sz="2800">
                  <a:latin typeface="Times New Roman" panose="02020603050405020304" pitchFamily="18" charset="0"/>
                </a:rPr>
                <a:t>Dilbert: 30-Jan-2001</a:t>
              </a:r>
            </a:p>
          </p:txBody>
        </p:sp>
      </p:grpSp>
    </p:spTree>
    <p:extLst>
      <p:ext uri="{BB962C8B-B14F-4D97-AF65-F5344CB8AC3E}">
        <p14:creationId xmlns:p14="http://schemas.microsoft.com/office/powerpoint/2010/main" val="4232711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6" dur="500"/>
                                        <p:tgtEl>
                                          <p:spTgt spid="31747">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9" dur="500"/>
                                        <p:tgtEl>
                                          <p:spTgt spid="31747">
                                            <p:txEl>
                                              <p:pRg st="2" end="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22" dur="5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443813" y="166107"/>
            <a:ext cx="7772400" cy="1143000"/>
          </a:xfrm>
        </p:spPr>
        <p:txBody>
          <a:bodyPr/>
          <a:lstStyle/>
          <a:p>
            <a:r>
              <a:rPr lang="en-AU" altLang="en-US" dirty="0"/>
              <a:t>The Chinese Wall Model</a:t>
            </a:r>
          </a:p>
        </p:txBody>
      </p:sp>
      <p:sp>
        <p:nvSpPr>
          <p:cNvPr id="56323" name="Content Placeholder 2"/>
          <p:cNvSpPr>
            <a:spLocks noGrp="1"/>
          </p:cNvSpPr>
          <p:nvPr>
            <p:ph idx="1"/>
          </p:nvPr>
        </p:nvSpPr>
        <p:spPr>
          <a:xfrm>
            <a:off x="1443813" y="1309107"/>
            <a:ext cx="9372870" cy="4110386"/>
          </a:xfrm>
        </p:spPr>
        <p:txBody>
          <a:bodyPr/>
          <a:lstStyle/>
          <a:p>
            <a:r>
              <a:rPr lang="en-AU" altLang="en-US" sz="3200" dirty="0"/>
              <a:t>Hybrid model: addresses integrity and confidentiality</a:t>
            </a:r>
          </a:p>
          <a:p>
            <a:r>
              <a:rPr lang="en-AU" altLang="en-US" sz="3200" dirty="0"/>
              <a:t>Addresses conflict of interest</a:t>
            </a:r>
          </a:p>
          <a:p>
            <a:pPr lvl="1"/>
            <a:r>
              <a:rPr lang="en-AU" altLang="en-US" sz="2800" dirty="0"/>
              <a:t>Models a consultancy business where analysts have to make sure that no conflicts arise when dealing with different clients (companies) </a:t>
            </a:r>
          </a:p>
          <a:p>
            <a:pPr lvl="1"/>
            <a:r>
              <a:rPr lang="en-AU" altLang="en-US" sz="2800" dirty="0"/>
              <a:t>Conflicts arise when clients are direct competitors in the same market, or because of the ownership of companies</a:t>
            </a:r>
          </a:p>
          <a:p>
            <a:endParaRPr lang="en-AU" altLang="en-US" dirty="0"/>
          </a:p>
        </p:txBody>
      </p:sp>
      <p:sp>
        <p:nvSpPr>
          <p:cNvPr id="563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6EAACEBE-A649-4213-AD99-05BB41AAD804}" type="slidenum">
              <a:rPr kumimoji="0" lang="en-US" altLang="en-US" sz="1400"/>
              <a:pPr>
                <a:spcBef>
                  <a:spcPct val="50000"/>
                </a:spcBef>
                <a:buClrTx/>
                <a:buSzTx/>
                <a:buFontTx/>
                <a:buNone/>
              </a:pPr>
              <a:t>47</a:t>
            </a:fld>
            <a:endParaRPr kumimoji="0" lang="en-US" altLang="en-US" sz="1400"/>
          </a:p>
        </p:txBody>
      </p:sp>
    </p:spTree>
    <p:extLst>
      <p:ext uri="{BB962C8B-B14F-4D97-AF65-F5344CB8AC3E}">
        <p14:creationId xmlns:p14="http://schemas.microsoft.com/office/powerpoint/2010/main" val="2196309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869795" y="109498"/>
            <a:ext cx="7772400" cy="972170"/>
          </a:xfrm>
        </p:spPr>
        <p:txBody>
          <a:bodyPr/>
          <a:lstStyle/>
          <a:p>
            <a:r>
              <a:rPr lang="en-AU" altLang="en-US" dirty="0"/>
              <a:t>Model elements</a:t>
            </a:r>
          </a:p>
        </p:txBody>
      </p:sp>
      <p:sp>
        <p:nvSpPr>
          <p:cNvPr id="57347" name="Content Placeholder 2"/>
          <p:cNvSpPr>
            <a:spLocks noGrp="1"/>
          </p:cNvSpPr>
          <p:nvPr>
            <p:ph idx="1"/>
          </p:nvPr>
        </p:nvSpPr>
        <p:spPr>
          <a:xfrm>
            <a:off x="869795" y="1252498"/>
            <a:ext cx="10582507" cy="4635345"/>
          </a:xfrm>
        </p:spPr>
        <p:txBody>
          <a:bodyPr>
            <a:noAutofit/>
          </a:bodyPr>
          <a:lstStyle/>
          <a:p>
            <a:r>
              <a:rPr lang="en-AU" altLang="en-US" sz="3200" dirty="0"/>
              <a:t>A set of subjects S: active entities interested in accessing protected objects</a:t>
            </a:r>
          </a:p>
          <a:p>
            <a:r>
              <a:rPr lang="en-AU" altLang="en-US" sz="3200" dirty="0"/>
              <a:t>A set of companies C</a:t>
            </a:r>
          </a:p>
          <a:p>
            <a:r>
              <a:rPr lang="en-AU" altLang="en-US" sz="3200" dirty="0"/>
              <a:t>A set of objects O: </a:t>
            </a:r>
          </a:p>
          <a:p>
            <a:pPr lvl="1"/>
            <a:r>
              <a:rPr lang="en-AU" altLang="en-US" sz="2800" dirty="0"/>
              <a:t>individual data items, each about a company</a:t>
            </a:r>
          </a:p>
          <a:p>
            <a:pPr lvl="1"/>
            <a:r>
              <a:rPr lang="en-AU" altLang="en-US" sz="2800" dirty="0"/>
              <a:t>The objects concerning the same company are called company datasets (DS)</a:t>
            </a:r>
          </a:p>
          <a:p>
            <a:pPr lvl="1"/>
            <a:r>
              <a:rPr lang="en-AU" altLang="en-US" sz="2800" dirty="0"/>
              <a:t>The function y: O -&gt; C gives the company dataset for each object</a:t>
            </a:r>
          </a:p>
          <a:p>
            <a:r>
              <a:rPr lang="en-AU" altLang="en-US" sz="3200" dirty="0"/>
              <a:t>The function x: O -&gt; L(C) gives the conflict of interest classes for each object</a:t>
            </a:r>
          </a:p>
        </p:txBody>
      </p:sp>
      <p:sp>
        <p:nvSpPr>
          <p:cNvPr id="573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7349779F-B8AE-43B9-AEBA-3F8CB1D8E20D}" type="slidenum">
              <a:rPr kumimoji="0" lang="en-US" altLang="en-US" sz="1400"/>
              <a:pPr>
                <a:spcBef>
                  <a:spcPct val="50000"/>
                </a:spcBef>
                <a:buClrTx/>
                <a:buSzTx/>
                <a:buFontTx/>
                <a:buNone/>
              </a:pPr>
              <a:t>48</a:t>
            </a:fld>
            <a:endParaRPr kumimoji="0" lang="en-US" altLang="en-US" sz="1400"/>
          </a:p>
        </p:txBody>
      </p:sp>
    </p:spTree>
    <p:extLst>
      <p:ext uri="{BB962C8B-B14F-4D97-AF65-F5344CB8AC3E}">
        <p14:creationId xmlns:p14="http://schemas.microsoft.com/office/powerpoint/2010/main" val="2233983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1171148" y="605030"/>
            <a:ext cx="10058129" cy="5249359"/>
          </a:xfrm>
        </p:spPr>
        <p:txBody>
          <a:bodyPr/>
          <a:lstStyle/>
          <a:p>
            <a:r>
              <a:rPr lang="en-AU" altLang="en-US" sz="3200" dirty="0"/>
              <a:t>The security label of an object o is the pair (x(o), y(o))</a:t>
            </a:r>
          </a:p>
          <a:p>
            <a:r>
              <a:rPr lang="en-AU" altLang="en-US" sz="3200" dirty="0"/>
              <a:t>An object is sanitised if x(o) is empty</a:t>
            </a:r>
          </a:p>
          <a:p>
            <a:r>
              <a:rPr lang="en-US" altLang="en-US" sz="3200" dirty="0"/>
              <a:t>Conflicts of interest may also arise from objects that have been accessed in then past. </a:t>
            </a:r>
          </a:p>
          <a:p>
            <a:r>
              <a:rPr lang="en-US" altLang="en-US" sz="3200" dirty="0"/>
              <a:t>Let N(</a:t>
            </a:r>
            <a:r>
              <a:rPr lang="en-US" altLang="en-US" sz="3200" dirty="0" err="1"/>
              <a:t>s,o</a:t>
            </a:r>
            <a:r>
              <a:rPr lang="en-US" altLang="en-US" sz="3200" dirty="0"/>
              <a:t>) be true, if subject s has had access to object o, and  false, if subject s never had access to object o</a:t>
            </a:r>
          </a:p>
          <a:p>
            <a:endParaRPr lang="en-AU" altLang="en-US" dirty="0"/>
          </a:p>
        </p:txBody>
      </p:sp>
      <p:sp>
        <p:nvSpPr>
          <p:cNvPr id="583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0E59DDA6-13EF-4B82-8E38-576A98BE4F2D}" type="slidenum">
              <a:rPr kumimoji="0" lang="en-US" altLang="en-US" sz="1400"/>
              <a:pPr>
                <a:spcBef>
                  <a:spcPct val="50000"/>
                </a:spcBef>
                <a:buClrTx/>
                <a:buSzTx/>
                <a:buFontTx/>
                <a:buNone/>
              </a:pPr>
              <a:t>49</a:t>
            </a:fld>
            <a:endParaRPr kumimoji="0" lang="en-US" altLang="en-US" sz="1400"/>
          </a:p>
        </p:txBody>
      </p:sp>
    </p:spTree>
    <p:extLst>
      <p:ext uri="{BB962C8B-B14F-4D97-AF65-F5344CB8AC3E}">
        <p14:creationId xmlns:p14="http://schemas.microsoft.com/office/powerpoint/2010/main" val="1598145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165032" y="226897"/>
            <a:ext cx="7772400" cy="1143000"/>
          </a:xfrm>
        </p:spPr>
        <p:txBody>
          <a:bodyPr/>
          <a:lstStyle/>
          <a:p>
            <a:r>
              <a:rPr lang="en-AU" altLang="en-US" dirty="0" err="1"/>
              <a:t>ss</a:t>
            </a:r>
            <a:r>
              <a:rPr lang="en-AU" altLang="en-US" dirty="0"/>
              <a:t>- property</a:t>
            </a:r>
          </a:p>
        </p:txBody>
      </p:sp>
      <p:sp>
        <p:nvSpPr>
          <p:cNvPr id="59395" name="Content Placeholder 2"/>
          <p:cNvSpPr>
            <a:spLocks noGrp="1"/>
          </p:cNvSpPr>
          <p:nvPr>
            <p:ph idx="1"/>
          </p:nvPr>
        </p:nvSpPr>
        <p:spPr>
          <a:xfrm>
            <a:off x="1165031" y="1450860"/>
            <a:ext cx="9763163" cy="4403530"/>
          </a:xfrm>
        </p:spPr>
        <p:txBody>
          <a:bodyPr/>
          <a:lstStyle/>
          <a:p>
            <a:r>
              <a:rPr lang="en-AU" altLang="en-US" sz="3200" dirty="0"/>
              <a:t>A subject s is granted access to an object o only if for all objects o’ with N(</a:t>
            </a:r>
            <a:r>
              <a:rPr lang="en-AU" altLang="en-US" sz="3200" dirty="0" err="1"/>
              <a:t>s,o</a:t>
            </a:r>
            <a:r>
              <a:rPr lang="en-AU" altLang="en-US" sz="3200" dirty="0"/>
              <a:t>’)=true: either y(o) = y(o’) </a:t>
            </a:r>
            <a:r>
              <a:rPr lang="en-AU" altLang="en-US" sz="3200"/>
              <a:t>or y(</a:t>
            </a:r>
            <a:r>
              <a:rPr lang="en-AU" altLang="en-US" sz="3200" dirty="0"/>
              <a:t>o) does not belong to x(o’)</a:t>
            </a:r>
          </a:p>
          <a:p>
            <a:r>
              <a:rPr lang="en-US" altLang="en-US" sz="3200" dirty="0"/>
              <a:t>That is, access is granted only if the object requested  belongs to:</a:t>
            </a:r>
          </a:p>
          <a:p>
            <a:pPr lvl="1"/>
            <a:r>
              <a:rPr lang="en-US" altLang="en-US" sz="2800" dirty="0"/>
              <a:t>a company dataset already held by the subject (the analyst), or </a:t>
            </a:r>
          </a:p>
          <a:p>
            <a:pPr lvl="1"/>
            <a:r>
              <a:rPr lang="en-US" altLang="en-US" sz="2800" dirty="0"/>
              <a:t>an entirely different conflict of interest class.</a:t>
            </a:r>
          </a:p>
          <a:p>
            <a:endParaRPr lang="en-AU" altLang="en-US" dirty="0"/>
          </a:p>
        </p:txBody>
      </p:sp>
      <p:sp>
        <p:nvSpPr>
          <p:cNvPr id="593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5092A07D-4296-48E9-8BED-36BF24BB8A86}" type="slidenum">
              <a:rPr kumimoji="0" lang="en-US" altLang="en-US" sz="1400"/>
              <a:pPr>
                <a:spcBef>
                  <a:spcPct val="50000"/>
                </a:spcBef>
                <a:buClrTx/>
                <a:buSzTx/>
                <a:buFontTx/>
                <a:buNone/>
              </a:pPr>
              <a:t>50</a:t>
            </a:fld>
            <a:endParaRPr kumimoji="0" lang="en-US" altLang="en-US" sz="1400"/>
          </a:p>
        </p:txBody>
      </p:sp>
    </p:spTree>
    <p:extLst>
      <p:ext uri="{BB962C8B-B14F-4D97-AF65-F5344CB8AC3E}">
        <p14:creationId xmlns:p14="http://schemas.microsoft.com/office/powerpoint/2010/main" val="16702415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1309494" y="221863"/>
            <a:ext cx="7772400" cy="1143000"/>
          </a:xfrm>
        </p:spPr>
        <p:txBody>
          <a:bodyPr/>
          <a:lstStyle/>
          <a:p>
            <a:r>
              <a:rPr lang="en-AU" altLang="en-US" dirty="0"/>
              <a:t>Star property</a:t>
            </a:r>
          </a:p>
        </p:txBody>
      </p:sp>
      <p:sp>
        <p:nvSpPr>
          <p:cNvPr id="60419" name="Content Placeholder 2"/>
          <p:cNvSpPr>
            <a:spLocks noGrp="1"/>
          </p:cNvSpPr>
          <p:nvPr>
            <p:ph idx="1"/>
          </p:nvPr>
        </p:nvSpPr>
        <p:spPr>
          <a:xfrm>
            <a:off x="1309493" y="1544095"/>
            <a:ext cx="9562945" cy="4354899"/>
          </a:xfrm>
        </p:spPr>
        <p:txBody>
          <a:bodyPr/>
          <a:lstStyle/>
          <a:p>
            <a:r>
              <a:rPr lang="en-AU" altLang="en-US" sz="3200" dirty="0"/>
              <a:t>A subject s is granted write access to an object o only if s has no read access to an object o’ with y(o)≠y(o’) and x(o’) is not empty</a:t>
            </a:r>
          </a:p>
          <a:p>
            <a:r>
              <a:rPr lang="en-US" altLang="en-US" sz="3200" dirty="0"/>
              <a:t>That is, write access to an object is only granted if no other object can be read which is in a different company dataset and contains </a:t>
            </a:r>
            <a:r>
              <a:rPr lang="en-US" altLang="en-US" sz="3200" dirty="0" err="1"/>
              <a:t>unsanitised</a:t>
            </a:r>
            <a:r>
              <a:rPr lang="en-US" altLang="en-US" sz="3200" dirty="0"/>
              <a:t> information.</a:t>
            </a:r>
          </a:p>
          <a:p>
            <a:endParaRPr lang="en-AU" altLang="en-US" dirty="0"/>
          </a:p>
        </p:txBody>
      </p:sp>
      <p:sp>
        <p:nvSpPr>
          <p:cNvPr id="6042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BC29763E-53EE-4D82-9E5A-D584A2B15208}" type="slidenum">
              <a:rPr kumimoji="0" lang="en-US" altLang="en-US" sz="1400"/>
              <a:pPr>
                <a:spcBef>
                  <a:spcPct val="50000"/>
                </a:spcBef>
                <a:buClrTx/>
                <a:buSzTx/>
                <a:buFontTx/>
                <a:buNone/>
              </a:pPr>
              <a:t>51</a:t>
            </a:fld>
            <a:endParaRPr kumimoji="0" lang="en-US" altLang="en-US" sz="1400"/>
          </a:p>
        </p:txBody>
      </p:sp>
    </p:spTree>
    <p:extLst>
      <p:ext uri="{BB962C8B-B14F-4D97-AF65-F5344CB8AC3E}">
        <p14:creationId xmlns:p14="http://schemas.microsoft.com/office/powerpoint/2010/main" val="18235857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1178004" y="58505"/>
            <a:ext cx="7772400" cy="1143000"/>
          </a:xfrm>
        </p:spPr>
        <p:txBody>
          <a:bodyPr/>
          <a:lstStyle/>
          <a:p>
            <a:r>
              <a:rPr lang="en-AU" altLang="en-US" dirty="0"/>
              <a:t>The Chinese Wall Model</a:t>
            </a:r>
          </a:p>
        </p:txBody>
      </p:sp>
      <p:sp>
        <p:nvSpPr>
          <p:cNvPr id="61443" name="Content Placeholder 2"/>
          <p:cNvSpPr>
            <a:spLocks noGrp="1"/>
          </p:cNvSpPr>
          <p:nvPr>
            <p:ph idx="1"/>
          </p:nvPr>
        </p:nvSpPr>
        <p:spPr>
          <a:xfrm>
            <a:off x="1178004" y="1268412"/>
            <a:ext cx="9817098" cy="4898211"/>
          </a:xfrm>
        </p:spPr>
        <p:txBody>
          <a:bodyPr>
            <a:normAutofit/>
          </a:bodyPr>
          <a:lstStyle/>
          <a:p>
            <a:r>
              <a:rPr lang="en-AU" altLang="en-US" sz="3200" dirty="0"/>
              <a:t>Not a true multi-level secure model</a:t>
            </a:r>
          </a:p>
          <a:p>
            <a:r>
              <a:rPr lang="en-AU" altLang="en-US" sz="3200" dirty="0"/>
              <a:t>The history of a subject’s access determines access control</a:t>
            </a:r>
          </a:p>
          <a:p>
            <a:r>
              <a:rPr lang="en-AU" altLang="en-US" sz="3200" dirty="0"/>
              <a:t>Subject are only allowed access to info that is not held to conflict with any other info they already possess</a:t>
            </a:r>
          </a:p>
          <a:p>
            <a:r>
              <a:rPr lang="en-US" altLang="en-US" sz="3200" dirty="0"/>
              <a:t>Once a subject accesses info from one dataset, a </a:t>
            </a:r>
            <a:r>
              <a:rPr lang="en-US" altLang="en-US" sz="3200" i="1" dirty="0"/>
              <a:t>wall</a:t>
            </a:r>
            <a:r>
              <a:rPr lang="en-US" altLang="en-US" sz="3200" dirty="0"/>
              <a:t> is set up to protect info in other datasets in the same conflict of interest</a:t>
            </a:r>
            <a:endParaRPr lang="en-AU" altLang="en-US" sz="3200" dirty="0"/>
          </a:p>
        </p:txBody>
      </p:sp>
      <p:sp>
        <p:nvSpPr>
          <p:cNvPr id="614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9E35BFA0-A7F1-437D-A11A-24C8E8B05A93}" type="slidenum">
              <a:rPr kumimoji="0" lang="en-US" altLang="en-US" sz="1400"/>
              <a:pPr>
                <a:spcBef>
                  <a:spcPct val="50000"/>
                </a:spcBef>
                <a:buClrTx/>
                <a:buSzTx/>
                <a:buFontTx/>
                <a:buNone/>
              </a:pPr>
              <a:t>52</a:t>
            </a:fld>
            <a:endParaRPr kumimoji="0" lang="en-US" altLang="en-US" sz="1400"/>
          </a:p>
        </p:txBody>
      </p:sp>
    </p:spTree>
    <p:extLst>
      <p:ext uri="{BB962C8B-B14F-4D97-AF65-F5344CB8AC3E}">
        <p14:creationId xmlns:p14="http://schemas.microsoft.com/office/powerpoint/2010/main" val="9317601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endParaRPr lang="en-AU" altLang="en-US"/>
          </a:p>
        </p:txBody>
      </p:sp>
      <p:pic>
        <p:nvPicPr>
          <p:cNvPr id="62467"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419138" y="293803"/>
            <a:ext cx="9295753" cy="5761309"/>
          </a:xfrm>
        </p:spPr>
      </p:pic>
      <p:sp>
        <p:nvSpPr>
          <p:cNvPr id="624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48723DF8-997A-41D6-8DC8-ED18887D6226}" type="slidenum">
              <a:rPr kumimoji="0" lang="en-US" altLang="en-US" sz="1400"/>
              <a:pPr>
                <a:spcBef>
                  <a:spcPct val="50000"/>
                </a:spcBef>
                <a:buClrTx/>
                <a:buSzTx/>
                <a:buFontTx/>
                <a:buNone/>
              </a:pPr>
              <a:t>53</a:t>
            </a:fld>
            <a:endParaRPr kumimoji="0" lang="en-US" altLang="en-US" sz="1400"/>
          </a:p>
        </p:txBody>
      </p:sp>
      <p:sp>
        <p:nvSpPr>
          <p:cNvPr id="62469" name="TextBox 5"/>
          <p:cNvSpPr txBox="1">
            <a:spLocks noChangeArrowheads="1"/>
          </p:cNvSpPr>
          <p:nvPr/>
        </p:nvSpPr>
        <p:spPr bwMode="auto">
          <a:xfrm>
            <a:off x="3719513" y="6165850"/>
            <a:ext cx="4248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AU" altLang="en-US" sz="1600" dirty="0">
                <a:latin typeface="Times New Roman" panose="02020603050405020304" pitchFamily="18" charset="0"/>
              </a:rPr>
              <a:t>Figure 27.6 in [SB18]</a:t>
            </a:r>
          </a:p>
        </p:txBody>
      </p:sp>
    </p:spTree>
    <p:extLst>
      <p:ext uri="{BB962C8B-B14F-4D97-AF65-F5344CB8AC3E}">
        <p14:creationId xmlns:p14="http://schemas.microsoft.com/office/powerpoint/2010/main" val="29306508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2424114" y="1231802"/>
            <a:ext cx="7862887" cy="792162"/>
          </a:xfrm>
        </p:spPr>
        <p:txBody>
          <a:bodyPr/>
          <a:lstStyle/>
          <a:p>
            <a:endParaRPr lang="en-AU" altLang="en-US" sz="2800" dirty="0"/>
          </a:p>
        </p:txBody>
      </p:sp>
      <p:grpSp>
        <p:nvGrpSpPr>
          <p:cNvPr id="3090" name="Group 18"/>
          <p:cNvGrpSpPr>
            <a:grpSpLocks/>
          </p:cNvGrpSpPr>
          <p:nvPr/>
        </p:nvGrpSpPr>
        <p:grpSpPr bwMode="auto">
          <a:xfrm>
            <a:off x="1524000" y="4076700"/>
            <a:ext cx="2952750" cy="2535238"/>
            <a:chOff x="0" y="2568"/>
            <a:chExt cx="1860" cy="1597"/>
          </a:xfrm>
        </p:grpSpPr>
        <p:pic>
          <p:nvPicPr>
            <p:cNvPr id="5135" name="Picture 8" descr="th?id=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68"/>
              <a:ext cx="1860" cy="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Text Box 12"/>
            <p:cNvSpPr txBox="1">
              <a:spLocks noChangeArrowheads="1"/>
            </p:cNvSpPr>
            <p:nvPr/>
          </p:nvSpPr>
          <p:spPr bwMode="auto">
            <a:xfrm>
              <a:off x="476" y="3838"/>
              <a:ext cx="6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a:latin typeface="Times New Roman" panose="02020603050405020304" pitchFamily="18" charset="0"/>
                </a:rPr>
                <a:t>Open</a:t>
              </a:r>
            </a:p>
          </p:txBody>
        </p:sp>
      </p:grpSp>
      <p:grpSp>
        <p:nvGrpSpPr>
          <p:cNvPr id="3091" name="Group 19"/>
          <p:cNvGrpSpPr>
            <a:grpSpLocks/>
          </p:cNvGrpSpPr>
          <p:nvPr/>
        </p:nvGrpSpPr>
        <p:grpSpPr bwMode="auto">
          <a:xfrm>
            <a:off x="4440238" y="4221164"/>
            <a:ext cx="2374900" cy="2390775"/>
            <a:chOff x="1837" y="2659"/>
            <a:chExt cx="1496" cy="1506"/>
          </a:xfrm>
        </p:grpSpPr>
        <p:pic>
          <p:nvPicPr>
            <p:cNvPr id="5133" name="Picture 10" descr="th?id=H"/>
            <p:cNvPicPr>
              <a:picLocks noChangeAspect="1" noChangeArrowheads="1"/>
            </p:cNvPicPr>
            <p:nvPr/>
          </p:nvPicPr>
          <p:blipFill>
            <a:blip r:embed="rId4">
              <a:extLst>
                <a:ext uri="{28A0092B-C50C-407E-A947-70E740481C1C}">
                  <a14:useLocalDpi xmlns:a14="http://schemas.microsoft.com/office/drawing/2010/main" val="0"/>
                </a:ext>
              </a:extLst>
            </a:blip>
            <a:srcRect l="25600" t="13458" r="22400" b="26917"/>
            <a:stretch>
              <a:fillRect/>
            </a:stretch>
          </p:blipFill>
          <p:spPr bwMode="auto">
            <a:xfrm>
              <a:off x="1837" y="2659"/>
              <a:ext cx="1496"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4" name="Text Box 13"/>
            <p:cNvSpPr txBox="1">
              <a:spLocks noChangeArrowheads="1"/>
            </p:cNvSpPr>
            <p:nvPr/>
          </p:nvSpPr>
          <p:spPr bwMode="auto">
            <a:xfrm>
              <a:off x="2154" y="3838"/>
              <a:ext cx="7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a:latin typeface="Times New Roman" panose="02020603050405020304" pitchFamily="18" charset="0"/>
                </a:rPr>
                <a:t>Closed</a:t>
              </a:r>
            </a:p>
          </p:txBody>
        </p:sp>
      </p:grpSp>
      <p:sp>
        <p:nvSpPr>
          <p:cNvPr id="3086" name="Text Box 14"/>
          <p:cNvSpPr txBox="1">
            <a:spLocks noChangeArrowheads="1"/>
          </p:cNvSpPr>
          <p:nvPr/>
        </p:nvSpPr>
        <p:spPr bwMode="auto">
          <a:xfrm>
            <a:off x="6816725" y="4797426"/>
            <a:ext cx="1295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000">
                <a:latin typeface="Times New Roman" panose="02020603050405020304" pitchFamily="18" charset="0"/>
              </a:rPr>
              <a:t>Locked</a:t>
            </a:r>
          </a:p>
          <a:p>
            <a:pPr>
              <a:spcBef>
                <a:spcPct val="0"/>
              </a:spcBef>
              <a:buClrTx/>
              <a:buSzTx/>
              <a:buFontTx/>
              <a:buNone/>
            </a:pPr>
            <a:r>
              <a:rPr kumimoji="0" lang="en-US" altLang="en-US" sz="2000">
                <a:latin typeface="Times New Roman" panose="02020603050405020304" pitchFamily="18" charset="0"/>
              </a:rPr>
              <a:t>Unlocked</a:t>
            </a:r>
          </a:p>
          <a:p>
            <a:pPr>
              <a:spcBef>
                <a:spcPct val="0"/>
              </a:spcBef>
              <a:buClrTx/>
              <a:buSzTx/>
              <a:buFontTx/>
              <a:buNone/>
            </a:pPr>
            <a:r>
              <a:rPr kumimoji="0" lang="en-US" altLang="en-US" sz="2000">
                <a:latin typeface="Times New Roman" panose="02020603050405020304" pitchFamily="18" charset="0"/>
              </a:rPr>
              <a:t>…</a:t>
            </a:r>
          </a:p>
        </p:txBody>
      </p:sp>
      <p:grpSp>
        <p:nvGrpSpPr>
          <p:cNvPr id="3092" name="Group 20"/>
          <p:cNvGrpSpPr>
            <a:grpSpLocks/>
          </p:cNvGrpSpPr>
          <p:nvPr/>
        </p:nvGrpSpPr>
        <p:grpSpPr bwMode="auto">
          <a:xfrm>
            <a:off x="8147050" y="4365626"/>
            <a:ext cx="2520950" cy="2174875"/>
            <a:chOff x="3424" y="2750"/>
            <a:chExt cx="1588" cy="1370"/>
          </a:xfrm>
        </p:grpSpPr>
        <p:pic>
          <p:nvPicPr>
            <p:cNvPr id="5131" name="Picture 16" descr="th?id=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4" y="2750"/>
              <a:ext cx="1588" cy="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2" name="Text Box 17"/>
            <p:cNvSpPr txBox="1">
              <a:spLocks noChangeArrowheads="1"/>
            </p:cNvSpPr>
            <p:nvPr/>
          </p:nvSpPr>
          <p:spPr bwMode="auto">
            <a:xfrm>
              <a:off x="3833" y="3793"/>
              <a:ext cx="77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r>
                <a:rPr kumimoji="0" lang="en-US" altLang="en-US" sz="2800">
                  <a:latin typeface="Times New Roman" panose="02020603050405020304" pitchFamily="18" charset="0"/>
                </a:rPr>
                <a:t>Broken</a:t>
              </a:r>
            </a:p>
          </p:txBody>
        </p:sp>
      </p:grpSp>
      <p:sp>
        <p:nvSpPr>
          <p:cNvPr id="3093" name="Rectangle 21"/>
          <p:cNvSpPr>
            <a:spLocks noChangeArrowheads="1"/>
          </p:cNvSpPr>
          <p:nvPr/>
        </p:nvSpPr>
        <p:spPr bwMode="auto">
          <a:xfrm>
            <a:off x="1524000" y="4005264"/>
            <a:ext cx="9144000" cy="28527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0"/>
              </a:spcBef>
              <a:buClrTx/>
              <a:buSzTx/>
              <a:buFontTx/>
              <a:buNone/>
            </a:pPr>
            <a:endParaRPr kumimoji="0" lang="en-AU" altLang="en-US" sz="2800">
              <a:latin typeface="Times New Roman" panose="02020603050405020304" pitchFamily="18" charset="0"/>
            </a:endParaRPr>
          </a:p>
        </p:txBody>
      </p:sp>
      <p:sp>
        <p:nvSpPr>
          <p:cNvPr id="5129" name="Rectangle 29"/>
          <p:cNvSpPr>
            <a:spLocks noGrp="1" noChangeArrowheads="1"/>
          </p:cNvSpPr>
          <p:nvPr>
            <p:ph type="sldNum" sz="quarter" idx="12"/>
          </p:nvPr>
        </p:nvSpPr>
        <p:spPr>
          <a:xfrm>
            <a:off x="8543925" y="64008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364EBAE9-C777-4E46-855D-53AFF73F2DEB}" type="slidenum">
              <a:rPr kumimoji="0" lang="en-US" altLang="en-US" sz="1400">
                <a:solidFill>
                  <a:srgbClr val="000000"/>
                </a:solidFill>
              </a:rPr>
              <a:pPr>
                <a:spcBef>
                  <a:spcPct val="50000"/>
                </a:spcBef>
                <a:buClrTx/>
                <a:buSzTx/>
                <a:buFontTx/>
                <a:buNone/>
              </a:pPr>
              <a:t>54</a:t>
            </a:fld>
            <a:endParaRPr kumimoji="0" lang="en-US" altLang="en-US" sz="1400">
              <a:solidFill>
                <a:srgbClr val="000000"/>
              </a:solidFill>
            </a:endParaRPr>
          </a:p>
        </p:txBody>
      </p:sp>
      <p:sp>
        <p:nvSpPr>
          <p:cNvPr id="2" name="Title 1"/>
          <p:cNvSpPr>
            <a:spLocks noGrp="1"/>
          </p:cNvSpPr>
          <p:nvPr>
            <p:ph type="ctrTitle"/>
          </p:nvPr>
        </p:nvSpPr>
        <p:spPr>
          <a:xfrm>
            <a:off x="1524000" y="2384326"/>
            <a:ext cx="9144000" cy="1836837"/>
          </a:xfrm>
        </p:spPr>
        <p:txBody>
          <a:bodyPr>
            <a:normAutofit/>
          </a:bodyPr>
          <a:lstStyle/>
          <a:p>
            <a:r>
              <a:rPr lang="en-AU" dirty="0"/>
              <a:t>Access control: Windows</a:t>
            </a:r>
            <a:br>
              <a:rPr lang="en-AU" dirty="0"/>
            </a:br>
            <a:endParaRPr lang="en-AU" dirty="0"/>
          </a:p>
        </p:txBody>
      </p:sp>
    </p:spTree>
    <p:extLst>
      <p:ext uri="{BB962C8B-B14F-4D97-AF65-F5344CB8AC3E}">
        <p14:creationId xmlns:p14="http://schemas.microsoft.com/office/powerpoint/2010/main" val="261599718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afterEffect">
                                  <p:stCondLst>
                                    <p:cond delay="0"/>
                                  </p:stCondLst>
                                  <p:childTnLst>
                                    <p:set>
                                      <p:cBhvr>
                                        <p:cTn id="6" dur="1" fill="hold">
                                          <p:stCondLst>
                                            <p:cond delay="0"/>
                                          </p:stCondLst>
                                        </p:cTn>
                                        <p:tgtEl>
                                          <p:spTgt spid="3093"/>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3090"/>
                                        </p:tgtEl>
                                        <p:attrNameLst>
                                          <p:attrName>style.visibility</p:attrName>
                                        </p:attrNameLst>
                                      </p:cBhvr>
                                      <p:to>
                                        <p:strVal val="visible"/>
                                      </p:to>
                                    </p:set>
                                    <p:animEffect transition="in" filter="dissolve">
                                      <p:cBhvr>
                                        <p:cTn id="11" dur="500"/>
                                        <p:tgtEl>
                                          <p:spTgt spid="309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3091"/>
                                        </p:tgtEl>
                                        <p:attrNameLst>
                                          <p:attrName>style.visibility</p:attrName>
                                        </p:attrNameLst>
                                      </p:cBhvr>
                                      <p:to>
                                        <p:strVal val="visible"/>
                                      </p:to>
                                    </p:set>
                                    <p:animEffect transition="in" filter="dissolve">
                                      <p:cBhvr>
                                        <p:cTn id="16" dur="500"/>
                                        <p:tgtEl>
                                          <p:spTgt spid="30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086"/>
                                        </p:tgtEl>
                                        <p:attrNameLst>
                                          <p:attrName>style.visibility</p:attrName>
                                        </p:attrNameLst>
                                      </p:cBhvr>
                                      <p:to>
                                        <p:strVal val="visible"/>
                                      </p:to>
                                    </p:set>
                                    <p:animEffect transition="in" filter="dissolve">
                                      <p:cBhvr>
                                        <p:cTn id="21" dur="500"/>
                                        <p:tgtEl>
                                          <p:spTgt spid="308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3092"/>
                                        </p:tgtEl>
                                        <p:attrNameLst>
                                          <p:attrName>style.visibility</p:attrName>
                                        </p:attrNameLst>
                                      </p:cBhvr>
                                      <p:to>
                                        <p:strVal val="visible"/>
                                      </p:to>
                                    </p:set>
                                    <p:animEffect transition="in" filter="dissolve">
                                      <p:cBhvr>
                                        <p:cTn id="26" dur="500"/>
                                        <p:tgtEl>
                                          <p:spTgt spid="3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6" grpId="0"/>
      <p:bldP spid="309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7338242E-270C-43CF-83CC-87570A2AE0D5}" type="slidenum">
              <a:rPr kumimoji="0" lang="en-US" altLang="en-US" sz="1400"/>
              <a:pPr>
                <a:spcBef>
                  <a:spcPct val="50000"/>
                </a:spcBef>
                <a:buClrTx/>
                <a:buSzTx/>
                <a:buFontTx/>
                <a:buNone/>
              </a:pPr>
              <a:t>55</a:t>
            </a:fld>
            <a:endParaRPr kumimoji="0" lang="en-US" altLang="en-US" sz="1400"/>
          </a:p>
        </p:txBody>
      </p:sp>
      <p:sp>
        <p:nvSpPr>
          <p:cNvPr id="7171" name="Rectangle 2"/>
          <p:cNvSpPr>
            <a:spLocks noGrp="1" noChangeArrowheads="1"/>
          </p:cNvSpPr>
          <p:nvPr>
            <p:ph type="title"/>
          </p:nvPr>
        </p:nvSpPr>
        <p:spPr/>
        <p:txBody>
          <a:bodyPr/>
          <a:lstStyle/>
          <a:p>
            <a:r>
              <a:rPr lang="en-AU" altLang="en-US"/>
              <a:t>Outline</a:t>
            </a:r>
          </a:p>
        </p:txBody>
      </p:sp>
      <p:sp>
        <p:nvSpPr>
          <p:cNvPr id="504835" name="Rectangle 3"/>
          <p:cNvSpPr>
            <a:spLocks noGrp="1" noChangeArrowheads="1"/>
          </p:cNvSpPr>
          <p:nvPr>
            <p:ph type="body" idx="1"/>
          </p:nvPr>
        </p:nvSpPr>
        <p:spPr/>
        <p:txBody>
          <a:bodyPr/>
          <a:lstStyle/>
          <a:p>
            <a:r>
              <a:rPr lang="en-AU" altLang="en-US" dirty="0"/>
              <a:t>Ctrl-Alt-Del.</a:t>
            </a:r>
          </a:p>
          <a:p>
            <a:r>
              <a:rPr lang="en-AU" altLang="en-US" dirty="0"/>
              <a:t>ACL for Windows.</a:t>
            </a:r>
          </a:p>
          <a:p>
            <a:r>
              <a:rPr lang="en-AU" altLang="en-US" dirty="0"/>
              <a:t>NTFS.</a:t>
            </a:r>
          </a:p>
          <a:p>
            <a:pPr lvl="1"/>
            <a:r>
              <a:rPr lang="en-AU" altLang="en-US" dirty="0"/>
              <a:t>EFS for NTFS.</a:t>
            </a:r>
          </a:p>
          <a:p>
            <a:endParaRPr lang="en-AU" altLang="en-US" dirty="0"/>
          </a:p>
        </p:txBody>
      </p:sp>
    </p:spTree>
    <p:extLst>
      <p:ext uri="{BB962C8B-B14F-4D97-AF65-F5344CB8AC3E}">
        <p14:creationId xmlns:p14="http://schemas.microsoft.com/office/powerpoint/2010/main" val="31276793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04835">
                                            <p:txEl>
                                              <p:pRg st="0" end="0"/>
                                            </p:txEl>
                                          </p:spTgt>
                                        </p:tgtEl>
                                        <p:attrNameLst>
                                          <p:attrName>style.visibility</p:attrName>
                                        </p:attrNameLst>
                                      </p:cBhvr>
                                      <p:to>
                                        <p:strVal val="visible"/>
                                      </p:to>
                                    </p:set>
                                    <p:animEffect transition="in" filter="blinds(horizontal)">
                                      <p:cBhvr>
                                        <p:cTn id="7" dur="500"/>
                                        <p:tgtEl>
                                          <p:spTgt spid="504835">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504835">
                                            <p:txEl>
                                              <p:pRg st="1" end="1"/>
                                            </p:txEl>
                                          </p:spTgt>
                                        </p:tgtEl>
                                        <p:attrNameLst>
                                          <p:attrName>style.visibility</p:attrName>
                                        </p:attrNameLst>
                                      </p:cBhvr>
                                      <p:to>
                                        <p:strVal val="visible"/>
                                      </p:to>
                                    </p:set>
                                    <p:animEffect transition="in" filter="blinds(horizontal)">
                                      <p:cBhvr>
                                        <p:cTn id="11" dur="500"/>
                                        <p:tgtEl>
                                          <p:spTgt spid="504835">
                                            <p:txEl>
                                              <p:pRg st="1" end="1"/>
                                            </p:txEl>
                                          </p:spTgt>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504835">
                                            <p:txEl>
                                              <p:pRg st="2" end="2"/>
                                            </p:txEl>
                                          </p:spTgt>
                                        </p:tgtEl>
                                        <p:attrNameLst>
                                          <p:attrName>style.visibility</p:attrName>
                                        </p:attrNameLst>
                                      </p:cBhvr>
                                      <p:to>
                                        <p:strVal val="visible"/>
                                      </p:to>
                                    </p:set>
                                    <p:animEffect transition="in" filter="blinds(horizontal)">
                                      <p:cBhvr>
                                        <p:cTn id="15" dur="500"/>
                                        <p:tgtEl>
                                          <p:spTgt spid="504835">
                                            <p:txEl>
                                              <p:pRg st="2" end="2"/>
                                            </p:txEl>
                                          </p:spTgt>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504835">
                                            <p:txEl>
                                              <p:pRg st="3" end="3"/>
                                            </p:txEl>
                                          </p:spTgt>
                                        </p:tgtEl>
                                        <p:attrNameLst>
                                          <p:attrName>style.visibility</p:attrName>
                                        </p:attrNameLst>
                                      </p:cBhvr>
                                      <p:to>
                                        <p:strVal val="visible"/>
                                      </p:to>
                                    </p:set>
                                    <p:animEffect transition="in" filter="blinds(horizontal)">
                                      <p:cBhvr>
                                        <p:cTn id="19" dur="500"/>
                                        <p:tgtEl>
                                          <p:spTgt spid="5048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39779A57-BFB1-4E29-80BB-651C39CCF022}" type="slidenum">
              <a:rPr kumimoji="0" lang="en-US" altLang="en-US" sz="1400"/>
              <a:pPr>
                <a:spcBef>
                  <a:spcPct val="50000"/>
                </a:spcBef>
                <a:buClrTx/>
                <a:buSzTx/>
                <a:buFontTx/>
                <a:buNone/>
              </a:pPr>
              <a:t>56</a:t>
            </a:fld>
            <a:endParaRPr kumimoji="0" lang="en-US" altLang="en-US" sz="1400"/>
          </a:p>
        </p:txBody>
      </p:sp>
      <p:sp>
        <p:nvSpPr>
          <p:cNvPr id="8195" name="Rectangle 2"/>
          <p:cNvSpPr>
            <a:spLocks noGrp="1" noChangeArrowheads="1"/>
          </p:cNvSpPr>
          <p:nvPr>
            <p:ph type="title"/>
          </p:nvPr>
        </p:nvSpPr>
        <p:spPr>
          <a:xfrm>
            <a:off x="2495550" y="1"/>
            <a:ext cx="7772400" cy="836613"/>
          </a:xfrm>
        </p:spPr>
        <p:txBody>
          <a:bodyPr/>
          <a:lstStyle/>
          <a:p>
            <a:r>
              <a:rPr lang="en-AU" altLang="en-US"/>
              <a:t>Ctrl-Alt-Del</a:t>
            </a:r>
          </a:p>
        </p:txBody>
      </p:sp>
      <p:sp>
        <p:nvSpPr>
          <p:cNvPr id="507907" name="Rectangle 3"/>
          <p:cNvSpPr>
            <a:spLocks noGrp="1" noChangeArrowheads="1"/>
          </p:cNvSpPr>
          <p:nvPr>
            <p:ph type="body" idx="1"/>
          </p:nvPr>
        </p:nvSpPr>
        <p:spPr>
          <a:xfrm>
            <a:off x="1524001" y="981076"/>
            <a:ext cx="8945563" cy="5616575"/>
          </a:xfrm>
        </p:spPr>
        <p:txBody>
          <a:bodyPr/>
          <a:lstStyle/>
          <a:p>
            <a:pPr>
              <a:lnSpc>
                <a:spcPct val="90000"/>
              </a:lnSpc>
            </a:pPr>
            <a:r>
              <a:rPr lang="en-AU" altLang="en-US"/>
              <a:t>False login screens:</a:t>
            </a:r>
          </a:p>
          <a:p>
            <a:pPr lvl="1">
              <a:lnSpc>
                <a:spcPct val="90000"/>
              </a:lnSpc>
            </a:pPr>
            <a:r>
              <a:rPr lang="en-AU" altLang="en-US"/>
              <a:t>Ctrl-Alt-Del is the </a:t>
            </a:r>
            <a:r>
              <a:rPr lang="en-AU" altLang="en-US" i="1"/>
              <a:t>secure attention sequence</a:t>
            </a:r>
            <a:r>
              <a:rPr lang="en-AU" altLang="en-US"/>
              <a:t>, used by Windows NT.</a:t>
            </a:r>
          </a:p>
          <a:p>
            <a:pPr lvl="1">
              <a:lnSpc>
                <a:spcPct val="90000"/>
              </a:lnSpc>
            </a:pPr>
            <a:r>
              <a:rPr lang="en-AU" altLang="en-US"/>
              <a:t>It is guaranteed to take you to a genuine password prompt, it is a so-called trusted path.</a:t>
            </a:r>
          </a:p>
          <a:p>
            <a:pPr>
              <a:lnSpc>
                <a:spcPct val="90000"/>
              </a:lnSpc>
            </a:pPr>
            <a:r>
              <a:rPr lang="en-AU" altLang="en-US"/>
              <a:t>But guaranteed is a loaded statement.</a:t>
            </a:r>
          </a:p>
          <a:p>
            <a:pPr>
              <a:lnSpc>
                <a:spcPct val="90000"/>
              </a:lnSpc>
            </a:pPr>
            <a:r>
              <a:rPr lang="en-AU" altLang="en-US"/>
              <a:t>If the whole terminal is corrupted then it doesn’t help.</a:t>
            </a:r>
          </a:p>
          <a:p>
            <a:pPr>
              <a:lnSpc>
                <a:spcPct val="90000"/>
              </a:lnSpc>
            </a:pPr>
            <a:r>
              <a:rPr lang="en-AU" altLang="en-US"/>
              <a:t>Anderson (“Security Engineering”) notes they once “caught a student installing modified keyboards in our public terminal room to capture passwords”.</a:t>
            </a:r>
          </a:p>
          <a:p>
            <a:pPr>
              <a:lnSpc>
                <a:spcPct val="90000"/>
              </a:lnSpc>
            </a:pPr>
            <a:r>
              <a:rPr lang="en-AU" altLang="en-US"/>
              <a:t>If the attacker is prepared to go to such lengths, the ctrl-alt-del sequence just simplifies the software design task.</a:t>
            </a:r>
          </a:p>
        </p:txBody>
      </p:sp>
    </p:spTree>
    <p:extLst>
      <p:ext uri="{BB962C8B-B14F-4D97-AF65-F5344CB8AC3E}">
        <p14:creationId xmlns:p14="http://schemas.microsoft.com/office/powerpoint/2010/main" val="15303878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blinds(horizontal)">
                                      <p:cBhvr>
                                        <p:cTn id="7" dur="500"/>
                                        <p:tgtEl>
                                          <p:spTgt spid="507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blinds(horizontal)">
                                      <p:cBhvr>
                                        <p:cTn id="12" dur="500"/>
                                        <p:tgtEl>
                                          <p:spTgt spid="5079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07907">
                                            <p:txEl>
                                              <p:pRg st="2" end="2"/>
                                            </p:txEl>
                                          </p:spTgt>
                                        </p:tgtEl>
                                        <p:attrNameLst>
                                          <p:attrName>style.visibility</p:attrName>
                                        </p:attrNameLst>
                                      </p:cBhvr>
                                      <p:to>
                                        <p:strVal val="visible"/>
                                      </p:to>
                                    </p:set>
                                    <p:animEffect transition="in" filter="blinds(horizontal)">
                                      <p:cBhvr>
                                        <p:cTn id="17" dur="500"/>
                                        <p:tgtEl>
                                          <p:spTgt spid="5079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07907">
                                            <p:txEl>
                                              <p:pRg st="3" end="3"/>
                                            </p:txEl>
                                          </p:spTgt>
                                        </p:tgtEl>
                                        <p:attrNameLst>
                                          <p:attrName>style.visibility</p:attrName>
                                        </p:attrNameLst>
                                      </p:cBhvr>
                                      <p:to>
                                        <p:strVal val="visible"/>
                                      </p:to>
                                    </p:set>
                                    <p:animEffect transition="in" filter="blinds(horizontal)">
                                      <p:cBhvr>
                                        <p:cTn id="22" dur="500"/>
                                        <p:tgtEl>
                                          <p:spTgt spid="5079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07907">
                                            <p:txEl>
                                              <p:pRg st="4" end="4"/>
                                            </p:txEl>
                                          </p:spTgt>
                                        </p:tgtEl>
                                        <p:attrNameLst>
                                          <p:attrName>style.visibility</p:attrName>
                                        </p:attrNameLst>
                                      </p:cBhvr>
                                      <p:to>
                                        <p:strVal val="visible"/>
                                      </p:to>
                                    </p:set>
                                    <p:animEffect transition="in" filter="blinds(horizontal)">
                                      <p:cBhvr>
                                        <p:cTn id="27" dur="500"/>
                                        <p:tgtEl>
                                          <p:spTgt spid="5079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07907">
                                            <p:txEl>
                                              <p:pRg st="5" end="5"/>
                                            </p:txEl>
                                          </p:spTgt>
                                        </p:tgtEl>
                                        <p:attrNameLst>
                                          <p:attrName>style.visibility</p:attrName>
                                        </p:attrNameLst>
                                      </p:cBhvr>
                                      <p:to>
                                        <p:strVal val="visible"/>
                                      </p:to>
                                    </p:set>
                                    <p:animEffect transition="in" filter="blinds(horizontal)">
                                      <p:cBhvr>
                                        <p:cTn id="32" dur="500"/>
                                        <p:tgtEl>
                                          <p:spTgt spid="50790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07907">
                                            <p:txEl>
                                              <p:pRg st="6" end="6"/>
                                            </p:txEl>
                                          </p:spTgt>
                                        </p:tgtEl>
                                        <p:attrNameLst>
                                          <p:attrName>style.visibility</p:attrName>
                                        </p:attrNameLst>
                                      </p:cBhvr>
                                      <p:to>
                                        <p:strVal val="visible"/>
                                      </p:to>
                                    </p:set>
                                    <p:animEffect transition="in" filter="blinds(horizontal)">
                                      <p:cBhvr>
                                        <p:cTn id="37" dur="500"/>
                                        <p:tgtEl>
                                          <p:spTgt spid="5079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EA5892E-F6F6-481C-B4D6-AF2EB7B708C5}" type="slidenum">
              <a:rPr kumimoji="0" lang="en-US" altLang="en-US" sz="1400"/>
              <a:pPr>
                <a:spcBef>
                  <a:spcPct val="50000"/>
                </a:spcBef>
                <a:buClrTx/>
                <a:buSzTx/>
                <a:buFontTx/>
                <a:buNone/>
              </a:pPr>
              <a:t>57</a:t>
            </a:fld>
            <a:endParaRPr kumimoji="0" lang="en-US" altLang="en-US" sz="1400"/>
          </a:p>
        </p:txBody>
      </p:sp>
      <p:sp>
        <p:nvSpPr>
          <p:cNvPr id="10243" name="Rectangle 2"/>
          <p:cNvSpPr>
            <a:spLocks noGrp="1" noChangeArrowheads="1"/>
          </p:cNvSpPr>
          <p:nvPr>
            <p:ph type="title"/>
          </p:nvPr>
        </p:nvSpPr>
        <p:spPr>
          <a:xfrm>
            <a:off x="2195513" y="385763"/>
            <a:ext cx="7772400" cy="1143000"/>
          </a:xfrm>
        </p:spPr>
        <p:txBody>
          <a:bodyPr/>
          <a:lstStyle/>
          <a:p>
            <a:r>
              <a:rPr lang="en-AU" altLang="en-US"/>
              <a:t>Access Control List</a:t>
            </a:r>
            <a:endParaRPr lang="en-US" altLang="en-US"/>
          </a:p>
        </p:txBody>
      </p:sp>
      <p:sp>
        <p:nvSpPr>
          <p:cNvPr id="410627" name="Rectangle 3"/>
          <p:cNvSpPr>
            <a:spLocks noGrp="1" noChangeArrowheads="1"/>
          </p:cNvSpPr>
          <p:nvPr>
            <p:ph type="body" idx="1"/>
          </p:nvPr>
        </p:nvSpPr>
        <p:spPr>
          <a:xfrm>
            <a:off x="1919288" y="1844676"/>
            <a:ext cx="8451850" cy="3819525"/>
          </a:xfrm>
        </p:spPr>
        <p:txBody>
          <a:bodyPr/>
          <a:lstStyle/>
          <a:p>
            <a:pPr>
              <a:lnSpc>
                <a:spcPct val="110000"/>
              </a:lnSpc>
            </a:pPr>
            <a:r>
              <a:rPr lang="en-AU" altLang="en-US" dirty="0"/>
              <a:t>An ACL is an access control method employed by Windows NT, Windows 2000, Windows XP, Windows 7 … Windows 10</a:t>
            </a:r>
          </a:p>
          <a:p>
            <a:pPr>
              <a:lnSpc>
                <a:spcPct val="110000"/>
              </a:lnSpc>
            </a:pPr>
            <a:r>
              <a:rPr lang="en-AU" altLang="en-US" dirty="0"/>
              <a:t>It is used to determine to what degree an account is allowed to access a resource.</a:t>
            </a:r>
          </a:p>
          <a:p>
            <a:pPr>
              <a:lnSpc>
                <a:spcPct val="110000"/>
              </a:lnSpc>
            </a:pPr>
            <a:r>
              <a:rPr lang="en-AU" altLang="en-US" dirty="0"/>
              <a:t>Windows 95, Windows 98, Windows ME, and Windows CE do not support ACLs.</a:t>
            </a:r>
            <a:endParaRPr lang="en-US" altLang="en-US" dirty="0"/>
          </a:p>
        </p:txBody>
      </p:sp>
    </p:spTree>
    <p:extLst>
      <p:ext uri="{BB962C8B-B14F-4D97-AF65-F5344CB8AC3E}">
        <p14:creationId xmlns:p14="http://schemas.microsoft.com/office/powerpoint/2010/main" val="148709206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10627">
                                            <p:txEl>
                                              <p:pRg st="0" end="0"/>
                                            </p:txEl>
                                          </p:spTgt>
                                        </p:tgtEl>
                                        <p:attrNameLst>
                                          <p:attrName>style.visibility</p:attrName>
                                        </p:attrNameLst>
                                      </p:cBhvr>
                                      <p:to>
                                        <p:strVal val="visible"/>
                                      </p:to>
                                    </p:set>
                                    <p:animEffect transition="in" filter="blinds(horizontal)">
                                      <p:cBhvr>
                                        <p:cTn id="7" dur="500"/>
                                        <p:tgtEl>
                                          <p:spTgt spid="410627">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410627">
                                            <p:txEl>
                                              <p:pRg st="1" end="1"/>
                                            </p:txEl>
                                          </p:spTgt>
                                        </p:tgtEl>
                                        <p:attrNameLst>
                                          <p:attrName>style.visibility</p:attrName>
                                        </p:attrNameLst>
                                      </p:cBhvr>
                                      <p:to>
                                        <p:strVal val="visible"/>
                                      </p:to>
                                    </p:set>
                                    <p:animEffect transition="in" filter="blinds(horizontal)">
                                      <p:cBhvr>
                                        <p:cTn id="11" dur="500"/>
                                        <p:tgtEl>
                                          <p:spTgt spid="41062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410627">
                                            <p:txEl>
                                              <p:pRg st="2" end="2"/>
                                            </p:txEl>
                                          </p:spTgt>
                                        </p:tgtEl>
                                        <p:attrNameLst>
                                          <p:attrName>style.visibility</p:attrName>
                                        </p:attrNameLst>
                                      </p:cBhvr>
                                      <p:to>
                                        <p:strVal val="visible"/>
                                      </p:to>
                                    </p:set>
                                    <p:animEffect transition="in" filter="blinds(horizontal)">
                                      <p:cBhvr>
                                        <p:cTn id="16" dur="500"/>
                                        <p:tgtEl>
                                          <p:spTgt spid="4106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BD5552A4-E8FE-4C85-AA27-D0ACBCF088A9}" type="slidenum">
              <a:rPr kumimoji="0" lang="en-US" altLang="en-US" sz="1400"/>
              <a:pPr>
                <a:spcBef>
                  <a:spcPct val="50000"/>
                </a:spcBef>
                <a:buClrTx/>
                <a:buSzTx/>
                <a:buFontTx/>
                <a:buNone/>
              </a:pPr>
              <a:t>58</a:t>
            </a:fld>
            <a:endParaRPr kumimoji="0" lang="en-US" altLang="en-US" sz="1400"/>
          </a:p>
        </p:txBody>
      </p:sp>
      <p:sp>
        <p:nvSpPr>
          <p:cNvPr id="412675" name="Rectangle 3"/>
          <p:cNvSpPr>
            <a:spLocks noGrp="1" noChangeArrowheads="1"/>
          </p:cNvSpPr>
          <p:nvPr>
            <p:ph type="body" idx="1"/>
          </p:nvPr>
        </p:nvSpPr>
        <p:spPr>
          <a:xfrm>
            <a:off x="1774825" y="1991018"/>
            <a:ext cx="8694738" cy="3532704"/>
          </a:xfrm>
        </p:spPr>
        <p:txBody>
          <a:bodyPr/>
          <a:lstStyle/>
          <a:p>
            <a:pPr>
              <a:lnSpc>
                <a:spcPct val="90000"/>
              </a:lnSpc>
            </a:pPr>
            <a:r>
              <a:rPr lang="en-AU" altLang="en-US" dirty="0"/>
              <a:t>Windows NT, 2000, XP, 7..10 contain two types of ACLs:</a:t>
            </a:r>
          </a:p>
          <a:p>
            <a:pPr lvl="1">
              <a:lnSpc>
                <a:spcPct val="90000"/>
              </a:lnSpc>
            </a:pPr>
            <a:r>
              <a:rPr lang="en-AU" altLang="en-US" dirty="0"/>
              <a:t>Discretionary access control lists (DACLs).</a:t>
            </a:r>
          </a:p>
          <a:p>
            <a:pPr lvl="1">
              <a:lnSpc>
                <a:spcPct val="90000"/>
              </a:lnSpc>
            </a:pPr>
            <a:r>
              <a:rPr lang="en-AU" altLang="en-US" dirty="0"/>
              <a:t>System access control list (SACLs).</a:t>
            </a:r>
          </a:p>
          <a:p>
            <a:pPr>
              <a:lnSpc>
                <a:spcPct val="90000"/>
              </a:lnSpc>
            </a:pPr>
            <a:r>
              <a:rPr lang="en-AU" altLang="en-US" dirty="0"/>
              <a:t>A DACL determines access rights to secured resources.</a:t>
            </a:r>
          </a:p>
          <a:p>
            <a:pPr lvl="1">
              <a:lnSpc>
                <a:spcPct val="90000"/>
              </a:lnSpc>
            </a:pPr>
            <a:r>
              <a:rPr lang="en-AU" altLang="en-US" dirty="0"/>
              <a:t>A DACL can be attached to an object in the system.</a:t>
            </a:r>
          </a:p>
          <a:p>
            <a:pPr>
              <a:lnSpc>
                <a:spcPct val="90000"/>
              </a:lnSpc>
            </a:pPr>
            <a:r>
              <a:rPr lang="en-AU" altLang="en-US" dirty="0"/>
              <a:t>A SACL determines audit policy for secured resources.</a:t>
            </a:r>
          </a:p>
          <a:p>
            <a:pPr>
              <a:lnSpc>
                <a:spcPct val="90000"/>
              </a:lnSpc>
            </a:pPr>
            <a:r>
              <a:rPr lang="en-AU" altLang="en-US" dirty="0"/>
              <a:t>ACL’s are supported by NTFS</a:t>
            </a:r>
          </a:p>
        </p:txBody>
      </p:sp>
    </p:spTree>
    <p:extLst>
      <p:ext uri="{BB962C8B-B14F-4D97-AF65-F5344CB8AC3E}">
        <p14:creationId xmlns:p14="http://schemas.microsoft.com/office/powerpoint/2010/main" val="10411995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12675">
                                            <p:txEl>
                                              <p:pRg st="0" end="0"/>
                                            </p:txEl>
                                          </p:spTgt>
                                        </p:tgtEl>
                                        <p:attrNameLst>
                                          <p:attrName>style.visibility</p:attrName>
                                        </p:attrNameLst>
                                      </p:cBhvr>
                                      <p:to>
                                        <p:strVal val="visible"/>
                                      </p:to>
                                    </p:set>
                                    <p:animEffect transition="in" filter="blinds(horizontal)">
                                      <p:cBhvr>
                                        <p:cTn id="7" dur="500"/>
                                        <p:tgtEl>
                                          <p:spTgt spid="41267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2675">
                                            <p:txEl>
                                              <p:pRg st="1" end="1"/>
                                            </p:txEl>
                                          </p:spTgt>
                                        </p:tgtEl>
                                        <p:attrNameLst>
                                          <p:attrName>style.visibility</p:attrName>
                                        </p:attrNameLst>
                                      </p:cBhvr>
                                      <p:to>
                                        <p:strVal val="visible"/>
                                      </p:to>
                                    </p:set>
                                    <p:animEffect transition="in" filter="blinds(horizontal)">
                                      <p:cBhvr>
                                        <p:cTn id="10" dur="500"/>
                                        <p:tgtEl>
                                          <p:spTgt spid="41267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2675">
                                            <p:txEl>
                                              <p:pRg st="2" end="2"/>
                                            </p:txEl>
                                          </p:spTgt>
                                        </p:tgtEl>
                                        <p:attrNameLst>
                                          <p:attrName>style.visibility</p:attrName>
                                        </p:attrNameLst>
                                      </p:cBhvr>
                                      <p:to>
                                        <p:strVal val="visible"/>
                                      </p:to>
                                    </p:set>
                                    <p:animEffect transition="in" filter="blinds(horizontal)">
                                      <p:cBhvr>
                                        <p:cTn id="13" dur="500"/>
                                        <p:tgtEl>
                                          <p:spTgt spid="41267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12675">
                                            <p:txEl>
                                              <p:pRg st="3" end="3"/>
                                            </p:txEl>
                                          </p:spTgt>
                                        </p:tgtEl>
                                        <p:attrNameLst>
                                          <p:attrName>style.visibility</p:attrName>
                                        </p:attrNameLst>
                                      </p:cBhvr>
                                      <p:to>
                                        <p:strVal val="visible"/>
                                      </p:to>
                                    </p:set>
                                    <p:animEffect transition="in" filter="blinds(horizontal)">
                                      <p:cBhvr>
                                        <p:cTn id="18" dur="500"/>
                                        <p:tgtEl>
                                          <p:spTgt spid="412675">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12675">
                                            <p:txEl>
                                              <p:pRg st="4" end="4"/>
                                            </p:txEl>
                                          </p:spTgt>
                                        </p:tgtEl>
                                        <p:attrNameLst>
                                          <p:attrName>style.visibility</p:attrName>
                                        </p:attrNameLst>
                                      </p:cBhvr>
                                      <p:to>
                                        <p:strVal val="visible"/>
                                      </p:to>
                                    </p:set>
                                    <p:animEffect transition="in" filter="blinds(horizontal)">
                                      <p:cBhvr>
                                        <p:cTn id="21" dur="500"/>
                                        <p:tgtEl>
                                          <p:spTgt spid="412675">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12675">
                                            <p:txEl>
                                              <p:pRg st="5" end="5"/>
                                            </p:txEl>
                                          </p:spTgt>
                                        </p:tgtEl>
                                        <p:attrNameLst>
                                          <p:attrName>style.visibility</p:attrName>
                                        </p:attrNameLst>
                                      </p:cBhvr>
                                      <p:to>
                                        <p:strVal val="visible"/>
                                      </p:to>
                                    </p:set>
                                    <p:animEffect transition="in" filter="blinds(horizontal)">
                                      <p:cBhvr>
                                        <p:cTn id="26" dur="500"/>
                                        <p:tgtEl>
                                          <p:spTgt spid="412675">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12675">
                                            <p:txEl>
                                              <p:pRg st="6" end="6"/>
                                            </p:txEl>
                                          </p:spTgt>
                                        </p:tgtEl>
                                        <p:attrNameLst>
                                          <p:attrName>style.visibility</p:attrName>
                                        </p:attrNameLst>
                                      </p:cBhvr>
                                      <p:to>
                                        <p:strVal val="visible"/>
                                      </p:to>
                                    </p:set>
                                    <p:animEffect transition="in" filter="blinds(horizontal)">
                                      <p:cBhvr>
                                        <p:cTn id="31" dur="500"/>
                                        <p:tgtEl>
                                          <p:spTgt spid="4126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209F0737-90B7-43ED-B714-92A4984FA477}" type="slidenum">
              <a:rPr kumimoji="0" lang="en-US" altLang="en-US" sz="1400"/>
              <a:pPr>
                <a:spcBef>
                  <a:spcPct val="50000"/>
                </a:spcBef>
                <a:buClrTx/>
                <a:buSzTx/>
                <a:buFontTx/>
                <a:buNone/>
              </a:pPr>
              <a:t>59</a:t>
            </a:fld>
            <a:endParaRPr kumimoji="0" lang="en-US" altLang="en-US" sz="1400"/>
          </a:p>
        </p:txBody>
      </p:sp>
      <p:sp>
        <p:nvSpPr>
          <p:cNvPr id="14339" name="Rectangle 2"/>
          <p:cNvSpPr>
            <a:spLocks noGrp="1" noChangeArrowheads="1"/>
          </p:cNvSpPr>
          <p:nvPr>
            <p:ph type="title"/>
          </p:nvPr>
        </p:nvSpPr>
        <p:spPr>
          <a:xfrm>
            <a:off x="2063750" y="115888"/>
            <a:ext cx="7772400" cy="1143000"/>
          </a:xfrm>
        </p:spPr>
        <p:txBody>
          <a:bodyPr/>
          <a:lstStyle/>
          <a:p>
            <a:r>
              <a:rPr lang="en-US" altLang="en-US"/>
              <a:t>Common File Systems</a:t>
            </a:r>
            <a:endParaRPr lang="en-AU" altLang="en-US"/>
          </a:p>
        </p:txBody>
      </p:sp>
      <p:sp>
        <p:nvSpPr>
          <p:cNvPr id="414723" name="Rectangle 3"/>
          <p:cNvSpPr>
            <a:spLocks noGrp="1" noChangeArrowheads="1"/>
          </p:cNvSpPr>
          <p:nvPr>
            <p:ph type="body" idx="1"/>
          </p:nvPr>
        </p:nvSpPr>
        <p:spPr>
          <a:xfrm>
            <a:off x="1703389" y="1341438"/>
            <a:ext cx="8766175" cy="5256212"/>
          </a:xfrm>
        </p:spPr>
        <p:txBody>
          <a:bodyPr/>
          <a:lstStyle/>
          <a:p>
            <a:r>
              <a:rPr lang="en-US" altLang="en-US" dirty="0"/>
              <a:t>Earlier versions of Windows (95, 98, ME) used File Allocation Tables (FAT and the 32-bit FAT32).</a:t>
            </a:r>
          </a:p>
          <a:p>
            <a:pPr lvl="1"/>
            <a:r>
              <a:rPr lang="en-US" altLang="en-US" dirty="0"/>
              <a:t>They continue to be supported, primarily for backward compatibility, but FAT32 is also used for flash memory.</a:t>
            </a:r>
          </a:p>
          <a:p>
            <a:pPr lvl="1"/>
            <a:r>
              <a:rPr lang="en-AU" altLang="en-US" dirty="0"/>
              <a:t>We can convert between them using:</a:t>
            </a:r>
          </a:p>
          <a:p>
            <a:pPr lvl="1">
              <a:buFontTx/>
              <a:buNone/>
            </a:pPr>
            <a:r>
              <a:rPr lang="en-AU" altLang="en-US" dirty="0"/>
              <a:t>			</a:t>
            </a:r>
            <a:r>
              <a:rPr lang="en-AU" altLang="en-US" dirty="0">
                <a:latin typeface="Times New Roman" panose="02020603050405020304" pitchFamily="18" charset="0"/>
              </a:rPr>
              <a:t>convert c: /FS:NTFS</a:t>
            </a:r>
            <a:endParaRPr lang="en-US" altLang="en-US" dirty="0">
              <a:latin typeface="Times New Roman" panose="02020603050405020304" pitchFamily="18" charset="0"/>
            </a:endParaRPr>
          </a:p>
          <a:p>
            <a:r>
              <a:rPr lang="en-AU" altLang="en-US" dirty="0"/>
              <a:t>New Technology File System (</a:t>
            </a:r>
            <a:r>
              <a:rPr lang="en-US" altLang="en-US" dirty="0"/>
              <a:t>NTFS) (http://www.ntfs.com)</a:t>
            </a:r>
          </a:p>
          <a:p>
            <a:pPr lvl="1"/>
            <a:r>
              <a:rPr lang="en-AU" altLang="en-US" dirty="0"/>
              <a:t>Designed for Windows NT, 2000, XP.</a:t>
            </a:r>
          </a:p>
          <a:p>
            <a:pPr lvl="1"/>
            <a:r>
              <a:rPr lang="en-AU" altLang="en-US" dirty="0"/>
              <a:t>Still used in Windows 10.</a:t>
            </a:r>
          </a:p>
          <a:p>
            <a:pPr lvl="2"/>
            <a:r>
              <a:rPr lang="en-AU" altLang="en-US" dirty="0"/>
              <a:t>You could use FAT32 or the older FAT (FAT16)…</a:t>
            </a:r>
          </a:p>
          <a:p>
            <a:pPr lvl="1"/>
            <a:r>
              <a:rPr lang="en-AU" altLang="en-US" dirty="0"/>
              <a:t>Supports file-level security, compression and auditing.</a:t>
            </a:r>
          </a:p>
        </p:txBody>
      </p:sp>
    </p:spTree>
    <p:extLst>
      <p:ext uri="{BB962C8B-B14F-4D97-AF65-F5344CB8AC3E}">
        <p14:creationId xmlns:p14="http://schemas.microsoft.com/office/powerpoint/2010/main" val="271376392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blinds(horizontal)">
                                      <p:cBhvr>
                                        <p:cTn id="7" dur="500"/>
                                        <p:tgtEl>
                                          <p:spTgt spid="4147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4723">
                                            <p:txEl>
                                              <p:pRg st="1" end="1"/>
                                            </p:txEl>
                                          </p:spTgt>
                                        </p:tgtEl>
                                        <p:attrNameLst>
                                          <p:attrName>style.visibility</p:attrName>
                                        </p:attrNameLst>
                                      </p:cBhvr>
                                      <p:to>
                                        <p:strVal val="visible"/>
                                      </p:to>
                                    </p:set>
                                    <p:animEffect transition="in" filter="blinds(horizontal)">
                                      <p:cBhvr>
                                        <p:cTn id="10" dur="500"/>
                                        <p:tgtEl>
                                          <p:spTgt spid="4147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4723">
                                            <p:txEl>
                                              <p:pRg st="2" end="2"/>
                                            </p:txEl>
                                          </p:spTgt>
                                        </p:tgtEl>
                                        <p:attrNameLst>
                                          <p:attrName>style.visibility</p:attrName>
                                        </p:attrNameLst>
                                      </p:cBhvr>
                                      <p:to>
                                        <p:strVal val="visible"/>
                                      </p:to>
                                    </p:set>
                                    <p:animEffect transition="in" filter="blinds(horizontal)">
                                      <p:cBhvr>
                                        <p:cTn id="13" dur="500"/>
                                        <p:tgtEl>
                                          <p:spTgt spid="41472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4723">
                                            <p:txEl>
                                              <p:pRg st="3" end="3"/>
                                            </p:txEl>
                                          </p:spTgt>
                                        </p:tgtEl>
                                        <p:attrNameLst>
                                          <p:attrName>style.visibility</p:attrName>
                                        </p:attrNameLst>
                                      </p:cBhvr>
                                      <p:to>
                                        <p:strVal val="visible"/>
                                      </p:to>
                                    </p:set>
                                    <p:animEffect transition="in" filter="blinds(horizontal)">
                                      <p:cBhvr>
                                        <p:cTn id="16" dur="500"/>
                                        <p:tgtEl>
                                          <p:spTgt spid="41472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14723">
                                            <p:txEl>
                                              <p:pRg st="4" end="4"/>
                                            </p:txEl>
                                          </p:spTgt>
                                        </p:tgtEl>
                                        <p:attrNameLst>
                                          <p:attrName>style.visibility</p:attrName>
                                        </p:attrNameLst>
                                      </p:cBhvr>
                                      <p:to>
                                        <p:strVal val="visible"/>
                                      </p:to>
                                    </p:set>
                                    <p:animEffect transition="in" filter="blinds(horizontal)">
                                      <p:cBhvr>
                                        <p:cTn id="21" dur="500"/>
                                        <p:tgtEl>
                                          <p:spTgt spid="41472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14723">
                                            <p:txEl>
                                              <p:pRg st="5" end="5"/>
                                            </p:txEl>
                                          </p:spTgt>
                                        </p:tgtEl>
                                        <p:attrNameLst>
                                          <p:attrName>style.visibility</p:attrName>
                                        </p:attrNameLst>
                                      </p:cBhvr>
                                      <p:to>
                                        <p:strVal val="visible"/>
                                      </p:to>
                                    </p:set>
                                    <p:animEffect transition="in" filter="blinds(horizontal)">
                                      <p:cBhvr>
                                        <p:cTn id="24" dur="500"/>
                                        <p:tgtEl>
                                          <p:spTgt spid="414723">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14723">
                                            <p:txEl>
                                              <p:pRg st="6" end="6"/>
                                            </p:txEl>
                                          </p:spTgt>
                                        </p:tgtEl>
                                        <p:attrNameLst>
                                          <p:attrName>style.visibility</p:attrName>
                                        </p:attrNameLst>
                                      </p:cBhvr>
                                      <p:to>
                                        <p:strVal val="visible"/>
                                      </p:to>
                                    </p:set>
                                    <p:animEffect transition="in" filter="blinds(horizontal)">
                                      <p:cBhvr>
                                        <p:cTn id="27" dur="500"/>
                                        <p:tgtEl>
                                          <p:spTgt spid="414723">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14723">
                                            <p:txEl>
                                              <p:pRg st="7" end="7"/>
                                            </p:txEl>
                                          </p:spTgt>
                                        </p:tgtEl>
                                        <p:attrNameLst>
                                          <p:attrName>style.visibility</p:attrName>
                                        </p:attrNameLst>
                                      </p:cBhvr>
                                      <p:to>
                                        <p:strVal val="visible"/>
                                      </p:to>
                                    </p:set>
                                    <p:animEffect transition="in" filter="blinds(horizontal)">
                                      <p:cBhvr>
                                        <p:cTn id="30" dur="500"/>
                                        <p:tgtEl>
                                          <p:spTgt spid="414723">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14723">
                                            <p:txEl>
                                              <p:pRg st="8" end="8"/>
                                            </p:txEl>
                                          </p:spTgt>
                                        </p:tgtEl>
                                        <p:attrNameLst>
                                          <p:attrName>style.visibility</p:attrName>
                                        </p:attrNameLst>
                                      </p:cBhvr>
                                      <p:to>
                                        <p:strVal val="visible"/>
                                      </p:to>
                                    </p:set>
                                    <p:animEffect transition="in" filter="blinds(horizontal)">
                                      <p:cBhvr>
                                        <p:cTn id="33" dur="500"/>
                                        <p:tgtEl>
                                          <p:spTgt spid="4147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D9F0FC54-5C55-4763-9CD8-9838623344A1}" type="slidenum">
              <a:rPr kumimoji="0" lang="en-US" altLang="en-US" sz="1400"/>
              <a:pPr>
                <a:spcBef>
                  <a:spcPct val="50000"/>
                </a:spcBef>
                <a:buClrTx/>
                <a:buSzTx/>
                <a:buFontTx/>
                <a:buNone/>
              </a:pPr>
              <a:t>60</a:t>
            </a:fld>
            <a:endParaRPr kumimoji="0" lang="en-US" altLang="en-US" sz="1400"/>
          </a:p>
        </p:txBody>
      </p:sp>
      <p:sp>
        <p:nvSpPr>
          <p:cNvPr id="16387" name="Rectangle 2"/>
          <p:cNvSpPr>
            <a:spLocks noGrp="1" noChangeArrowheads="1"/>
          </p:cNvSpPr>
          <p:nvPr>
            <p:ph type="title"/>
          </p:nvPr>
        </p:nvSpPr>
        <p:spPr>
          <a:xfrm>
            <a:off x="2424113" y="0"/>
            <a:ext cx="7772400" cy="1143000"/>
          </a:xfrm>
        </p:spPr>
        <p:txBody>
          <a:bodyPr/>
          <a:lstStyle/>
          <a:p>
            <a:r>
              <a:rPr lang="en-US" altLang="en-US"/>
              <a:t>NTFS Security</a:t>
            </a:r>
            <a:endParaRPr lang="en-AU" altLang="en-US"/>
          </a:p>
        </p:txBody>
      </p:sp>
      <p:sp>
        <p:nvSpPr>
          <p:cNvPr id="418819" name="Rectangle 3"/>
          <p:cNvSpPr>
            <a:spLocks noGrp="1" noChangeArrowheads="1"/>
          </p:cNvSpPr>
          <p:nvPr>
            <p:ph type="body" idx="1"/>
          </p:nvPr>
        </p:nvSpPr>
        <p:spPr>
          <a:xfrm>
            <a:off x="1703389" y="1196976"/>
            <a:ext cx="8766175" cy="5472113"/>
          </a:xfrm>
        </p:spPr>
        <p:txBody>
          <a:bodyPr/>
          <a:lstStyle/>
          <a:p>
            <a:pPr>
              <a:lnSpc>
                <a:spcPct val="90000"/>
              </a:lnSpc>
            </a:pPr>
            <a:r>
              <a:rPr lang="en-US" altLang="en-US"/>
              <a:t>After user authentication to the Windows system via user name and password, NTFS provides another security layer.</a:t>
            </a:r>
          </a:p>
          <a:p>
            <a:pPr>
              <a:lnSpc>
                <a:spcPct val="90000"/>
              </a:lnSpc>
            </a:pPr>
            <a:r>
              <a:rPr lang="en-US" altLang="en-US"/>
              <a:t>It allows the system administrators to:</a:t>
            </a:r>
          </a:p>
          <a:p>
            <a:pPr lvl="1">
              <a:lnSpc>
                <a:spcPct val="90000"/>
              </a:lnSpc>
            </a:pPr>
            <a:r>
              <a:rPr lang="en-US" altLang="en-US"/>
              <a:t>Set access permissions to data using ACLs.</a:t>
            </a:r>
          </a:p>
          <a:p>
            <a:pPr lvl="1">
              <a:lnSpc>
                <a:spcPct val="90000"/>
              </a:lnSpc>
            </a:pPr>
            <a:r>
              <a:rPr lang="en-US" altLang="en-US"/>
              <a:t>Encrypt data and folders stored on an NTFS.</a:t>
            </a:r>
          </a:p>
          <a:p>
            <a:pPr>
              <a:lnSpc>
                <a:spcPct val="90000"/>
              </a:lnSpc>
            </a:pPr>
            <a:r>
              <a:rPr lang="en-AU" altLang="en-US"/>
              <a:t>The last point is very important. NTFS has an </a:t>
            </a:r>
            <a:r>
              <a:rPr lang="en-AU" altLang="en-US" b="1"/>
              <a:t>Encrypting File System </a:t>
            </a:r>
            <a:r>
              <a:rPr lang="en-AU" altLang="en-US"/>
              <a:t>(EFS) that provides the core file encryption technology used to store encrypted files on NTFS volumes.</a:t>
            </a:r>
          </a:p>
          <a:p>
            <a:pPr lvl="1">
              <a:lnSpc>
                <a:spcPct val="90000"/>
              </a:lnSpc>
            </a:pPr>
            <a:r>
              <a:rPr lang="en-AU" altLang="en-US"/>
              <a:t>EFS keeps files safe from intruders who gain unauthorized physical access to sensitive data, by, for example, stealing a computer.</a:t>
            </a:r>
          </a:p>
        </p:txBody>
      </p:sp>
    </p:spTree>
    <p:extLst>
      <p:ext uri="{BB962C8B-B14F-4D97-AF65-F5344CB8AC3E}">
        <p14:creationId xmlns:p14="http://schemas.microsoft.com/office/powerpoint/2010/main" val="114897435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blinds(horizontal)">
                                      <p:cBhvr>
                                        <p:cTn id="7" dur="500"/>
                                        <p:tgtEl>
                                          <p:spTgt spid="418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8819">
                                            <p:txEl>
                                              <p:pRg st="1" end="1"/>
                                            </p:txEl>
                                          </p:spTgt>
                                        </p:tgtEl>
                                        <p:attrNameLst>
                                          <p:attrName>style.visibility</p:attrName>
                                        </p:attrNameLst>
                                      </p:cBhvr>
                                      <p:to>
                                        <p:strVal val="visible"/>
                                      </p:to>
                                    </p:set>
                                    <p:animEffect transition="in" filter="blinds(horizontal)">
                                      <p:cBhvr>
                                        <p:cTn id="12" dur="500"/>
                                        <p:tgtEl>
                                          <p:spTgt spid="41881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18819">
                                            <p:txEl>
                                              <p:pRg st="2" end="2"/>
                                            </p:txEl>
                                          </p:spTgt>
                                        </p:tgtEl>
                                        <p:attrNameLst>
                                          <p:attrName>style.visibility</p:attrName>
                                        </p:attrNameLst>
                                      </p:cBhvr>
                                      <p:to>
                                        <p:strVal val="visible"/>
                                      </p:to>
                                    </p:set>
                                    <p:animEffect transition="in" filter="blinds(horizontal)">
                                      <p:cBhvr>
                                        <p:cTn id="15" dur="500"/>
                                        <p:tgtEl>
                                          <p:spTgt spid="41881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8819">
                                            <p:txEl>
                                              <p:pRg st="3" end="3"/>
                                            </p:txEl>
                                          </p:spTgt>
                                        </p:tgtEl>
                                        <p:attrNameLst>
                                          <p:attrName>style.visibility</p:attrName>
                                        </p:attrNameLst>
                                      </p:cBhvr>
                                      <p:to>
                                        <p:strVal val="visible"/>
                                      </p:to>
                                    </p:set>
                                    <p:animEffect transition="in" filter="blinds(horizontal)">
                                      <p:cBhvr>
                                        <p:cTn id="18" dur="500"/>
                                        <p:tgtEl>
                                          <p:spTgt spid="41881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18819">
                                            <p:txEl>
                                              <p:pRg st="4" end="4"/>
                                            </p:txEl>
                                          </p:spTgt>
                                        </p:tgtEl>
                                        <p:attrNameLst>
                                          <p:attrName>style.visibility</p:attrName>
                                        </p:attrNameLst>
                                      </p:cBhvr>
                                      <p:to>
                                        <p:strVal val="visible"/>
                                      </p:to>
                                    </p:set>
                                    <p:animEffect transition="in" filter="blinds(horizontal)">
                                      <p:cBhvr>
                                        <p:cTn id="23" dur="500"/>
                                        <p:tgtEl>
                                          <p:spTgt spid="41881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8819">
                                            <p:txEl>
                                              <p:pRg st="5" end="5"/>
                                            </p:txEl>
                                          </p:spTgt>
                                        </p:tgtEl>
                                        <p:attrNameLst>
                                          <p:attrName>style.visibility</p:attrName>
                                        </p:attrNameLst>
                                      </p:cBhvr>
                                      <p:to>
                                        <p:strVal val="visible"/>
                                      </p:to>
                                    </p:set>
                                    <p:animEffect transition="in" filter="blinds(horizontal)">
                                      <p:cBhvr>
                                        <p:cTn id="26" dur="500"/>
                                        <p:tgtEl>
                                          <p:spTgt spid="418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9289" y="549276"/>
            <a:ext cx="8550275" cy="6048375"/>
          </a:xfrm>
        </p:spPr>
        <p:txBody>
          <a:bodyPr/>
          <a:lstStyle/>
          <a:p>
            <a:pPr>
              <a:lnSpc>
                <a:spcPct val="90000"/>
              </a:lnSpc>
            </a:pPr>
            <a:r>
              <a:rPr lang="en-AU" altLang="en-US"/>
              <a:t>The encryption is transparent with respect to users.</a:t>
            </a:r>
          </a:p>
          <a:p>
            <a:pPr lvl="1">
              <a:lnSpc>
                <a:spcPct val="90000"/>
              </a:lnSpc>
            </a:pPr>
            <a:r>
              <a:rPr lang="en-AU" altLang="en-US"/>
              <a:t>Users work with encrypted files and folders as they do with any other files and folders. Decryption is automatic for authorised parties.</a:t>
            </a:r>
          </a:p>
          <a:p>
            <a:pPr lvl="1">
              <a:lnSpc>
                <a:spcPct val="90000"/>
              </a:lnSpc>
            </a:pPr>
            <a:r>
              <a:rPr lang="en-AU" altLang="en-US"/>
              <a:t>If you send the files anywhere the encryption is removed.</a:t>
            </a:r>
          </a:p>
          <a:p>
            <a:pPr>
              <a:lnSpc>
                <a:spcPct val="110000"/>
              </a:lnSpc>
            </a:pPr>
            <a:r>
              <a:rPr lang="en-AU" altLang="en-US"/>
              <a:t>EFS can:</a:t>
            </a:r>
          </a:p>
          <a:p>
            <a:pPr lvl="1">
              <a:lnSpc>
                <a:spcPct val="110000"/>
              </a:lnSpc>
            </a:pPr>
            <a:r>
              <a:rPr lang="en-AU" altLang="en-US"/>
              <a:t>Encrypt files and folders on NTFS volumes.</a:t>
            </a:r>
          </a:p>
          <a:p>
            <a:pPr lvl="1">
              <a:lnSpc>
                <a:spcPct val="110000"/>
              </a:lnSpc>
            </a:pPr>
            <a:r>
              <a:rPr lang="en-AU" altLang="en-US"/>
              <a:t>What is encryption?</a:t>
            </a:r>
          </a:p>
          <a:p>
            <a:pPr lvl="2">
              <a:lnSpc>
                <a:spcPct val="110000"/>
              </a:lnSpc>
            </a:pPr>
            <a:r>
              <a:rPr lang="en-AU" altLang="en-US"/>
              <a:t>Providing confidentiality.</a:t>
            </a:r>
          </a:p>
          <a:p>
            <a:pPr lvl="3">
              <a:lnSpc>
                <a:spcPct val="110000"/>
              </a:lnSpc>
            </a:pPr>
            <a:r>
              <a:rPr lang="en-AU" altLang="en-US"/>
              <a:t>What is confidentiality?</a:t>
            </a:r>
          </a:p>
          <a:p>
            <a:pPr lvl="4">
              <a:lnSpc>
                <a:spcPct val="110000"/>
              </a:lnSpc>
            </a:pPr>
            <a:r>
              <a:rPr lang="en-AU" altLang="en-US"/>
              <a:t>…</a:t>
            </a:r>
            <a:endParaRPr lang="en-AU" altLang="en-US" sz="2800"/>
          </a:p>
        </p:txBody>
      </p:sp>
      <p:sp>
        <p:nvSpPr>
          <p:cNvPr id="1843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D86AE57A-8976-4CFB-8B6D-CD1B3DA2CA82}" type="slidenum">
              <a:rPr kumimoji="0" lang="en-US" altLang="en-US" sz="1400"/>
              <a:pPr>
                <a:spcBef>
                  <a:spcPct val="50000"/>
                </a:spcBef>
                <a:buClrTx/>
                <a:buSzTx/>
                <a:buFontTx/>
                <a:buNone/>
              </a:pPr>
              <a:t>61</a:t>
            </a:fld>
            <a:endParaRPr kumimoji="0" lang="en-US" altLang="en-US" sz="1400"/>
          </a:p>
        </p:txBody>
      </p:sp>
    </p:spTree>
    <p:extLst>
      <p:ext uri="{BB962C8B-B14F-4D97-AF65-F5344CB8AC3E}">
        <p14:creationId xmlns:p14="http://schemas.microsoft.com/office/powerpoint/2010/main" val="89354656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linds(horizontal)">
                                      <p:cBhvr>
                                        <p:cTn id="30" dur="500"/>
                                        <p:tgtEl>
                                          <p:spTgt spid="3">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blinds(horizontal)">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884D0493-F89C-48B2-A57E-65BF525F76CC}" type="slidenum">
              <a:rPr kumimoji="0" lang="en-US" altLang="en-US" sz="1400"/>
              <a:pPr>
                <a:spcBef>
                  <a:spcPct val="50000"/>
                </a:spcBef>
                <a:buClrTx/>
                <a:buSzTx/>
                <a:buFontTx/>
                <a:buNone/>
              </a:pPr>
              <a:t>62</a:t>
            </a:fld>
            <a:endParaRPr kumimoji="0" lang="en-US" altLang="en-US" sz="1400"/>
          </a:p>
        </p:txBody>
      </p:sp>
      <p:sp>
        <p:nvSpPr>
          <p:cNvPr id="508931" name="Rectangle 3"/>
          <p:cNvSpPr>
            <a:spLocks noGrp="1" noChangeArrowheads="1"/>
          </p:cNvSpPr>
          <p:nvPr>
            <p:ph type="body" idx="1"/>
          </p:nvPr>
        </p:nvSpPr>
        <p:spPr>
          <a:xfrm>
            <a:off x="1847850" y="549276"/>
            <a:ext cx="8281988" cy="5400675"/>
          </a:xfrm>
        </p:spPr>
        <p:txBody>
          <a:bodyPr/>
          <a:lstStyle/>
          <a:p>
            <a:pPr>
              <a:lnSpc>
                <a:spcPct val="110000"/>
              </a:lnSpc>
            </a:pPr>
            <a:r>
              <a:rPr lang="en-AU" altLang="en-US"/>
              <a:t>The process is transparent with respect to authorized users, in the sense they don’t see any difference between accessing a protected file and accessing an unprotected file.</a:t>
            </a:r>
          </a:p>
          <a:p>
            <a:pPr lvl="1">
              <a:lnSpc>
                <a:spcPct val="110000"/>
              </a:lnSpc>
            </a:pPr>
            <a:r>
              <a:rPr lang="en-AU" altLang="en-US"/>
              <a:t>When a file is accessed the authorization of the user is checked.</a:t>
            </a:r>
          </a:p>
          <a:p>
            <a:pPr lvl="1">
              <a:lnSpc>
                <a:spcPct val="110000"/>
              </a:lnSpc>
            </a:pPr>
            <a:r>
              <a:rPr lang="en-AU" altLang="en-US"/>
              <a:t>If they are allowed to access the file it is decrypted, then accessed, and, generally, has encryption applied at the end. the file is opened it is decrypted saved, encryption is reapplied.</a:t>
            </a:r>
          </a:p>
          <a:p>
            <a:pPr lvl="1">
              <a:lnSpc>
                <a:spcPct val="110000"/>
              </a:lnSpc>
            </a:pPr>
            <a:r>
              <a:rPr lang="en-AU" altLang="en-US"/>
              <a:t>Users who are not authorized to access the encrypted information receive an “Access denied” message.</a:t>
            </a:r>
          </a:p>
        </p:txBody>
      </p:sp>
    </p:spTree>
    <p:extLst>
      <p:ext uri="{BB962C8B-B14F-4D97-AF65-F5344CB8AC3E}">
        <p14:creationId xmlns:p14="http://schemas.microsoft.com/office/powerpoint/2010/main" val="421930193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blinds(horizontal)">
                                      <p:cBhvr>
                                        <p:cTn id="7" dur="500"/>
                                        <p:tgtEl>
                                          <p:spTgt spid="5089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08931">
                                            <p:txEl>
                                              <p:pRg st="1" end="1"/>
                                            </p:txEl>
                                          </p:spTgt>
                                        </p:tgtEl>
                                        <p:attrNameLst>
                                          <p:attrName>style.visibility</p:attrName>
                                        </p:attrNameLst>
                                      </p:cBhvr>
                                      <p:to>
                                        <p:strVal val="visible"/>
                                      </p:to>
                                    </p:set>
                                    <p:animEffect transition="in" filter="blinds(horizontal)">
                                      <p:cBhvr>
                                        <p:cTn id="10" dur="500"/>
                                        <p:tgtEl>
                                          <p:spTgt spid="5089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08931">
                                            <p:txEl>
                                              <p:pRg st="2" end="2"/>
                                            </p:txEl>
                                          </p:spTgt>
                                        </p:tgtEl>
                                        <p:attrNameLst>
                                          <p:attrName>style.visibility</p:attrName>
                                        </p:attrNameLst>
                                      </p:cBhvr>
                                      <p:to>
                                        <p:strVal val="visible"/>
                                      </p:to>
                                    </p:set>
                                    <p:animEffect transition="in" filter="blinds(horizontal)">
                                      <p:cBhvr>
                                        <p:cTn id="13" dur="500"/>
                                        <p:tgtEl>
                                          <p:spTgt spid="5089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08931">
                                            <p:txEl>
                                              <p:pRg st="3" end="3"/>
                                            </p:txEl>
                                          </p:spTgt>
                                        </p:tgtEl>
                                        <p:attrNameLst>
                                          <p:attrName>style.visibility</p:attrName>
                                        </p:attrNameLst>
                                      </p:cBhvr>
                                      <p:to>
                                        <p:strVal val="visible"/>
                                      </p:to>
                                    </p:set>
                                    <p:animEffect transition="in" filter="blinds(horizontal)">
                                      <p:cBhvr>
                                        <p:cTn id="16" dur="500"/>
                                        <p:tgtEl>
                                          <p:spTgt spid="5089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98C85EA1-8D84-4865-A7F7-12E22816D51B}" type="slidenum">
              <a:rPr kumimoji="0" lang="en-US" altLang="en-US" sz="1400"/>
              <a:pPr>
                <a:spcBef>
                  <a:spcPct val="50000"/>
                </a:spcBef>
                <a:buClrTx/>
                <a:buSzTx/>
                <a:buFontTx/>
                <a:buNone/>
              </a:pPr>
              <a:t>63</a:t>
            </a:fld>
            <a:endParaRPr kumimoji="0" lang="en-US" altLang="en-US" sz="1400"/>
          </a:p>
        </p:txBody>
      </p:sp>
      <p:pic>
        <p:nvPicPr>
          <p:cNvPr id="515075" name="Picture 3"/>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5934076" y="1773239"/>
            <a:ext cx="4505325" cy="3240087"/>
          </a:xfrm>
          <a:noFill/>
        </p:spPr>
      </p:pic>
      <p:pic>
        <p:nvPicPr>
          <p:cNvPr id="515076" name="Picture 4"/>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1724026" y="188914"/>
            <a:ext cx="4011613" cy="5487987"/>
          </a:xfrm>
          <a:noFill/>
        </p:spPr>
      </p:pic>
      <p:sp>
        <p:nvSpPr>
          <p:cNvPr id="7" name="Content Placeholder 3"/>
          <p:cNvSpPr txBox="1">
            <a:spLocks/>
          </p:cNvSpPr>
          <p:nvPr/>
        </p:nvSpPr>
        <p:spPr bwMode="auto">
          <a:xfrm>
            <a:off x="6167438" y="5534026"/>
            <a:ext cx="27368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1"/>
              </a:buClr>
              <a:buSzPct val="70000"/>
              <a:buFont typeface="Monotype Sorts" pitchFamily="36"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defRPr>
            </a:lvl2pPr>
            <a:lvl3pPr marL="1143000" indent="-228600" algn="l" rtl="0" eaLnBrk="0" fontAlgn="base" hangingPunct="0">
              <a:spcBef>
                <a:spcPct val="20000"/>
              </a:spcBef>
              <a:spcAft>
                <a:spcPct val="0"/>
              </a:spcAft>
              <a:buChar char="•"/>
              <a:defRPr kumimoji="1" sz="2000">
                <a:solidFill>
                  <a:schemeClr val="tx1"/>
                </a:solidFill>
                <a:latin typeface="+mn-lt"/>
              </a:defRPr>
            </a:lvl3pPr>
            <a:lvl4pPr marL="1600200" indent="-228600" algn="l" rtl="0" eaLnBrk="0" fontAlgn="base" hangingPunct="0">
              <a:spcBef>
                <a:spcPct val="20000"/>
              </a:spcBef>
              <a:spcAft>
                <a:spcPct val="0"/>
              </a:spcAft>
              <a:buChar char="–"/>
              <a:defRPr kumimoji="1" sz="1800">
                <a:solidFill>
                  <a:schemeClr val="tx1"/>
                </a:solidFill>
                <a:latin typeface="+mn-lt"/>
              </a:defRPr>
            </a:lvl4pPr>
            <a:lvl5pPr marL="2057400" indent="-228600" algn="l" rtl="0" eaLnBrk="0" fontAlgn="base" hangingPunct="0">
              <a:spcBef>
                <a:spcPct val="20000"/>
              </a:spcBef>
              <a:spcAft>
                <a:spcPct val="0"/>
              </a:spcAft>
              <a:buChar char="»"/>
              <a:defRPr kumimoji="1" sz="1800">
                <a:solidFill>
                  <a:schemeClr val="tx1"/>
                </a:solidFill>
                <a:latin typeface="+mn-lt"/>
              </a:defRPr>
            </a:lvl5pPr>
            <a:lvl6pPr marL="2514600" indent="-228600" algn="l" rtl="0" eaLnBrk="0" fontAlgn="base" hangingPunct="0">
              <a:spcBef>
                <a:spcPct val="20000"/>
              </a:spcBef>
              <a:spcAft>
                <a:spcPct val="0"/>
              </a:spcAft>
              <a:buChar char="»"/>
              <a:defRPr kumimoji="1" sz="1800">
                <a:solidFill>
                  <a:schemeClr val="tx1"/>
                </a:solidFill>
                <a:latin typeface="+mn-lt"/>
              </a:defRPr>
            </a:lvl6pPr>
            <a:lvl7pPr marL="2971800" indent="-228600" algn="l" rtl="0" eaLnBrk="0" fontAlgn="base" hangingPunct="0">
              <a:spcBef>
                <a:spcPct val="20000"/>
              </a:spcBef>
              <a:spcAft>
                <a:spcPct val="0"/>
              </a:spcAft>
              <a:buChar char="»"/>
              <a:defRPr kumimoji="1" sz="1800">
                <a:solidFill>
                  <a:schemeClr val="tx1"/>
                </a:solidFill>
                <a:latin typeface="+mn-lt"/>
              </a:defRPr>
            </a:lvl7pPr>
            <a:lvl8pPr marL="3429000" indent="-228600" algn="l" rtl="0" eaLnBrk="0" fontAlgn="base" hangingPunct="0">
              <a:spcBef>
                <a:spcPct val="20000"/>
              </a:spcBef>
              <a:spcAft>
                <a:spcPct val="0"/>
              </a:spcAft>
              <a:buChar char="»"/>
              <a:defRPr kumimoji="1" sz="1800">
                <a:solidFill>
                  <a:schemeClr val="tx1"/>
                </a:solidFill>
                <a:latin typeface="+mn-lt"/>
              </a:defRPr>
            </a:lvl8pPr>
            <a:lvl9pPr marL="3886200" indent="-228600" algn="l" rtl="0" eaLnBrk="0" fontAlgn="base" hangingPunct="0">
              <a:spcBef>
                <a:spcPct val="20000"/>
              </a:spcBef>
              <a:spcAft>
                <a:spcPct val="0"/>
              </a:spcAft>
              <a:buChar char="»"/>
              <a:defRPr kumimoji="1" sz="1800">
                <a:solidFill>
                  <a:schemeClr val="tx1"/>
                </a:solidFill>
                <a:latin typeface="+mn-lt"/>
              </a:defRPr>
            </a:lvl9pPr>
          </a:lstStyle>
          <a:p>
            <a:pPr>
              <a:defRPr/>
            </a:pPr>
            <a:r>
              <a:rPr lang="en-AU" kern="0" dirty="0"/>
              <a:t>Windows XP</a:t>
            </a:r>
          </a:p>
        </p:txBody>
      </p:sp>
    </p:spTree>
    <p:extLst>
      <p:ext uri="{BB962C8B-B14F-4D97-AF65-F5344CB8AC3E}">
        <p14:creationId xmlns:p14="http://schemas.microsoft.com/office/powerpoint/2010/main" val="408479704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515076"/>
                                        </p:tgtEl>
                                        <p:attrNameLst>
                                          <p:attrName>style.visibility</p:attrName>
                                        </p:attrNameLst>
                                      </p:cBhvr>
                                      <p:to>
                                        <p:strVal val="visible"/>
                                      </p:to>
                                    </p:set>
                                    <p:animEffect transition="in" filter="dissolve">
                                      <p:cBhvr>
                                        <p:cTn id="10" dur="500"/>
                                        <p:tgtEl>
                                          <p:spTgt spid="515076"/>
                                        </p:tgtEl>
                                      </p:cBhvr>
                                    </p:animEffec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515075"/>
                                        </p:tgtEl>
                                        <p:attrNameLst>
                                          <p:attrName>style.visibility</p:attrName>
                                        </p:attrNameLst>
                                      </p:cBhvr>
                                      <p:to>
                                        <p:strVal val="visible"/>
                                      </p:to>
                                    </p:set>
                                    <p:animEffect transition="in" filter="dissolve">
                                      <p:cBhvr>
                                        <p:cTn id="14" dur="500"/>
                                        <p:tgtEl>
                                          <p:spTgt spid="515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495550" y="5607051"/>
            <a:ext cx="2736850" cy="671513"/>
          </a:xfrm>
        </p:spPr>
        <p:txBody>
          <a:bodyPr/>
          <a:lstStyle/>
          <a:p>
            <a:r>
              <a:rPr lang="en-AU" altLang="en-US" dirty="0"/>
              <a:t>Windows 10</a:t>
            </a:r>
          </a:p>
        </p:txBody>
      </p:sp>
      <p:sp>
        <p:nvSpPr>
          <p:cNvPr id="2355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5FF6A61C-BBA2-4221-AB34-7E4B15B6007E}" type="slidenum">
              <a:rPr kumimoji="0" lang="en-US" altLang="en-US" sz="1400"/>
              <a:pPr>
                <a:spcBef>
                  <a:spcPct val="50000"/>
                </a:spcBef>
                <a:buClrTx/>
                <a:buSzTx/>
                <a:buFontTx/>
                <a:buNone/>
              </a:pPr>
              <a:t>64</a:t>
            </a:fld>
            <a:endParaRPr kumimoji="0" lang="en-US" altLang="en-US" sz="140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500" y="479878"/>
            <a:ext cx="3486637" cy="465837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6510" y="431178"/>
            <a:ext cx="4029637" cy="4972744"/>
          </a:xfrm>
          <a:prstGeom prst="rect">
            <a:avLst/>
          </a:prstGeom>
        </p:spPr>
      </p:pic>
    </p:spTree>
    <p:extLst>
      <p:ext uri="{BB962C8B-B14F-4D97-AF65-F5344CB8AC3E}">
        <p14:creationId xmlns:p14="http://schemas.microsoft.com/office/powerpoint/2010/main" val="182908034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CB7A091C-D44B-4609-BEDE-195988E1E458}" type="slidenum">
              <a:rPr kumimoji="0" lang="en-US" altLang="en-US" sz="1400"/>
              <a:pPr>
                <a:spcBef>
                  <a:spcPct val="50000"/>
                </a:spcBef>
                <a:buClrTx/>
                <a:buSzTx/>
                <a:buFontTx/>
                <a:buNone/>
              </a:pPr>
              <a:t>65</a:t>
            </a:fld>
            <a:endParaRPr kumimoji="0" lang="en-US" altLang="en-US" sz="1400"/>
          </a:p>
        </p:txBody>
      </p:sp>
      <p:graphicFrame>
        <p:nvGraphicFramePr>
          <p:cNvPr id="420866" name="Group 2"/>
          <p:cNvGraphicFramePr>
            <a:graphicFrameLocks noGrp="1"/>
          </p:cNvGraphicFramePr>
          <p:nvPr/>
        </p:nvGraphicFramePr>
        <p:xfrm>
          <a:off x="1882775" y="508000"/>
          <a:ext cx="8440738" cy="5583239"/>
        </p:xfrm>
        <a:graphic>
          <a:graphicData uri="http://schemas.openxmlformats.org/drawingml/2006/table">
            <a:tbl>
              <a:tblPr/>
              <a:tblGrid>
                <a:gridCol w="2506570">
                  <a:extLst>
                    <a:ext uri="{9D8B030D-6E8A-4147-A177-3AD203B41FA5}">
                      <a16:colId xmlns:a16="http://schemas.microsoft.com/office/drawing/2014/main" val="20000"/>
                    </a:ext>
                  </a:extLst>
                </a:gridCol>
                <a:gridCol w="5725900">
                  <a:extLst>
                    <a:ext uri="{9D8B030D-6E8A-4147-A177-3AD203B41FA5}">
                      <a16:colId xmlns:a16="http://schemas.microsoft.com/office/drawing/2014/main" val="20001"/>
                    </a:ext>
                  </a:extLst>
                </a:gridCol>
                <a:gridCol w="208268">
                  <a:extLst>
                    <a:ext uri="{9D8B030D-6E8A-4147-A177-3AD203B41FA5}">
                      <a16:colId xmlns:a16="http://schemas.microsoft.com/office/drawing/2014/main" val="20002"/>
                    </a:ext>
                  </a:extLst>
                </a:gridCol>
              </a:tblGrid>
              <a:tr h="366752">
                <a:tc gridSpan="3">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NTFS FOLDER PERMISSIONS</a:t>
                      </a:r>
                    </a:p>
                  </a:txBody>
                  <a:tcPr marL="91434" marR="91434" marT="45730" marB="4573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6752">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1" i="0" u="none" strike="noStrike" cap="none" normalizeH="0" baseline="0">
                          <a:ln>
                            <a:noFill/>
                          </a:ln>
                          <a:solidFill>
                            <a:schemeClr val="tx1"/>
                          </a:solidFill>
                          <a:effectLst/>
                          <a:latin typeface="Arial" charset="0"/>
                        </a:rPr>
                        <a:t>NTFS File Permission</a:t>
                      </a: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1" i="0" u="none" strike="noStrike" cap="none" normalizeH="0" baseline="0">
                          <a:ln>
                            <a:noFill/>
                          </a:ln>
                          <a:solidFill>
                            <a:schemeClr val="tx1"/>
                          </a:solidFill>
                          <a:effectLst/>
                          <a:latin typeface="Arial" charset="0"/>
                        </a:rPr>
                        <a:t>Allowed Access</a:t>
                      </a: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916085">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Read</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or group to view the files, folders, </a:t>
                      </a:r>
                    </a:p>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and subfolders of the parent folder. It also allows the viewing of folder ownership, permissions, and attributes of that folder.</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82305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Write</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or group to create new files and folders </a:t>
                      </a:r>
                    </a:p>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within the parent folder as well as view folder ownership and </a:t>
                      </a:r>
                    </a:p>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permissions and change the folder attributes.</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64141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List Folder Contents </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or group to view the files and subfolders </a:t>
                      </a:r>
                    </a:p>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contained within the folder.</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r h="82305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Read &amp; Execute </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or group to navigate through all files and </a:t>
                      </a:r>
                    </a:p>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subfolders including perform all actions allowed by the Read and List Folder Contents permissions.</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5"/>
                  </a:ext>
                </a:extLst>
              </a:tr>
              <a:tr h="82305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Modify</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to delete the folder and perform all activities included in the Write and Read &amp; Execute NTFS folder permissions.</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6"/>
                  </a:ext>
                </a:extLst>
              </a:tr>
              <a:tr h="823058">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Full Control </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 typeface="Monotype Sorts" pitchFamily="36" charset="2"/>
                        <a:buNone/>
                        <a:tabLst/>
                      </a:pPr>
                      <a:r>
                        <a:rPr kumimoji="1" lang="en-AU" altLang="en-US" sz="1600" b="0" i="0" u="none" strike="noStrike" cap="none" normalizeH="0" baseline="0">
                          <a:ln>
                            <a:noFill/>
                          </a:ln>
                          <a:solidFill>
                            <a:schemeClr val="tx1"/>
                          </a:solidFill>
                          <a:effectLst/>
                          <a:latin typeface="Arial" charset="0"/>
                        </a:rPr>
                        <a:t>This allows the user or group to change permissions on the folder, take ownership of it, and perform all activities included in all other permissions.</a:t>
                      </a:r>
                    </a:p>
                  </a:txBody>
                  <a:tcPr marL="91434" marR="91434" marT="45730" marB="4573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accent1"/>
                        </a:buClr>
                        <a:buSzPct val="70000"/>
                        <a:buFont typeface="Monotype Sorts" pitchFamily="36" charset="2"/>
                        <a:defRPr kumimoji="1" sz="2800">
                          <a:solidFill>
                            <a:schemeClr val="tx1"/>
                          </a:solidFill>
                          <a:latin typeface="Arial" charset="0"/>
                        </a:defRPr>
                      </a:lvl1pPr>
                      <a:lvl2pPr marL="742950" indent="-285750">
                        <a:spcBef>
                          <a:spcPct val="20000"/>
                        </a:spcBef>
                        <a:defRPr kumimoji="1" sz="2400">
                          <a:solidFill>
                            <a:schemeClr val="tx1"/>
                          </a:solidFill>
                          <a:latin typeface="Arial" charset="0"/>
                        </a:defRPr>
                      </a:lvl2pPr>
                      <a:lvl3pPr marL="1143000" indent="-228600">
                        <a:spcBef>
                          <a:spcPct val="20000"/>
                        </a:spcBef>
                        <a:defRPr kumimoji="1" sz="2000">
                          <a:solidFill>
                            <a:schemeClr val="tx1"/>
                          </a:solidFill>
                          <a:latin typeface="Arial" charset="0"/>
                        </a:defRPr>
                      </a:lvl3pPr>
                      <a:lvl4pPr marL="1600200" indent="-228600">
                        <a:spcBef>
                          <a:spcPct val="20000"/>
                        </a:spcBef>
                        <a:defRPr kumimoji="1">
                          <a:solidFill>
                            <a:schemeClr val="tx1"/>
                          </a:solidFill>
                          <a:latin typeface="Arial" charset="0"/>
                        </a:defRPr>
                      </a:lvl4pPr>
                      <a:lvl5pPr marL="2057400" indent="-228600">
                        <a:spcBef>
                          <a:spcPct val="20000"/>
                        </a:spcBef>
                        <a:defRPr kumimoji="1">
                          <a:solidFill>
                            <a:schemeClr val="tx1"/>
                          </a:solidFill>
                          <a:latin typeface="Arial" charset="0"/>
                        </a:defRPr>
                      </a:lvl5pPr>
                      <a:lvl6pPr marL="2514600" indent="-228600" eaLnBrk="0" fontAlgn="base" hangingPunct="0">
                        <a:spcBef>
                          <a:spcPct val="20000"/>
                        </a:spcBef>
                        <a:spcAft>
                          <a:spcPct val="0"/>
                        </a:spcAft>
                        <a:defRPr kumimoji="1">
                          <a:solidFill>
                            <a:schemeClr val="tx1"/>
                          </a:solidFill>
                          <a:latin typeface="Arial" charset="0"/>
                        </a:defRPr>
                      </a:lvl6pPr>
                      <a:lvl7pPr marL="2971800" indent="-228600" eaLnBrk="0" fontAlgn="base" hangingPunct="0">
                        <a:spcBef>
                          <a:spcPct val="20000"/>
                        </a:spcBef>
                        <a:spcAft>
                          <a:spcPct val="0"/>
                        </a:spcAft>
                        <a:defRPr kumimoji="1">
                          <a:solidFill>
                            <a:schemeClr val="tx1"/>
                          </a:solidFill>
                          <a:latin typeface="Arial" charset="0"/>
                        </a:defRPr>
                      </a:lvl7pPr>
                      <a:lvl8pPr marL="3429000" indent="-228600" eaLnBrk="0" fontAlgn="base" hangingPunct="0">
                        <a:spcBef>
                          <a:spcPct val="20000"/>
                        </a:spcBef>
                        <a:spcAft>
                          <a:spcPct val="0"/>
                        </a:spcAft>
                        <a:defRPr kumimoji="1">
                          <a:solidFill>
                            <a:schemeClr val="tx1"/>
                          </a:solidFill>
                          <a:latin typeface="Arial" charset="0"/>
                        </a:defRPr>
                      </a:lvl8pPr>
                      <a:lvl9pPr marL="3886200" indent="-228600" eaLnBrk="0" fontAlgn="base" hangingPunct="0">
                        <a:spcBef>
                          <a:spcPct val="20000"/>
                        </a:spcBef>
                        <a:spcAft>
                          <a:spcPct val="0"/>
                        </a:spcAft>
                        <a:defRPr kumimoji="1">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70000"/>
                        <a:buFont typeface="Monotype Sorts" pitchFamily="36" charset="2"/>
                        <a:buNone/>
                        <a:tabLst/>
                      </a:pPr>
                      <a:endParaRPr kumimoji="1" lang="en-AU" altLang="en-US" sz="1600" b="0" i="0" u="none" strike="noStrike" cap="none" normalizeH="0" baseline="0">
                        <a:ln>
                          <a:noFill/>
                        </a:ln>
                        <a:solidFill>
                          <a:schemeClr val="tx1"/>
                        </a:solidFill>
                        <a:effectLst/>
                        <a:latin typeface="Arial" charset="0"/>
                      </a:endParaRPr>
                    </a:p>
                  </a:txBody>
                  <a:tcPr marL="91434" marR="91434" marT="45730" marB="45730" horzOverflow="overflow">
                    <a:lnL w="952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4284413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20866"/>
                                        </p:tgtEl>
                                        <p:attrNameLst>
                                          <p:attrName>style.visibility</p:attrName>
                                        </p:attrNameLst>
                                      </p:cBhvr>
                                      <p:to>
                                        <p:strVal val="visible"/>
                                      </p:to>
                                    </p:set>
                                    <p:animEffect transition="in" filter="wipe(up)">
                                      <p:cBhvr>
                                        <p:cTn id="7" dur="5000"/>
                                        <p:tgtEl>
                                          <p:spTgt spid="420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7C890F00-9107-44A4-B4E5-E58A469667D9}" type="slidenum">
              <a:rPr kumimoji="0" lang="en-US" altLang="en-US" sz="1400"/>
              <a:pPr>
                <a:spcBef>
                  <a:spcPct val="50000"/>
                </a:spcBef>
                <a:buClrTx/>
                <a:buSzTx/>
                <a:buFontTx/>
                <a:buNone/>
              </a:pPr>
              <a:t>66</a:t>
            </a:fld>
            <a:endParaRPr kumimoji="0" lang="en-US" altLang="en-US" sz="1400"/>
          </a:p>
        </p:txBody>
      </p:sp>
      <p:sp>
        <p:nvSpPr>
          <p:cNvPr id="26627" name="Rectangle 2"/>
          <p:cNvSpPr>
            <a:spLocks noGrp="1" noChangeArrowheads="1"/>
          </p:cNvSpPr>
          <p:nvPr>
            <p:ph type="title"/>
          </p:nvPr>
        </p:nvSpPr>
        <p:spPr>
          <a:xfrm>
            <a:off x="2351088" y="0"/>
            <a:ext cx="7772400" cy="1143000"/>
          </a:xfrm>
        </p:spPr>
        <p:txBody>
          <a:bodyPr/>
          <a:lstStyle/>
          <a:p>
            <a:r>
              <a:rPr lang="en-US" altLang="en-US"/>
              <a:t>NTFS File Properties</a:t>
            </a:r>
            <a:endParaRPr lang="en-AU" altLang="en-US"/>
          </a:p>
        </p:txBody>
      </p:sp>
      <p:sp>
        <p:nvSpPr>
          <p:cNvPr id="422916" name="Rectangle 4"/>
          <p:cNvSpPr>
            <a:spLocks noChangeArrowheads="1"/>
          </p:cNvSpPr>
          <p:nvPr/>
        </p:nvSpPr>
        <p:spPr bwMode="auto">
          <a:xfrm>
            <a:off x="1524000" y="1773238"/>
            <a:ext cx="3563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30000"/>
              </a:spcBef>
              <a:buClrTx/>
              <a:buSzTx/>
              <a:buFontTx/>
              <a:buNone/>
            </a:pPr>
            <a:r>
              <a:rPr lang="en-AU" altLang="en-US" sz="2400">
                <a:latin typeface="Times New Roman" panose="02020603050405020304" pitchFamily="18" charset="0"/>
              </a:rPr>
              <a:t>Authenticated Users is the same as the Everyone group except it does not contain anonymous users.</a:t>
            </a:r>
          </a:p>
        </p:txBody>
      </p:sp>
      <p:sp>
        <p:nvSpPr>
          <p:cNvPr id="10" name="Content Placeholder 3"/>
          <p:cNvSpPr>
            <a:spLocks noGrp="1"/>
          </p:cNvSpPr>
          <p:nvPr>
            <p:ph sz="half" idx="4294967295"/>
          </p:nvPr>
        </p:nvSpPr>
        <p:spPr>
          <a:xfrm>
            <a:off x="2495550" y="5607051"/>
            <a:ext cx="2736850" cy="671513"/>
          </a:xfrm>
        </p:spPr>
        <p:txBody>
          <a:bodyPr/>
          <a:lstStyle/>
          <a:p>
            <a:r>
              <a:rPr lang="en-AU" altLang="en-US" dirty="0"/>
              <a:t>Windows 10</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9087" y="1066470"/>
            <a:ext cx="3591426" cy="4725059"/>
          </a:xfrm>
          <a:prstGeom prst="rect">
            <a:avLst/>
          </a:prstGeom>
        </p:spPr>
      </p:pic>
    </p:spTree>
    <p:extLst>
      <p:ext uri="{BB962C8B-B14F-4D97-AF65-F5344CB8AC3E}">
        <p14:creationId xmlns:p14="http://schemas.microsoft.com/office/powerpoint/2010/main" val="36464359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22916"/>
                                        </p:tgtEl>
                                        <p:attrNameLst>
                                          <p:attrName>style.visibility</p:attrName>
                                        </p:attrNameLst>
                                      </p:cBhvr>
                                      <p:to>
                                        <p:strVal val="visible"/>
                                      </p:to>
                                    </p:set>
                                    <p:animEffect transition="in" filter="dissolve">
                                      <p:cBhvr>
                                        <p:cTn id="11" dur="500"/>
                                        <p:tgtEl>
                                          <p:spTgt spid="422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6" grpId="0"/>
      <p:bldP spid="10"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C163FF24-B354-43A3-AB64-9943C7C8A9E3}" type="slidenum">
              <a:rPr kumimoji="0" lang="en-US" altLang="en-US" sz="1400"/>
              <a:pPr>
                <a:spcBef>
                  <a:spcPct val="50000"/>
                </a:spcBef>
                <a:buClrTx/>
                <a:buSzTx/>
                <a:buFontTx/>
                <a:buNone/>
              </a:pPr>
              <a:t>67</a:t>
            </a:fld>
            <a:endParaRPr kumimoji="0" lang="en-US" altLang="en-US" sz="1400"/>
          </a:p>
        </p:txBody>
      </p:sp>
      <p:sp>
        <p:nvSpPr>
          <p:cNvPr id="28675" name="Rectangle 2"/>
          <p:cNvSpPr>
            <a:spLocks noGrp="1" noChangeArrowheads="1"/>
          </p:cNvSpPr>
          <p:nvPr>
            <p:ph type="title"/>
          </p:nvPr>
        </p:nvSpPr>
        <p:spPr>
          <a:xfrm>
            <a:off x="1703388" y="0"/>
            <a:ext cx="4824412" cy="1143000"/>
          </a:xfrm>
        </p:spPr>
        <p:txBody>
          <a:bodyPr>
            <a:normAutofit fontScale="90000"/>
          </a:bodyPr>
          <a:lstStyle/>
          <a:p>
            <a:r>
              <a:rPr lang="en-US" altLang="en-US"/>
              <a:t>Advanced Settings</a:t>
            </a:r>
            <a:endParaRPr lang="en-AU" altLang="en-US"/>
          </a:p>
        </p:txBody>
      </p:sp>
      <p:pic>
        <p:nvPicPr>
          <p:cNvPr id="4249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626" y="1"/>
            <a:ext cx="3744913"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3"/>
          <p:cNvSpPr>
            <a:spLocks noGrp="1"/>
          </p:cNvSpPr>
          <p:nvPr>
            <p:ph sz="half" idx="4294967295"/>
          </p:nvPr>
        </p:nvSpPr>
        <p:spPr>
          <a:xfrm>
            <a:off x="8040688" y="5229226"/>
            <a:ext cx="2736850" cy="671513"/>
          </a:xfrm>
        </p:spPr>
        <p:txBody>
          <a:bodyPr/>
          <a:lstStyle/>
          <a:p>
            <a:r>
              <a:rPr lang="en-AU" altLang="en-US" dirty="0"/>
              <a:t>Windows 10</a:t>
            </a:r>
          </a:p>
        </p:txBody>
      </p:sp>
      <p:sp>
        <p:nvSpPr>
          <p:cNvPr id="7" name="Content Placeholder 3"/>
          <p:cNvSpPr txBox="1">
            <a:spLocks/>
          </p:cNvSpPr>
          <p:nvPr/>
        </p:nvSpPr>
        <p:spPr bwMode="auto">
          <a:xfrm>
            <a:off x="4295775" y="1119188"/>
            <a:ext cx="273685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1"/>
              </a:buClr>
              <a:buSzPct val="70000"/>
              <a:buFont typeface="Monotype Sorts" pitchFamily="36"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defRPr>
            </a:lvl2pPr>
            <a:lvl3pPr marL="1143000" indent="-228600" algn="l" rtl="0" eaLnBrk="0" fontAlgn="base" hangingPunct="0">
              <a:spcBef>
                <a:spcPct val="20000"/>
              </a:spcBef>
              <a:spcAft>
                <a:spcPct val="0"/>
              </a:spcAft>
              <a:buChar char="•"/>
              <a:defRPr kumimoji="1" sz="2000">
                <a:solidFill>
                  <a:schemeClr val="tx1"/>
                </a:solidFill>
                <a:latin typeface="+mn-lt"/>
              </a:defRPr>
            </a:lvl3pPr>
            <a:lvl4pPr marL="1600200" indent="-228600" algn="l" rtl="0" eaLnBrk="0" fontAlgn="base" hangingPunct="0">
              <a:spcBef>
                <a:spcPct val="20000"/>
              </a:spcBef>
              <a:spcAft>
                <a:spcPct val="0"/>
              </a:spcAft>
              <a:buChar char="–"/>
              <a:defRPr kumimoji="1" sz="1800">
                <a:solidFill>
                  <a:schemeClr val="tx1"/>
                </a:solidFill>
                <a:latin typeface="+mn-lt"/>
              </a:defRPr>
            </a:lvl4pPr>
            <a:lvl5pPr marL="2057400" indent="-228600" algn="l" rtl="0" eaLnBrk="0" fontAlgn="base" hangingPunct="0">
              <a:spcBef>
                <a:spcPct val="20000"/>
              </a:spcBef>
              <a:spcAft>
                <a:spcPct val="0"/>
              </a:spcAft>
              <a:buChar char="»"/>
              <a:defRPr kumimoji="1" sz="1800">
                <a:solidFill>
                  <a:schemeClr val="tx1"/>
                </a:solidFill>
                <a:latin typeface="+mn-lt"/>
              </a:defRPr>
            </a:lvl5pPr>
            <a:lvl6pPr marL="2514600" indent="-228600" algn="l" rtl="0" eaLnBrk="0" fontAlgn="base" hangingPunct="0">
              <a:spcBef>
                <a:spcPct val="20000"/>
              </a:spcBef>
              <a:spcAft>
                <a:spcPct val="0"/>
              </a:spcAft>
              <a:buChar char="»"/>
              <a:defRPr kumimoji="1" sz="1800">
                <a:solidFill>
                  <a:schemeClr val="tx1"/>
                </a:solidFill>
                <a:latin typeface="+mn-lt"/>
              </a:defRPr>
            </a:lvl6pPr>
            <a:lvl7pPr marL="2971800" indent="-228600" algn="l" rtl="0" eaLnBrk="0" fontAlgn="base" hangingPunct="0">
              <a:spcBef>
                <a:spcPct val="20000"/>
              </a:spcBef>
              <a:spcAft>
                <a:spcPct val="0"/>
              </a:spcAft>
              <a:buChar char="»"/>
              <a:defRPr kumimoji="1" sz="1800">
                <a:solidFill>
                  <a:schemeClr val="tx1"/>
                </a:solidFill>
                <a:latin typeface="+mn-lt"/>
              </a:defRPr>
            </a:lvl7pPr>
            <a:lvl8pPr marL="3429000" indent="-228600" algn="l" rtl="0" eaLnBrk="0" fontAlgn="base" hangingPunct="0">
              <a:spcBef>
                <a:spcPct val="20000"/>
              </a:spcBef>
              <a:spcAft>
                <a:spcPct val="0"/>
              </a:spcAft>
              <a:buChar char="»"/>
              <a:defRPr kumimoji="1" sz="1800">
                <a:solidFill>
                  <a:schemeClr val="tx1"/>
                </a:solidFill>
                <a:latin typeface="+mn-lt"/>
              </a:defRPr>
            </a:lvl8pPr>
            <a:lvl9pPr marL="3886200" indent="-228600" algn="l" rtl="0" eaLnBrk="0" fontAlgn="base" hangingPunct="0">
              <a:spcBef>
                <a:spcPct val="20000"/>
              </a:spcBef>
              <a:spcAft>
                <a:spcPct val="0"/>
              </a:spcAft>
              <a:buChar char="»"/>
              <a:defRPr kumimoji="1" sz="1800">
                <a:solidFill>
                  <a:schemeClr val="tx1"/>
                </a:solidFill>
                <a:latin typeface="+mn-lt"/>
              </a:defRPr>
            </a:lvl9pPr>
          </a:lstStyle>
          <a:p>
            <a:pPr>
              <a:defRPr/>
            </a:pPr>
            <a:r>
              <a:rPr lang="en-AU" kern="0" dirty="0"/>
              <a:t>Windows XP</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942" y="2278252"/>
            <a:ext cx="6414860" cy="4391777"/>
          </a:xfrm>
          <a:prstGeom prst="rect">
            <a:avLst/>
          </a:prstGeom>
        </p:spPr>
      </p:pic>
    </p:spTree>
    <p:extLst>
      <p:ext uri="{BB962C8B-B14F-4D97-AF65-F5344CB8AC3E}">
        <p14:creationId xmlns:p14="http://schemas.microsoft.com/office/powerpoint/2010/main" val="304597788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424964"/>
                                        </p:tgtEl>
                                        <p:attrNameLst>
                                          <p:attrName>style.visibility</p:attrName>
                                        </p:attrNameLst>
                                      </p:cBhvr>
                                      <p:to>
                                        <p:strVal val="visible"/>
                                      </p:to>
                                    </p:set>
                                    <p:animEffect transition="in" filter="dissolve">
                                      <p:cBhvr>
                                        <p:cTn id="10" dur="500"/>
                                        <p:tgtEl>
                                          <p:spTgt spid="424964"/>
                                        </p:tgtEl>
                                      </p:cBhvr>
                                    </p:animEffect>
                                  </p:childTnLst>
                                </p:cTn>
                              </p:par>
                            </p:childTnLst>
                          </p:cTn>
                        </p:par>
                        <p:par>
                          <p:cTn id="11" fill="hold" nodeType="afterGroup">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blinds(horizontal)">
                                      <p:cBhvr>
                                        <p:cTn id="14"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Monotype Sorts" pitchFamily="36" charset="2"/>
              <a:buChar char="n"/>
              <a:defRPr kumimoji="1" sz="3200">
                <a:solidFill>
                  <a:schemeClr val="tx1"/>
                </a:solidFill>
                <a:latin typeface="Arial" panose="020B0604020202020204" pitchFamily="34" charset="0"/>
              </a:defRPr>
            </a:lvl1pPr>
            <a:lvl2pPr marL="742950" indent="-285750">
              <a:spcBef>
                <a:spcPct val="20000"/>
              </a:spcBef>
              <a:buChar char="–"/>
              <a:defRPr kumimoji="1" sz="2800">
                <a:solidFill>
                  <a:schemeClr val="tx1"/>
                </a:solidFill>
                <a:latin typeface="Arial" panose="020B0604020202020204" pitchFamily="34" charset="0"/>
              </a:defRPr>
            </a:lvl2pPr>
            <a:lvl3pPr marL="1143000" indent="-228600">
              <a:spcBef>
                <a:spcPct val="20000"/>
              </a:spcBef>
              <a:buChar char="•"/>
              <a:defRPr kumimoji="1" sz="2400">
                <a:solidFill>
                  <a:schemeClr val="tx1"/>
                </a:solidFill>
                <a:latin typeface="Arial" panose="020B0604020202020204" pitchFamily="34" charset="0"/>
              </a:defRPr>
            </a:lvl3pPr>
            <a:lvl4pPr marL="1600200" indent="-228600">
              <a:spcBef>
                <a:spcPct val="20000"/>
              </a:spcBef>
              <a:buChar char="–"/>
              <a:defRPr kumimoji="1" sz="2000">
                <a:solidFill>
                  <a:schemeClr val="tx1"/>
                </a:solidFill>
                <a:latin typeface="Arial" panose="020B0604020202020204" pitchFamily="34" charset="0"/>
              </a:defRPr>
            </a:lvl4pPr>
            <a:lvl5pPr marL="2057400" indent="-228600">
              <a:spcBef>
                <a:spcPct val="20000"/>
              </a:spcBef>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spcBef>
                <a:spcPct val="50000"/>
              </a:spcBef>
              <a:buClrTx/>
              <a:buSzTx/>
              <a:buFontTx/>
              <a:buNone/>
            </a:pPr>
            <a:fld id="{EA67319F-D591-4C13-B30A-E6503519082D}" type="slidenum">
              <a:rPr kumimoji="0" lang="en-US" altLang="en-US" sz="1400"/>
              <a:pPr>
                <a:spcBef>
                  <a:spcPct val="50000"/>
                </a:spcBef>
                <a:buClrTx/>
                <a:buSzTx/>
                <a:buFontTx/>
                <a:buNone/>
              </a:pPr>
              <a:t>68</a:t>
            </a:fld>
            <a:endParaRPr kumimoji="0" lang="en-US" altLang="en-US" sz="140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l="45271" t="43948" r="13388" b="35056"/>
          <a:stretch>
            <a:fillRect/>
          </a:stretch>
        </p:blipFill>
        <p:spPr bwMode="auto">
          <a:xfrm>
            <a:off x="1555750" y="5418138"/>
            <a:ext cx="504190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3"/>
          <p:cNvSpPr>
            <a:spLocks noGrp="1"/>
          </p:cNvSpPr>
          <p:nvPr>
            <p:ph sz="half" idx="4294967295"/>
          </p:nvPr>
        </p:nvSpPr>
        <p:spPr>
          <a:xfrm>
            <a:off x="7165975" y="5802313"/>
            <a:ext cx="2736850" cy="671512"/>
          </a:xfrm>
        </p:spPr>
        <p:txBody>
          <a:bodyPr/>
          <a:lstStyle/>
          <a:p>
            <a:r>
              <a:rPr lang="en-AU" altLang="en-US" dirty="0"/>
              <a:t>Windows 10</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0687" y="238085"/>
            <a:ext cx="7373379" cy="5048955"/>
          </a:xfrm>
          <a:prstGeom prst="rect">
            <a:avLst/>
          </a:prstGeom>
        </p:spPr>
      </p:pic>
    </p:spTree>
    <p:extLst>
      <p:ext uri="{BB962C8B-B14F-4D97-AF65-F5344CB8AC3E}">
        <p14:creationId xmlns:p14="http://schemas.microsoft.com/office/powerpoint/2010/main" val="37025428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2662</TotalTime>
  <Words>6922</Words>
  <Application>Microsoft Macintosh PowerPoint</Application>
  <PresentationFormat>Widescreen</PresentationFormat>
  <Paragraphs>758</Paragraphs>
  <Slides>68</Slides>
  <Notes>37</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68</vt:i4>
      </vt:variant>
    </vt:vector>
  </HeadingPairs>
  <TitlesOfParts>
    <vt:vector size="78" baseType="lpstr">
      <vt:lpstr>Arial</vt:lpstr>
      <vt:lpstr>Arial Narrow</vt:lpstr>
      <vt:lpstr>Calibri</vt:lpstr>
      <vt:lpstr>Cambria Math</vt:lpstr>
      <vt:lpstr>Math B</vt:lpstr>
      <vt:lpstr>Monotype Sorts</vt:lpstr>
      <vt:lpstr>Symbol</vt:lpstr>
      <vt:lpstr>Times New Roman</vt:lpstr>
      <vt:lpstr>Wingdings</vt:lpstr>
      <vt:lpstr>Office Theme</vt:lpstr>
      <vt:lpstr>CSCI262 : System Security</vt:lpstr>
      <vt:lpstr>Schedule </vt:lpstr>
      <vt:lpstr>Security Policies</vt:lpstr>
      <vt:lpstr>Security model</vt:lpstr>
      <vt:lpstr>Traditional Security Models</vt:lpstr>
      <vt:lpstr>State machine based security model</vt:lpstr>
      <vt:lpstr>PowerPoint Presentation</vt:lpstr>
      <vt:lpstr>Example</vt:lpstr>
      <vt:lpstr>Confidentiality policies</vt:lpstr>
      <vt:lpstr>The (simplified) Bell-LaPadula Model</vt:lpstr>
      <vt:lpstr>PowerPoint Presentation</vt:lpstr>
      <vt:lpstr>Lattices</vt:lpstr>
      <vt:lpstr>Properties of the relation ≤</vt:lpstr>
      <vt:lpstr>Another example</vt:lpstr>
      <vt:lpstr>Lattice diagram for S = {1,2,3}</vt:lpstr>
      <vt:lpstr>PowerPoint Presentation</vt:lpstr>
      <vt:lpstr>BLP system state</vt:lpstr>
      <vt:lpstr>PowerPoint Presentation</vt:lpstr>
      <vt:lpstr>BLP properties: 2 Mandatory</vt:lpstr>
      <vt:lpstr>PowerPoint Presentation</vt:lpstr>
      <vt:lpstr>BLP properties:  1 discretionary</vt:lpstr>
      <vt:lpstr>An example</vt:lpstr>
      <vt:lpstr>Discretionary example …</vt:lpstr>
      <vt:lpstr>Criticism of McLean</vt:lpstr>
      <vt:lpstr>Tranquility</vt:lpstr>
      <vt:lpstr>Covert channels</vt:lpstr>
      <vt:lpstr>PowerPoint Presentation</vt:lpstr>
      <vt:lpstr>PowerPoint Presentation</vt:lpstr>
      <vt:lpstr>Limitations of BLP</vt:lpstr>
      <vt:lpstr>Integrity based access control</vt:lpstr>
      <vt:lpstr>The Biba model</vt:lpstr>
      <vt:lpstr>PowerPoint Presentation</vt:lpstr>
      <vt:lpstr>PowerPoint Presentation</vt:lpstr>
      <vt:lpstr>PowerPoint Presentation</vt:lpstr>
      <vt:lpstr>PowerPoint Presentation</vt:lpstr>
      <vt:lpstr>Clark-Wilson</vt:lpstr>
      <vt:lpstr>PowerPoint Presentation</vt:lpstr>
      <vt:lpstr>Integrity and confidentiality</vt:lpstr>
      <vt:lpstr>Lipner’s model</vt:lpstr>
      <vt:lpstr>Labels in a combined model …</vt:lpstr>
      <vt:lpstr>Classifications for Confidentiality</vt:lpstr>
      <vt:lpstr>Classifications for Integrity</vt:lpstr>
      <vt:lpstr>Subjects  Users</vt:lpstr>
      <vt:lpstr>Objects  Code, data, program, logs</vt:lpstr>
      <vt:lpstr>So ...</vt:lpstr>
      <vt:lpstr>The Chinese-Wall model</vt:lpstr>
      <vt:lpstr>The Chinese Wall Model</vt:lpstr>
      <vt:lpstr>Model elements</vt:lpstr>
      <vt:lpstr>PowerPoint Presentation</vt:lpstr>
      <vt:lpstr>ss- property</vt:lpstr>
      <vt:lpstr>Star property</vt:lpstr>
      <vt:lpstr>The Chinese Wall Model</vt:lpstr>
      <vt:lpstr>PowerPoint Presentation</vt:lpstr>
      <vt:lpstr>Access control: Windows </vt:lpstr>
      <vt:lpstr>Outline</vt:lpstr>
      <vt:lpstr>Ctrl-Alt-Del</vt:lpstr>
      <vt:lpstr>Access Control List</vt:lpstr>
      <vt:lpstr>PowerPoint Presentation</vt:lpstr>
      <vt:lpstr>Common File Systems</vt:lpstr>
      <vt:lpstr>NTFS Security</vt:lpstr>
      <vt:lpstr>PowerPoint Presentation</vt:lpstr>
      <vt:lpstr>PowerPoint Presentation</vt:lpstr>
      <vt:lpstr>PowerPoint Presentation</vt:lpstr>
      <vt:lpstr>PowerPoint Presentation</vt:lpstr>
      <vt:lpstr>PowerPoint Presentation</vt:lpstr>
      <vt:lpstr>NTFS File Properties</vt:lpstr>
      <vt:lpstr>Advanced Settings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CSCI262 : System Security</dc:title>
  <dc:creator>Dung Duong</dc:creator>
  <cp:lastModifiedBy>Partha Sarathi Roy</cp:lastModifiedBy>
  <cp:revision>325</cp:revision>
  <dcterms:created xsi:type="dcterms:W3CDTF">2022-07-23T05:47:42Z</dcterms:created>
  <dcterms:modified xsi:type="dcterms:W3CDTF">2025-10-12T05:39:40Z</dcterms:modified>
</cp:coreProperties>
</file>